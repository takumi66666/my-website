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本インターンのテーマは、銀行が持っているデータを分析して、どのような価値に変えていくかのプロセスを学ぶことでした。
銀行には日々の取引データが蓄積されていますが、項目が多く、知りたい切り口でまとめて取り出すのは簡単ではありません。そこで使ったのがDYNATREKです。条件を指定するだけで、必要なデータを集計して表示できます。
「預金の増減はどうか」「IBはどれだけ使われているか」──こうした問いを一つ立てて、データから答えを出すところまで実際に通してみました。その流れを紹介します。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では、どの問いを選んだか。銀行が実際に力を入れている領域から選びました。
あいちフィナンシャルグループの第2次中期経営計画では、基本戦略Ⅲ「DX戦略の加速化」のもとに、重点施策⑦「顧客の利便性・先進性の向上」が置かれています。その取組方針が「顧客サービスの強化」で、バンキングアプリやインターネット支店のリニューアル、そして若年層など新たな顧客層へのアプローチ強化が挙げられています。
こうした非対面のチャネルがどれだけ使われているかは、この狙いがどこまで進んでいるかを示します。今回はそのうち、インターネットバンキング、IBを対象にしました。
※「若年層へのアプローチ強化」は8枚目の年代別分析につながる伏線。ここで一度触れておく。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確かめることは、2025年と2026年の同じ時期を比べて、IBの利用件数がどれだけ増えたかを確認することです。
比べ方は同じ4〜6月どうし。月によって取引の量は変わるので、同じ季節どうしで比べます。
もうひとつ、IBの件数だけでなく、ATM側の「IBでも代替できる取引」も合わせて見ることにしました。理由は結果のところで説明します。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使ったのは、取引履歴（流動）をもとに作成された入出金テーブルです。私が作ったものではなく、既にある形のものを使わせていただきました。
対象期間は、2025年と2026年の4月・5月・6月です。
このテーブルに対して、DYNATREKで条件を指定して集計していきます。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実際の画面です。左で、期間やチャネル、取引の種類といった条件を指定します。すると右のように、その条件で集計された結果がそのまま出てきます。
ここは長く説明しません。お伝えしたいのは、条件を変えるだけで別の切り口でも確認できる、という点です。この後の分析は、すべてこの繰り返しになります。
【作成時】スクリーンショット②が6枚目のグラフと同じものになる場合は、②には集計表など別の出力を貼るか、②を小さめに配置して重複感を避ける。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まずIBの利用件数です。2025年の4〜6月と、2026年の4〜6月を比べました。
（記入した数値を読み上げる）
1年間で件数は増えています。月別に見ても同じ傾向です。
ただ、これだけでIBが広がったと言い切ることはできません。取引そのものが増えただけ、という可能性が残るからです。そこで、もうひとつの見方を足しました。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IBでも同じことができる取引──振込や振替など──に絞って、ATM側の件数を見ました。
（記入した数値を読み上げる）
こちらは減っています。IBが増え、ATM側が減っている。つまり、同じ取引がIBへ移りつつあると読めます。
片方だけを見ていたら「増えた」で終わっていましたが、比べる相手を置いたことで、一歩踏み込んだ言い方ができるようになりました。
※「IBでも行える取引」に何を含めたかは質疑で聞かれやすいので、口頭でも一度言っておく。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IBへ移りつつあることが分かると、次に知りたくなるのは「では、誰が使うようになったのか」です。
2枚目で触れたとおり、計画では若年層など新たな顧客層へのアプローチ強化が掲げられています。年代別に見れば、その狙いが実際に進んでいるかを確認できます。
年代は5つに分けました。未成年、若手成人、働き手①、働き手②、高齢者です。
（読み取りを説明する）
ここまで分かると、計画の狙いの進み具合と、次に誰へ案内すべきかが同時に見えてきます。
【作成時】打ち手の2行は、実際の読み取りに合わせて書き換えること。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最後に、今回の流れをまとめます。
「IBの利用は広がっているか」という問いを立て、入出金テーブルから必要な集計を取り出し、IBが増えATM側が減っていることを確かめ、さらに年代別まで深掘りして、最後は誰にどう案内するかという打ち手の検討まで進みました。
行内にあるデータも、条件を指定して見られる形にすれば、業務上の問いに答えて、次の施策を考える材料になります。今回のワークで学んだのは、この一連のプロセスです。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12064"/>
            <a:ext cx="420624" cy="420624"/>
          </a:xfrm>
          <a:prstGeom prst="ellipse">
            <a:avLst/>
          </a:prstGeom>
          <a:solidFill>
            <a:srgbClr val="0F5A6B"/>
          </a:solidFill>
          <a:ln w="12700">
            <a:solidFill>
              <a:srgbClr val="0F5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12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43584" y="475488"/>
            <a:ext cx="103080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はじめに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43584" y="1133856"/>
            <a:ext cx="103080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65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本インターンのテーマは、銀行内で保有する各種データを分析し、どのような価値に変換していくかのプロセスを学ぶこと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130991" y="62179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8497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5989320" cy="960120"/>
          </a:xfrm>
          <a:prstGeom prst="roundRect">
            <a:avLst>
              <a:gd name="adj" fmla="val 4762"/>
            </a:avLst>
          </a:prstGeom>
          <a:solidFill>
            <a:srgbClr val="F3F6F7"/>
          </a:solidFill>
          <a:ln w="9525">
            <a:solidFill>
              <a:srgbClr val="F3F6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011680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497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 状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276856"/>
            <a:ext cx="5440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A2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銀行には、日々の取引データが蓄積されている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143000" y="2862072"/>
            <a:ext cx="219456" cy="237744"/>
          </a:xfrm>
          <a:prstGeom prst="downArrow">
            <a:avLst/>
          </a:prstGeom>
          <a:solidFill>
            <a:srgbClr val="C2CFD3"/>
          </a:solidFill>
          <a:ln w="12700">
            <a:solidFill>
              <a:srgbClr val="C2CF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3090672"/>
            <a:ext cx="5989320" cy="960120"/>
          </a:xfrm>
          <a:prstGeom prst="roundRect">
            <a:avLst>
              <a:gd name="adj" fmla="val 4762"/>
            </a:avLst>
          </a:prstGeom>
          <a:solidFill>
            <a:srgbClr val="F3F6F7"/>
          </a:solidFill>
          <a:ln w="9525">
            <a:solidFill>
              <a:srgbClr val="F3F6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27832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497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 題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3493008"/>
            <a:ext cx="5440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A2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項目が多く、知りたい切り口でまとめて取り出すのは容易ではない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1143000" y="4078224"/>
            <a:ext cx="219456" cy="237744"/>
          </a:xfrm>
          <a:prstGeom prst="downArrow">
            <a:avLst/>
          </a:prstGeom>
          <a:solidFill>
            <a:srgbClr val="C2CFD3"/>
          </a:solidFill>
          <a:ln w="12700">
            <a:solidFill>
              <a:srgbClr val="C2CFD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4306824"/>
            <a:ext cx="5989320" cy="960120"/>
          </a:xfrm>
          <a:prstGeom prst="roundRect">
            <a:avLst>
              <a:gd name="adj" fmla="val 4762"/>
            </a:avLst>
          </a:prstGeom>
          <a:solidFill>
            <a:srgbClr val="E2EEF0"/>
          </a:solidFill>
          <a:ln w="9525">
            <a:solidFill>
              <a:srgbClr val="E2EE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443984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F5A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 具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4709160"/>
            <a:ext cx="5440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F5A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DYNATREK ── 条件を指定するだけで、必要なデータを集計・表示できる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967728" y="1874520"/>
            <a:ext cx="4581144" cy="3392424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5875">
            <a:solidFill>
              <a:srgbClr val="D9A97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51776" y="2212848"/>
            <a:ext cx="3813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4551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 え ば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351776" y="2542032"/>
            <a:ext cx="3813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800" b="1" dirty="0">
                <a:solidFill>
                  <a:srgbClr val="B4551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預金の増減はどうか</a:t>
            </a:r>
            <a:endParaRPr lang="en-US" sz="1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800" b="1" dirty="0">
                <a:solidFill>
                  <a:srgbClr val="B4551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IBはどれだけ使われているか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351776" y="3785616"/>
            <a:ext cx="3813048" cy="10973"/>
          </a:xfrm>
          <a:prstGeom prst="rect">
            <a:avLst/>
          </a:prstGeom>
          <a:solidFill>
            <a:srgbClr val="E2CDB9"/>
          </a:solidFill>
          <a:ln w="12700">
            <a:solidFill>
              <a:srgbClr val="E2CDB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51776" y="4096512"/>
            <a:ext cx="3813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1A2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本ワークでは、こうした問いを一つ立て、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1A2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データから答えを出すまでを実際に通した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12064"/>
            <a:ext cx="420624" cy="420624"/>
          </a:xfrm>
          <a:prstGeom prst="ellipse">
            <a:avLst/>
          </a:prstGeom>
          <a:solidFill>
            <a:srgbClr val="0F5A6B"/>
          </a:solidFill>
          <a:ln w="12700">
            <a:solidFill>
              <a:srgbClr val="0F5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12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43584" y="475488"/>
            <a:ext cx="103080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43584" y="1133856"/>
            <a:ext cx="103080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65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あいち銀行では、デジタルサービスの強化を中期経営計画の重点施策に掲げている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130991" y="62179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8497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6172200" cy="777240"/>
          </a:xfrm>
          <a:prstGeom prst="roundRect">
            <a:avLst>
              <a:gd name="adj" fmla="val 5882"/>
            </a:avLst>
          </a:prstGeom>
          <a:solidFill>
            <a:srgbClr val="F3F6F7"/>
          </a:solidFill>
          <a:ln w="9525">
            <a:solidFill>
              <a:srgbClr val="F3F6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96112" y="199339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497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 画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40280"/>
            <a:ext cx="5660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あいちフィナンシャルグループ　第2次中期経営計画（2025年4月〜2028年3月）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097280" y="2679192"/>
            <a:ext cx="219456" cy="182880"/>
          </a:xfrm>
          <a:prstGeom prst="downArrow">
            <a:avLst/>
          </a:prstGeom>
          <a:solidFill>
            <a:srgbClr val="C2CFD3"/>
          </a:solidFill>
          <a:ln w="12700">
            <a:solidFill>
              <a:srgbClr val="C2CF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834640"/>
            <a:ext cx="5852160" cy="777240"/>
          </a:xfrm>
          <a:prstGeom prst="roundRect">
            <a:avLst>
              <a:gd name="adj" fmla="val 5882"/>
            </a:avLst>
          </a:prstGeom>
          <a:solidFill>
            <a:srgbClr val="F3F6F7"/>
          </a:solidFill>
          <a:ln w="9525">
            <a:solidFill>
              <a:srgbClr val="F3F6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216152" y="295351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497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基本戦略Ⅲ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216152" y="3200400"/>
            <a:ext cx="5340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DX戦略の加速化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417320" y="3639312"/>
            <a:ext cx="219456" cy="182880"/>
          </a:xfrm>
          <a:prstGeom prst="downArrow">
            <a:avLst/>
          </a:prstGeom>
          <a:solidFill>
            <a:srgbClr val="C2CFD3"/>
          </a:solidFill>
          <a:ln w="12700">
            <a:solidFill>
              <a:srgbClr val="C2CFD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80160" y="3794760"/>
            <a:ext cx="5532120" cy="777240"/>
          </a:xfrm>
          <a:prstGeom prst="roundRect">
            <a:avLst>
              <a:gd name="adj" fmla="val 5882"/>
            </a:avLst>
          </a:prstGeom>
          <a:solidFill>
            <a:srgbClr val="0F5A6B"/>
          </a:solidFill>
          <a:ln w="9525">
            <a:solidFill>
              <a:srgbClr val="0F5A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36192" y="391363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CC8C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重点施策⑦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536192" y="4160520"/>
            <a:ext cx="5020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顧客の利便性・先進性の向上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626864"/>
            <a:ext cx="5532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497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「すべてのお客さまに便利に使っていただける金融サービスを提供する」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059168" y="1874520"/>
            <a:ext cx="4489704" cy="3017520"/>
          </a:xfrm>
          <a:prstGeom prst="roundRect">
            <a:avLst>
              <a:gd name="adj" fmla="val 1515"/>
            </a:avLst>
          </a:prstGeom>
          <a:solidFill>
            <a:srgbClr val="F3F6F7"/>
          </a:solidFill>
          <a:ln w="9525">
            <a:solidFill>
              <a:srgbClr val="F3F6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33488" y="2066544"/>
            <a:ext cx="3941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497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 組 方 針 ⑯ 　顧 客 サ ー ビ ス の 強 化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333488" y="2450592"/>
            <a:ext cx="3941064" cy="621792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D8E0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98080" y="2450592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65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バンキングアプリ・インターネット支店をリニューアル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333488" y="3182112"/>
            <a:ext cx="3941064" cy="621792"/>
          </a:xfrm>
          <a:prstGeom prst="roundRect">
            <a:avLst>
              <a:gd name="adj" fmla="val 7353"/>
            </a:avLst>
          </a:prstGeom>
          <a:solidFill>
            <a:srgbClr val="F8EBE1"/>
          </a:solidFill>
          <a:ln w="12700">
            <a:solidFill>
              <a:srgbClr val="D9A97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98080" y="3182112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B4551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若年層等の新たな顧客層へのアプローチを強化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33488" y="3913632"/>
            <a:ext cx="3941064" cy="621792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D8E0E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98080" y="3913632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65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法人向けにライト版法人IBを導入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4663440"/>
            <a:ext cx="4489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497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出典：あいちFG「第2次中期経営計画」p.31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40080" y="5230368"/>
            <a:ext cx="10911535" cy="658368"/>
          </a:xfrm>
          <a:prstGeom prst="roundRect">
            <a:avLst>
              <a:gd name="adj" fmla="val 6944"/>
            </a:avLst>
          </a:prstGeom>
          <a:solidFill>
            <a:srgbClr val="E2EEF0"/>
          </a:solidFill>
          <a:ln w="12700">
            <a:solidFill>
              <a:srgbClr val="E2EE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14400" y="5230368"/>
            <a:ext cx="103628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5A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非対面のチャネルがどれだけ使われているかは、この狙いの進み具合を示す　→　今回はインターネットバンキング（IB）を対象にした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12064"/>
            <a:ext cx="420624" cy="420624"/>
          </a:xfrm>
          <a:prstGeom prst="ellipse">
            <a:avLst/>
          </a:prstGeom>
          <a:solidFill>
            <a:srgbClr val="0F5A6B"/>
          </a:solidFill>
          <a:ln w="12700">
            <a:solidFill>
              <a:srgbClr val="0F5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12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43584" y="475488"/>
            <a:ext cx="103080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目的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43584" y="1133856"/>
            <a:ext cx="103080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65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IBの利用が1年間でどれだけ広がったかを、2つの期間の比較で確認する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130991" y="62179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8497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1920240"/>
            <a:ext cx="10911535" cy="1417320"/>
          </a:xfrm>
          <a:prstGeom prst="roundRect">
            <a:avLst>
              <a:gd name="adj" fmla="val 3226"/>
            </a:avLst>
          </a:prstGeom>
          <a:solidFill>
            <a:srgbClr val="E2EEF0"/>
          </a:solidFill>
          <a:ln w="9525">
            <a:solidFill>
              <a:srgbClr val="E2EE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12140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F5A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 的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450592"/>
            <a:ext cx="10088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5A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2025年と2026年の同じ時期を比べ、IBの利用件数がどれだけ増えたかを確認する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40080" y="3703320"/>
            <a:ext cx="5227168" cy="1600200"/>
          </a:xfrm>
          <a:prstGeom prst="roundRect">
            <a:avLst>
              <a:gd name="adj" fmla="val 2857"/>
            </a:avLst>
          </a:prstGeom>
          <a:solidFill>
            <a:srgbClr val="F3F6F7"/>
          </a:solidFill>
          <a:ln w="9525">
            <a:solidFill>
              <a:srgbClr val="F3F6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3931920"/>
            <a:ext cx="458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497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 べ 方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4270248"/>
            <a:ext cx="45870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1A2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同じ4〜6月どうしを比べ、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1A2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時期による取引量の差を避ける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324448" y="3703320"/>
            <a:ext cx="5227168" cy="1600200"/>
          </a:xfrm>
          <a:prstGeom prst="roundRect">
            <a:avLst>
              <a:gd name="adj" fmla="val 2857"/>
            </a:avLst>
          </a:prstGeom>
          <a:solidFill>
            <a:srgbClr val="F3F6F7"/>
          </a:solidFill>
          <a:ln w="9525">
            <a:solidFill>
              <a:srgbClr val="F3F6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44488" y="3931920"/>
            <a:ext cx="458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497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 る 対 象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644488" y="4270248"/>
            <a:ext cx="45870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1A2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IBの件数に加え、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1A2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ATM側の「IBでも代替できる取引」も見る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12064"/>
            <a:ext cx="420624" cy="420624"/>
          </a:xfrm>
          <a:prstGeom prst="ellipse">
            <a:avLst/>
          </a:prstGeom>
          <a:solidFill>
            <a:srgbClr val="0F5A6B"/>
          </a:solidFill>
          <a:ln w="12700">
            <a:solidFill>
              <a:srgbClr val="0F5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12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43584" y="475488"/>
            <a:ext cx="103080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使用したデータ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43584" y="1133856"/>
            <a:ext cx="103080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65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取引履歴（流動）をもとに作成された入出金テーブルを使用した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130991" y="62179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8497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5989320" cy="2103120"/>
          </a:xfrm>
          <a:prstGeom prst="roundRect">
            <a:avLst>
              <a:gd name="adj" fmla="val 2174"/>
            </a:avLst>
          </a:prstGeom>
          <a:solidFill>
            <a:srgbClr val="E2EEF0"/>
          </a:solidFill>
          <a:ln w="9525">
            <a:solidFill>
              <a:srgbClr val="E2EE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210312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F5A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 用 デ ー タ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2450592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5A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入出金テーブル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3035808"/>
            <a:ext cx="5257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A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取引履歴（流動）をもとに作成されたもの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3401568"/>
            <a:ext cx="5257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65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入出金の状況を、条件を指定して確認できる形になっている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967728" y="1874520"/>
            <a:ext cx="4581144" cy="2103120"/>
          </a:xfrm>
          <a:prstGeom prst="roundRect">
            <a:avLst>
              <a:gd name="adj" fmla="val 2174"/>
            </a:avLst>
          </a:prstGeom>
          <a:solidFill>
            <a:srgbClr val="F3F6F7"/>
          </a:solidFill>
          <a:ln w="9525">
            <a:solidFill>
              <a:srgbClr val="F3F6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296912" y="2103120"/>
            <a:ext cx="3922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497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 象 期 間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296912" y="2450592"/>
            <a:ext cx="3922776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8E0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296912" y="2450592"/>
            <a:ext cx="3922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2025年　4月・5月・6月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96912" y="3145536"/>
            <a:ext cx="3922776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8E0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96912" y="3145536"/>
            <a:ext cx="3922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　4月・5月・6月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251960"/>
            <a:ext cx="10911535" cy="960120"/>
          </a:xfrm>
          <a:prstGeom prst="roundRect">
            <a:avLst>
              <a:gd name="adj" fmla="val 4762"/>
            </a:avLst>
          </a:prstGeom>
          <a:solidFill>
            <a:srgbClr val="F8EBE1"/>
          </a:solidFill>
          <a:ln w="15875">
            <a:solidFill>
              <a:srgbClr val="D9A97F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859536" y="4389120"/>
            <a:ext cx="10472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B4551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 入 欄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59536" y="4654296"/>
            <a:ext cx="10472623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279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入出金テーブルの主な項目（例：日付／チャネル／取引種別／年代 など、実際に使ったものを記載）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5486400"/>
            <a:ext cx="10911535" cy="566928"/>
          </a:xfrm>
          <a:prstGeom prst="roundRect">
            <a:avLst>
              <a:gd name="adj" fmla="val 8065"/>
            </a:avLst>
          </a:prstGeom>
          <a:solidFill>
            <a:srgbClr val="F3F6F7"/>
          </a:solidFill>
          <a:ln w="12700">
            <a:solidFill>
              <a:srgbClr val="F3F6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5486400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このテーブルに対して、DYNATREKで条件を指定して集計する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12064"/>
            <a:ext cx="420624" cy="420624"/>
          </a:xfrm>
          <a:prstGeom prst="ellipse">
            <a:avLst/>
          </a:prstGeom>
          <a:solidFill>
            <a:srgbClr val="0F5A6B"/>
          </a:solidFill>
          <a:ln w="12700">
            <a:solidFill>
              <a:srgbClr val="0F5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12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43584" y="475488"/>
            <a:ext cx="103080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分析方法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43584" y="1133856"/>
            <a:ext cx="103080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65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入出金テーブルに条件を指定するだけで、必要な集計を取り出せる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130991" y="62179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8497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5029200" cy="2926080"/>
          </a:xfrm>
          <a:prstGeom prst="roundRect">
            <a:avLst>
              <a:gd name="adj" fmla="val 1563"/>
            </a:avLst>
          </a:prstGeom>
          <a:solidFill>
            <a:srgbClr val="F3F6F7"/>
          </a:solidFill>
          <a:ln w="15875">
            <a:solidFill>
              <a:srgbClr val="BFCCD1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640080" y="29535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5A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スクリーンショット ①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300984"/>
            <a:ext cx="4480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497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DYNATREKの条件設定画面</a:t>
            </a:r>
            <a:endParaRPr lang="en-US" sz="11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497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（期間・チャネル・取引種別などを指定）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522415" y="1874520"/>
            <a:ext cx="5029200" cy="2926080"/>
          </a:xfrm>
          <a:prstGeom prst="roundRect">
            <a:avLst>
              <a:gd name="adj" fmla="val 1563"/>
            </a:avLst>
          </a:prstGeom>
          <a:solidFill>
            <a:srgbClr val="E2EEF0"/>
          </a:solidFill>
          <a:ln w="15875">
            <a:solidFill>
              <a:srgbClr val="A8C7CC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6522415" y="29535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5A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スクリーンショット ②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796735" y="3300984"/>
            <a:ext cx="4480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497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指定した条件で出力された集計結果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97296" y="3154680"/>
            <a:ext cx="594360" cy="365760"/>
          </a:xfrm>
          <a:prstGeom prst="rightArrow">
            <a:avLst/>
          </a:prstGeom>
          <a:solidFill>
            <a:srgbClr val="0F5A6B"/>
          </a:solidFill>
          <a:ln w="12700">
            <a:solidFill>
              <a:srgbClr val="0F5A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94690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条件を指定する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522415" y="494690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5A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そのまま集計結果が出る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440680"/>
            <a:ext cx="10911535" cy="566928"/>
          </a:xfrm>
          <a:prstGeom prst="roundRect">
            <a:avLst>
              <a:gd name="adj" fmla="val 8065"/>
            </a:avLst>
          </a:prstGeom>
          <a:solidFill>
            <a:srgbClr val="F3F6F7"/>
          </a:solidFill>
          <a:ln w="12700">
            <a:solidFill>
              <a:srgbClr val="F3F6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5440680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条件を変えるだけで、別の切り口でも確認できる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12064"/>
            <a:ext cx="420624" cy="420624"/>
          </a:xfrm>
          <a:prstGeom prst="ellipse">
            <a:avLst/>
          </a:prstGeom>
          <a:solidFill>
            <a:srgbClr val="0F5A6B"/>
          </a:solidFill>
          <a:ln w="12700">
            <a:solidFill>
              <a:srgbClr val="0F5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12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43584" y="475488"/>
            <a:ext cx="103080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結果①　IBの利用件数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43584" y="1133856"/>
            <a:ext cx="103080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65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IBで行われた取引の件数は、1年間で増加していた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130991" y="62179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8497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5989320" cy="3200400"/>
          </a:xfrm>
          <a:prstGeom prst="roundRect">
            <a:avLst>
              <a:gd name="adj" fmla="val 1429"/>
            </a:avLst>
          </a:prstGeom>
          <a:solidFill>
            <a:srgbClr val="F3F6F7"/>
          </a:solidFill>
          <a:ln w="15875">
            <a:solidFill>
              <a:srgbClr val="BFCCD1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640080" y="3090672"/>
            <a:ext cx="5989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5A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グラフ貼付エリア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438144"/>
            <a:ext cx="5440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497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IBの利用件数（2025年4〜6月 / 2026年4〜6月）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967728" y="1874520"/>
            <a:ext cx="4581144" cy="960120"/>
          </a:xfrm>
          <a:prstGeom prst="roundRect">
            <a:avLst>
              <a:gd name="adj" fmla="val 4762"/>
            </a:avLst>
          </a:prstGeom>
          <a:solidFill>
            <a:srgbClr val="F8EBE1"/>
          </a:solidFill>
          <a:ln w="15875">
            <a:solidFill>
              <a:srgbClr val="D9A97F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7187184" y="2011680"/>
            <a:ext cx="4142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B4551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件 数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187184" y="2276856"/>
            <a:ext cx="41422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279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2025年4〜6月 合計 ◯◯件 → 2026年4〜6月 合計 ◯◯件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967728" y="2999232"/>
            <a:ext cx="4581144" cy="960120"/>
          </a:xfrm>
          <a:prstGeom prst="roundRect">
            <a:avLst>
              <a:gd name="adj" fmla="val 4762"/>
            </a:avLst>
          </a:prstGeom>
          <a:solidFill>
            <a:srgbClr val="F8EBE1"/>
          </a:solidFill>
          <a:ln w="15875">
            <a:solidFill>
              <a:srgbClr val="D9A97F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7187184" y="3136392"/>
            <a:ext cx="4142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B4551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 化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187184" y="3401568"/>
            <a:ext cx="41422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279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1年間で ＋◯◯件（＋◯◯％）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967728" y="4123944"/>
            <a:ext cx="4581144" cy="950976"/>
          </a:xfrm>
          <a:prstGeom prst="roundRect">
            <a:avLst>
              <a:gd name="adj" fmla="val 4808"/>
            </a:avLst>
          </a:prstGeom>
          <a:solidFill>
            <a:srgbClr val="F8EBE1"/>
          </a:solidFill>
          <a:ln w="15875">
            <a:solidFill>
              <a:srgbClr val="D9A97F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7187184" y="4261104"/>
            <a:ext cx="4142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B4551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 別 の 傾 向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187184" y="4526280"/>
            <a:ext cx="41422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279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4月・5月・6月それぞれ増えているか／特に伸びた月はどこか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5349240"/>
            <a:ext cx="10911535" cy="621792"/>
          </a:xfrm>
          <a:prstGeom prst="roundRect">
            <a:avLst>
              <a:gd name="adj" fmla="val 7353"/>
            </a:avLst>
          </a:prstGeom>
          <a:solidFill>
            <a:srgbClr val="F3F6F7"/>
          </a:solidFill>
          <a:ln w="12700">
            <a:solidFill>
              <a:srgbClr val="F3F6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5349240"/>
            <a:ext cx="10362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ただし件数の増加だけでは、取引そのものが増えた可能性を否定できない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12064"/>
            <a:ext cx="420624" cy="420624"/>
          </a:xfrm>
          <a:prstGeom prst="ellipse">
            <a:avLst/>
          </a:prstGeom>
          <a:solidFill>
            <a:srgbClr val="0F5A6B"/>
          </a:solidFill>
          <a:ln w="12700">
            <a:solidFill>
              <a:srgbClr val="0F5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12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43584" y="475488"/>
            <a:ext cx="103080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結果②　ATMでIBに代替できる取引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43584" y="1133856"/>
            <a:ext cx="103080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65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IBへ移っているかを判断するため、ATM側の同種の取引も確認した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130991" y="62179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8497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5989320" cy="3200400"/>
          </a:xfrm>
          <a:prstGeom prst="roundRect">
            <a:avLst>
              <a:gd name="adj" fmla="val 1429"/>
            </a:avLst>
          </a:prstGeom>
          <a:solidFill>
            <a:srgbClr val="F3F6F7"/>
          </a:solidFill>
          <a:ln w="15875">
            <a:solidFill>
              <a:srgbClr val="BFCCD1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640080" y="3090672"/>
            <a:ext cx="5989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5A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グラフ貼付エリア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438144"/>
            <a:ext cx="5440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497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ATMでのIB代替可能な取引の件数（2025年4〜6月 / 2026年4〜6月）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967728" y="1874520"/>
            <a:ext cx="4581144" cy="960120"/>
          </a:xfrm>
          <a:prstGeom prst="roundRect">
            <a:avLst>
              <a:gd name="adj" fmla="val 4762"/>
            </a:avLst>
          </a:prstGeom>
          <a:solidFill>
            <a:srgbClr val="F3F6F7"/>
          </a:solidFill>
          <a:ln w="9525">
            <a:solidFill>
              <a:srgbClr val="F3F6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223760" y="20116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497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 象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2249424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A2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ATMでの取引のうち、IBでも行えるもの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A2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（振込・振替 など）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967728" y="2999232"/>
            <a:ext cx="4581144" cy="960120"/>
          </a:xfrm>
          <a:prstGeom prst="roundRect">
            <a:avLst>
              <a:gd name="adj" fmla="val 4762"/>
            </a:avLst>
          </a:prstGeom>
          <a:solidFill>
            <a:srgbClr val="F8EBE1"/>
          </a:solidFill>
          <a:ln w="15875">
            <a:solidFill>
              <a:srgbClr val="D9A97F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7187184" y="3136392"/>
            <a:ext cx="4142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B4551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件 数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187184" y="3401568"/>
            <a:ext cx="41422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279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2025年4〜6月 合計 ◯◯件 → 2026年4〜6月 合計 ◯◯件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967728" y="4123944"/>
            <a:ext cx="4581144" cy="950976"/>
          </a:xfrm>
          <a:prstGeom prst="roundRect">
            <a:avLst>
              <a:gd name="adj" fmla="val 4808"/>
            </a:avLst>
          </a:prstGeom>
          <a:solidFill>
            <a:srgbClr val="F8EBE1"/>
          </a:solidFill>
          <a:ln w="15875">
            <a:solidFill>
              <a:srgbClr val="D9A97F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7187184" y="4261104"/>
            <a:ext cx="4142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B4551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 化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187184" y="4526280"/>
            <a:ext cx="41422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279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1年間で −◯◯件（−◯◯％）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5349240"/>
            <a:ext cx="10911535" cy="621792"/>
          </a:xfrm>
          <a:prstGeom prst="roundRect">
            <a:avLst>
              <a:gd name="adj" fmla="val 7353"/>
            </a:avLst>
          </a:prstGeom>
          <a:solidFill>
            <a:srgbClr val="E2EEF0"/>
          </a:solidFill>
          <a:ln w="12700">
            <a:solidFill>
              <a:srgbClr val="E2EE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5349240"/>
            <a:ext cx="10362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5A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IBは増加、ATM側は減少　→　同じ取引がIBへ移りつつあると読める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12064"/>
            <a:ext cx="420624" cy="420624"/>
          </a:xfrm>
          <a:prstGeom prst="ellipse">
            <a:avLst/>
          </a:prstGeom>
          <a:solidFill>
            <a:srgbClr val="0F5A6B"/>
          </a:solidFill>
          <a:ln w="12700">
            <a:solidFill>
              <a:srgbClr val="0F5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12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43584" y="475488"/>
            <a:ext cx="103080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考察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43584" y="1133856"/>
            <a:ext cx="103080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65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計画が掲げる「若年層へのアプローチ強化」が進んでいるかを、年代別に確認した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130991" y="62179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8497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1993392" cy="676656"/>
          </a:xfrm>
          <a:prstGeom prst="roundRect">
            <a:avLst>
              <a:gd name="adj" fmla="val 6757"/>
            </a:avLst>
          </a:prstGeom>
          <a:solidFill>
            <a:srgbClr val="F3F6F7"/>
          </a:solidFill>
          <a:ln w="9525">
            <a:solidFill>
              <a:srgbClr val="F3F6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965960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未成年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240280"/>
            <a:ext cx="1993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497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0〜17歳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862072" y="1874520"/>
            <a:ext cx="1993392" cy="676656"/>
          </a:xfrm>
          <a:prstGeom prst="roundRect">
            <a:avLst>
              <a:gd name="adj" fmla="val 6757"/>
            </a:avLst>
          </a:prstGeom>
          <a:solidFill>
            <a:srgbClr val="F3F6F7"/>
          </a:solidFill>
          <a:ln w="9525">
            <a:solidFill>
              <a:srgbClr val="F3F6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62072" y="1965960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若手成人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2862072" y="2240280"/>
            <a:ext cx="1993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497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18〜29歳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84064" y="1874520"/>
            <a:ext cx="1993392" cy="676656"/>
          </a:xfrm>
          <a:prstGeom prst="roundRect">
            <a:avLst>
              <a:gd name="adj" fmla="val 6757"/>
            </a:avLst>
          </a:prstGeom>
          <a:solidFill>
            <a:srgbClr val="F3F6F7"/>
          </a:solidFill>
          <a:ln w="9525">
            <a:solidFill>
              <a:srgbClr val="F3F6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84064" y="1965960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働き手①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084064" y="2240280"/>
            <a:ext cx="1993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497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30〜44歳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06056" y="1874520"/>
            <a:ext cx="1993392" cy="676656"/>
          </a:xfrm>
          <a:prstGeom prst="roundRect">
            <a:avLst>
              <a:gd name="adj" fmla="val 6757"/>
            </a:avLst>
          </a:prstGeom>
          <a:solidFill>
            <a:srgbClr val="F3F6F7"/>
          </a:solidFill>
          <a:ln w="9525">
            <a:solidFill>
              <a:srgbClr val="F3F6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06056" y="1965960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働き手②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306056" y="2240280"/>
            <a:ext cx="1993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497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45〜64歳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528048" y="1874520"/>
            <a:ext cx="1993392" cy="676656"/>
          </a:xfrm>
          <a:prstGeom prst="roundRect">
            <a:avLst>
              <a:gd name="adj" fmla="val 6757"/>
            </a:avLst>
          </a:prstGeom>
          <a:solidFill>
            <a:srgbClr val="F3F6F7"/>
          </a:solidFill>
          <a:ln w="9525">
            <a:solidFill>
              <a:srgbClr val="F3F6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528048" y="1965960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高齢者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528048" y="2240280"/>
            <a:ext cx="1993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497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65歳以上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2724912"/>
            <a:ext cx="5989320" cy="2331720"/>
          </a:xfrm>
          <a:prstGeom prst="roundRect">
            <a:avLst>
              <a:gd name="adj" fmla="val 1961"/>
            </a:avLst>
          </a:prstGeom>
          <a:solidFill>
            <a:srgbClr val="F3F6F7"/>
          </a:solidFill>
          <a:ln w="15875">
            <a:solidFill>
              <a:srgbClr val="BFCCD1"/>
            </a:solidFill>
            <a:prstDash val="dash"/>
          </a:ln>
        </p:spPr>
      </p:sp>
      <p:sp>
        <p:nvSpPr>
          <p:cNvPr id="23" name="Text 21"/>
          <p:cNvSpPr txBox="1"/>
          <p:nvPr/>
        </p:nvSpPr>
        <p:spPr>
          <a:xfrm>
            <a:off x="640080" y="3506724"/>
            <a:ext cx="5989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5A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グラフ貼付エリア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3854196"/>
            <a:ext cx="5440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497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年代別 IB利用件数の増加率（棒グラフ）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967728" y="2724912"/>
            <a:ext cx="4581144" cy="868680"/>
          </a:xfrm>
          <a:prstGeom prst="roundRect">
            <a:avLst>
              <a:gd name="adj" fmla="val 5263"/>
            </a:avLst>
          </a:prstGeom>
          <a:solidFill>
            <a:srgbClr val="F8EBE1"/>
          </a:solidFill>
          <a:ln w="15875">
            <a:solidFill>
              <a:srgbClr val="D9A97F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7187184" y="2862072"/>
            <a:ext cx="4142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B4551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 み 取 り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7187184" y="3127248"/>
            <a:ext cx="414223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279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どの年代の増加率が最も高かったか／他の年代はどうだったか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967728" y="3776472"/>
            <a:ext cx="4581144" cy="1280160"/>
          </a:xfrm>
          <a:prstGeom prst="roundRect">
            <a:avLst>
              <a:gd name="adj" fmla="val 3571"/>
            </a:avLst>
          </a:prstGeom>
          <a:solidFill>
            <a:srgbClr val="E2EEF0"/>
          </a:solidFill>
          <a:ln w="9525">
            <a:solidFill>
              <a:srgbClr val="E2EE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23760" y="3913632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F5A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こ か ら 考 え ら れ る 打 ち 手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7223760" y="4169664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F5A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伸びが小さい年代には、ATMでの振込・振替の際にIBを案内する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F5A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すでに伸びている年代には、扱える手続きの幅を広げる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40080" y="5285232"/>
            <a:ext cx="10911535" cy="621792"/>
          </a:xfrm>
          <a:prstGeom prst="roundRect">
            <a:avLst>
              <a:gd name="adj" fmla="val 7353"/>
            </a:avLst>
          </a:prstGeom>
          <a:solidFill>
            <a:srgbClr val="E2EEF0"/>
          </a:solidFill>
          <a:ln w="12700">
            <a:solidFill>
              <a:srgbClr val="E2EEF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4400" y="5285232"/>
            <a:ext cx="10362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5A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年代まで分かると、計画の狙いがどこまで進んでいるかと、次に誰へ案内すべきかが同時に見える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12064"/>
            <a:ext cx="420624" cy="420624"/>
          </a:xfrm>
          <a:prstGeom prst="ellipse">
            <a:avLst/>
          </a:prstGeom>
          <a:solidFill>
            <a:srgbClr val="0F5A6B"/>
          </a:solidFill>
          <a:ln w="12700">
            <a:solidFill>
              <a:srgbClr val="0F5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12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43584" y="475488"/>
            <a:ext cx="103080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43584" y="1133856"/>
            <a:ext cx="103080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65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今回のワークで行ったことを、ひとつの流れにまとめる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130991" y="62179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8497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1965960"/>
            <a:ext cx="1929384" cy="2240280"/>
          </a:xfrm>
          <a:prstGeom prst="roundRect">
            <a:avLst>
              <a:gd name="adj" fmla="val 2370"/>
            </a:avLst>
          </a:prstGeom>
          <a:solidFill>
            <a:srgbClr val="F3F6F7"/>
          </a:solidFill>
          <a:ln w="9525">
            <a:solidFill>
              <a:srgbClr val="F3F6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221992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C7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76656" y="2679192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" kern="0" dirty="0">
                <a:solidFill>
                  <a:srgbClr val="1A2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 い を 立 て る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3081528"/>
            <a:ext cx="17099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65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「IBの利用は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65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広がっているか」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615184" y="2976372"/>
            <a:ext cx="219456" cy="219456"/>
          </a:xfrm>
          <a:prstGeom prst="rightArrow">
            <a:avLst/>
          </a:prstGeom>
          <a:solidFill>
            <a:srgbClr val="C2CFD3"/>
          </a:solidFill>
          <a:ln w="12700">
            <a:solidFill>
              <a:srgbClr val="C2CF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80360" y="1965960"/>
            <a:ext cx="1929384" cy="2240280"/>
          </a:xfrm>
          <a:prstGeom prst="roundRect">
            <a:avLst>
              <a:gd name="adj" fmla="val 2370"/>
            </a:avLst>
          </a:prstGeom>
          <a:solidFill>
            <a:srgbClr val="F3F6F7"/>
          </a:solidFill>
          <a:ln w="9525">
            <a:solidFill>
              <a:srgbClr val="F3F6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80360" y="2221992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C7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916936" y="2679192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" kern="0" dirty="0">
                <a:solidFill>
                  <a:srgbClr val="1A2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 件 を 指 定 す る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2990088" y="3081528"/>
            <a:ext cx="17099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65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入出金テーブルから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65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必要な集計を取り出す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855464" y="2976372"/>
            <a:ext cx="219456" cy="219456"/>
          </a:xfrm>
          <a:prstGeom prst="rightArrow">
            <a:avLst/>
          </a:prstGeom>
          <a:solidFill>
            <a:srgbClr val="C2CFD3"/>
          </a:solidFill>
          <a:ln w="12700">
            <a:solidFill>
              <a:srgbClr val="C2CFD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20640" y="1965960"/>
            <a:ext cx="1929384" cy="2240280"/>
          </a:xfrm>
          <a:prstGeom prst="roundRect">
            <a:avLst>
              <a:gd name="adj" fmla="val 2370"/>
            </a:avLst>
          </a:prstGeom>
          <a:solidFill>
            <a:srgbClr val="F3F6F7"/>
          </a:solidFill>
          <a:ln w="9525">
            <a:solidFill>
              <a:srgbClr val="F3F6F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20640" y="2221992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C7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157216" y="2679192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" kern="0" dirty="0">
                <a:solidFill>
                  <a:srgbClr val="1A2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 か め る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230368" y="3081528"/>
            <a:ext cx="17099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65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IBは増加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65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ATM側は減少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095744" y="2976372"/>
            <a:ext cx="219456" cy="219456"/>
          </a:xfrm>
          <a:prstGeom prst="rightArrow">
            <a:avLst/>
          </a:prstGeom>
          <a:solidFill>
            <a:srgbClr val="C2CFD3"/>
          </a:solidFill>
          <a:ln w="12700">
            <a:solidFill>
              <a:srgbClr val="C2CFD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60920" y="1965960"/>
            <a:ext cx="1929384" cy="2240280"/>
          </a:xfrm>
          <a:prstGeom prst="roundRect">
            <a:avLst>
              <a:gd name="adj" fmla="val 2370"/>
            </a:avLst>
          </a:prstGeom>
          <a:solidFill>
            <a:srgbClr val="F3F6F7"/>
          </a:solidFill>
          <a:ln w="9525">
            <a:solidFill>
              <a:srgbClr val="F3F6F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60920" y="2221992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C7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397496" y="2679192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" kern="0" dirty="0">
                <a:solidFill>
                  <a:srgbClr val="1A2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深 掘 る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470648" y="3081528"/>
            <a:ext cx="17099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65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年代別に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65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増加率を確認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9336024" y="2976372"/>
            <a:ext cx="219456" cy="219456"/>
          </a:xfrm>
          <a:prstGeom prst="rightArrow">
            <a:avLst/>
          </a:prstGeom>
          <a:solidFill>
            <a:srgbClr val="C2CFD3"/>
          </a:solidFill>
          <a:ln w="12700">
            <a:solidFill>
              <a:srgbClr val="C2CFD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601200" y="1965960"/>
            <a:ext cx="1929384" cy="2240280"/>
          </a:xfrm>
          <a:prstGeom prst="roundRect">
            <a:avLst>
              <a:gd name="adj" fmla="val 2370"/>
            </a:avLst>
          </a:prstGeom>
          <a:solidFill>
            <a:srgbClr val="0F5A6B"/>
          </a:solidFill>
          <a:ln w="9525">
            <a:solidFill>
              <a:srgbClr val="0F5A6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01200" y="2221992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CC8C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637776" y="2679192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" kern="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 の 一 手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710928" y="3081528"/>
            <a:ext cx="17099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6E8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案内すべき年代と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6E8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方法を検討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40080" y="4617720"/>
            <a:ext cx="10911535" cy="868680"/>
          </a:xfrm>
          <a:prstGeom prst="roundRect">
            <a:avLst>
              <a:gd name="adj" fmla="val 5263"/>
            </a:avLst>
          </a:prstGeom>
          <a:solidFill>
            <a:srgbClr val="E2EEF0"/>
          </a:solidFill>
          <a:ln w="12700">
            <a:solidFill>
              <a:srgbClr val="E2EEF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4400" y="461772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5A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行内にあるデータも、条件を指定して見られる形にすれば、業務上の問いに答え、次の施策を考える材料になる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568756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497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今回のワークで学んだのは、この一連のプロセス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銀行データを次の一手につなげるまで</dc:title>
  <dc:subject>PptxGenJS Presentation</dc:subject>
  <dc:creator>PptxGenJS</dc:creator>
  <cp:lastModifiedBy>PptxGenJS</cp:lastModifiedBy>
  <cp:revision>1</cp:revision>
  <dcterms:created xsi:type="dcterms:W3CDTF">2026-09-01T08:32:00Z</dcterms:created>
  <dcterms:modified xsi:type="dcterms:W3CDTF">2026-09-01T08:32:00Z</dcterms:modified>
</cp:coreProperties>
</file>