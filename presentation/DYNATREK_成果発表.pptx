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本インターンのテーマは、銀行が持っているデータを分析して、どのような価値に変えていくかのプロセスを学ぶことでした。
行内のデータは項目が多く、見たい条件でまとめて取り出すのが簡単ではありません。そこで使ったのがDYNATREKです。
今回は、その活用例として「預金の増減を知りたい」といった問いを想定し、実際にどこまで答えを出せるのかを確かめてみました。本発表は、その活用例の一つになります。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あいちフィナンシャルグループの第2次中期経営計画では、基本戦略のひとつに「DX戦略の加速化」が掲げられ、その重点施策として、バンキングアプリやインターネット支店といった非対面チャネルの有効活用が挙げられています。
その非対面チャネルのひとつがインターネットバンキング、IBです。
【作成時の注意】重点施策の番号（⑦）と本文の表現は、計画の原本で確認してから記入すること。番号が確認できない場合は「重点施策のひとつ」と書けば事実関係は崩れない。
※KPIの数値には触れない（今回はKPIに沿った分析をしていないため）。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背景をふまえて、目的はシンプルに置きました。2025年と2026年の同じ時期を比べて、IBの利用件数がどれだけ増えたかを確認することです。
比べ方は、同じ4〜6月どうし。時期によって取引の量は変わるので、同じ季節どうしで比べます。
もうひとつ、IBの件数だけを見るのではなく、ATMで行われている「IBでもできる取引」も合わせて見ることにしました。理由は結果のところで説明します。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使ったデータは、2025年と2026年の4月・5月・6月です。
元になったのは取引履歴（流動）で、そこから入出金テーブルを作成し、DYNATREKで条件を指定して集計できる形にしました。
取引履歴そのままだと項目が多く目的のデータを追いにくいので、この準備が必要でした。逆に、一度この形にしてしまえば、以降は条件を指定するだけで色々な角度から見られるようになります。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まずIBの利用件数です。2025年の4〜6月と、2026年の4〜6月を比べました。
（記入した数値を読み上げる）
1年間で件数は増えています。月別に見ても、同じ傾向が出ています。
──ただ、これだけで「IBが広がった」と言い切れるかというと、そうではありません。次のスライドで、もうひとつの見方を足します。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IBの件数が増えても、それが「取引そのものが増えただけ」なら、IBが広がったとは言えません。
そこで、ATMで行われている取引のうち、IBでも同じことができるもの──振込や振替など──に絞って件数を見ました。
（記入した数値を読み上げる）
こちらは減っています。IBが増え、ATM側が減っている。同じ取引がIBへ移りつつある、と読めます。
※「IBでも行える取引」に何を含めたかは質疑で聞かれやすいので、口頭でも一度言っておく。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IBが増えていることが分かると、銀行側が次に知りたくなるのは「では、どの年代で増えているのか」です。これも同じテーブルに年代の条件を足すだけで確認できました。
年代は5つに分けています。未成年、若手成人、働き手①、働き手②、高齢者です。
（読み取りを説明する）
ここまで分かると、伸びていない年代にどう案内するか、といった具体的な打ち手の話ができるようになります。
【作成時の注意】施策の2行は、実際の読み取りに合わせて書き換えること。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最後に、今回の流れをまとめます。
「預金やIBの動きを知りたい」という問いから始まり、取引履歴（流動）から入出金テーブルを整え、IBが増えATM側が減っていることを確かめ、さらに年代別まで深掘りして、最後は誰にどう案内するかという打ち手の検討まで進みました。
行内にあるデータも、条件を指定して見られる形に整えれば、業務上の問いに答えて、次の施策を考える材料になります。今回のワークで学んだのは、この一連のプロセスです。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02336" cy="402336"/>
          </a:xfrm>
          <a:prstGeom prst="ellipse">
            <a:avLst/>
          </a:prstGeom>
          <a:solidFill>
            <a:srgbClr val="0F5A6B"/>
          </a:solidFill>
          <a:ln w="12700">
            <a:solidFill>
              <a:srgbClr val="0F5A6B"/>
            </a:solidFill>
            <a:prstDash val="solid"/>
          </a:ln>
        </p:spPr>
      </p:sp>
      <p:sp>
        <p:nvSpPr>
          <p:cNvPr id="3" name="Text 1"/>
          <p:cNvSpPr txBox="1"/>
          <p:nvPr/>
        </p:nvSpPr>
        <p:spPr>
          <a:xfrm>
            <a:off x="640080" y="56692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01</a:t>
            </a:r>
            <a:endParaRPr lang="en-US" sz="1150" dirty="0"/>
          </a:p>
        </p:txBody>
      </p:sp>
      <p:sp>
        <p:nvSpPr>
          <p:cNvPr id="4" name="Text 2"/>
          <p:cNvSpPr txBox="1"/>
          <p:nvPr/>
        </p:nvSpPr>
        <p:spPr>
          <a:xfrm>
            <a:off x="1225296" y="402336"/>
            <a:ext cx="6400800" cy="228600"/>
          </a:xfrm>
          <a:prstGeom prst="rect">
            <a:avLst/>
          </a:prstGeom>
          <a:noFill/>
          <a:ln/>
        </p:spPr>
        <p:txBody>
          <a:bodyPr wrap="square" lIns="0" tIns="0" rIns="0" bIns="0" rtlCol="0" anchor="ctr"/>
          <a:lstStyle/>
          <a:p>
            <a:pPr indent="0" marL="0">
              <a:buNone/>
            </a:pPr>
            <a:r>
              <a:rPr lang="en-US" sz="1050" b="1" spc="150" kern="0" dirty="0">
                <a:solidFill>
                  <a:srgbClr val="0F5A6B"/>
                </a:solidFill>
                <a:latin typeface="Meiryo" pitchFamily="34" charset="0"/>
                <a:ea typeface="Meiryo" pitchFamily="34" charset="-122"/>
                <a:cs typeface="Meiryo" pitchFamily="34" charset="-120"/>
              </a:rPr>
              <a:t>位 置 づ け</a:t>
            </a:r>
            <a:endParaRPr lang="en-US" sz="1050" dirty="0"/>
          </a:p>
        </p:txBody>
      </p:sp>
      <p:sp>
        <p:nvSpPr>
          <p:cNvPr id="5" name="Text 3"/>
          <p:cNvSpPr txBox="1"/>
          <p:nvPr/>
        </p:nvSpPr>
        <p:spPr>
          <a:xfrm>
            <a:off x="1225296" y="603504"/>
            <a:ext cx="10326319" cy="548640"/>
          </a:xfrm>
          <a:prstGeom prst="rect">
            <a:avLst/>
          </a:prstGeom>
          <a:noFill/>
          <a:ln/>
        </p:spPr>
        <p:txBody>
          <a:bodyPr wrap="square" lIns="0" tIns="0" rIns="0" bIns="0" rtlCol="0" anchor="ctr"/>
          <a:lstStyle/>
          <a:p>
            <a:pPr indent="0" marL="0">
              <a:buNone/>
            </a:pPr>
            <a:r>
              <a:rPr lang="en-US" sz="2600" b="1" dirty="0">
                <a:solidFill>
                  <a:srgbClr val="1A2B33"/>
                </a:solidFill>
                <a:latin typeface="Meiryo" pitchFamily="34" charset="0"/>
                <a:ea typeface="Meiryo" pitchFamily="34" charset="-122"/>
                <a:cs typeface="Meiryo" pitchFamily="34" charset="-120"/>
              </a:rPr>
              <a:t>「預金の増減を知りたい」を想定した、DYNATREKの活用例</a:t>
            </a:r>
            <a:endParaRPr lang="en-US" sz="2600" dirty="0"/>
          </a:p>
        </p:txBody>
      </p:sp>
      <p:sp>
        <p:nvSpPr>
          <p:cNvPr id="6" name="Text 4"/>
          <p:cNvSpPr txBox="1"/>
          <p:nvPr/>
        </p:nvSpPr>
        <p:spPr>
          <a:xfrm>
            <a:off x="1225296" y="1170432"/>
            <a:ext cx="10326319" cy="347472"/>
          </a:xfrm>
          <a:prstGeom prst="rect">
            <a:avLst/>
          </a:prstGeom>
          <a:noFill/>
          <a:ln/>
        </p:spPr>
        <p:txBody>
          <a:bodyPr wrap="square" lIns="0" tIns="0" rIns="0" bIns="0" rtlCol="0" anchor="ctr"/>
          <a:lstStyle/>
          <a:p>
            <a:pPr indent="0" marL="0">
              <a:buNone/>
            </a:pPr>
            <a:r>
              <a:rPr lang="en-US" sz="1250" dirty="0">
                <a:solidFill>
                  <a:srgbClr val="8497A0"/>
                </a:solidFill>
                <a:latin typeface="Meiryo" pitchFamily="34" charset="0"/>
                <a:ea typeface="Meiryo" pitchFamily="34" charset="-122"/>
                <a:cs typeface="Meiryo" pitchFamily="34" charset="-120"/>
              </a:rPr>
              <a:t>本インターンのテーマ ── 銀行内で保有する各種データを分析し、どのような価値に変換していくかのプロセスを学ぶ</a:t>
            </a:r>
            <a:endParaRPr lang="en-US" sz="1250" dirty="0"/>
          </a:p>
        </p:txBody>
      </p:sp>
      <p:sp>
        <p:nvSpPr>
          <p:cNvPr id="7" name="Text 5"/>
          <p:cNvSpPr txBox="1"/>
          <p:nvPr/>
        </p:nvSpPr>
        <p:spPr>
          <a:xfrm>
            <a:off x="11130991" y="6217920"/>
            <a:ext cx="548640" cy="256032"/>
          </a:xfrm>
          <a:prstGeom prst="rect">
            <a:avLst/>
          </a:prstGeom>
          <a:noFill/>
          <a:ln/>
        </p:spPr>
        <p:txBody>
          <a:bodyPr wrap="square" lIns="0" tIns="0" rIns="0" bIns="0" rtlCol="0" anchor="ctr"/>
          <a:lstStyle/>
          <a:p>
            <a:pPr algn="r" indent="0" marL="0">
              <a:buNone/>
            </a:pPr>
            <a:r>
              <a:rPr lang="en-US" sz="1000" spc="100" kern="0" dirty="0">
                <a:solidFill>
                  <a:srgbClr val="8497A0"/>
                </a:solidFill>
                <a:latin typeface="Meiryo" pitchFamily="34" charset="0"/>
                <a:ea typeface="Meiryo" pitchFamily="34" charset="-122"/>
                <a:cs typeface="Meiryo" pitchFamily="34" charset="-120"/>
              </a:rPr>
              <a:t>01</a:t>
            </a:r>
            <a:endParaRPr lang="en-US" sz="1000" dirty="0"/>
          </a:p>
        </p:txBody>
      </p:sp>
      <p:sp>
        <p:nvSpPr>
          <p:cNvPr id="8" name="Shape 6"/>
          <p:cNvSpPr/>
          <p:nvPr/>
        </p:nvSpPr>
        <p:spPr>
          <a:xfrm>
            <a:off x="640080" y="1874520"/>
            <a:ext cx="5989320" cy="960120"/>
          </a:xfrm>
          <a:prstGeom prst="roundRect">
            <a:avLst>
              <a:gd name="adj" fmla="val 4762"/>
            </a:avLst>
          </a:prstGeom>
          <a:solidFill>
            <a:srgbClr val="F3F6F7"/>
          </a:solidFill>
          <a:ln w="9525">
            <a:solidFill>
              <a:srgbClr val="F3F6F7"/>
            </a:solidFill>
            <a:prstDash val="solid"/>
          </a:ln>
        </p:spPr>
      </p:sp>
      <p:sp>
        <p:nvSpPr>
          <p:cNvPr id="9" name="Text 7"/>
          <p:cNvSpPr txBox="1"/>
          <p:nvPr/>
        </p:nvSpPr>
        <p:spPr>
          <a:xfrm>
            <a:off x="914400" y="2011680"/>
            <a:ext cx="5440680" cy="219456"/>
          </a:xfrm>
          <a:prstGeom prst="rect">
            <a:avLst/>
          </a:prstGeom>
          <a:noFill/>
          <a:ln/>
        </p:spPr>
        <p:txBody>
          <a:bodyPr wrap="square" lIns="0" tIns="0" rIns="0" bIns="0" rtlCol="0" anchor="ctr"/>
          <a:lstStyle/>
          <a:p>
            <a:pPr indent="0" marL="0">
              <a:buNone/>
            </a:pPr>
            <a:r>
              <a:rPr lang="en-US" sz="1050" b="1" spc="100" kern="0" dirty="0">
                <a:solidFill>
                  <a:srgbClr val="8497A0"/>
                </a:solidFill>
                <a:latin typeface="Meiryo" pitchFamily="34" charset="0"/>
                <a:ea typeface="Meiryo" pitchFamily="34" charset="-122"/>
                <a:cs typeface="Meiryo" pitchFamily="34" charset="-120"/>
              </a:rPr>
              <a:t>行内のデータ</a:t>
            </a:r>
            <a:endParaRPr lang="en-US" sz="1050" dirty="0"/>
          </a:p>
        </p:txBody>
      </p:sp>
      <p:sp>
        <p:nvSpPr>
          <p:cNvPr id="10" name="Text 8"/>
          <p:cNvSpPr txBox="1"/>
          <p:nvPr/>
        </p:nvSpPr>
        <p:spPr>
          <a:xfrm>
            <a:off x="914400" y="2276856"/>
            <a:ext cx="5440680" cy="530352"/>
          </a:xfrm>
          <a:prstGeom prst="rect">
            <a:avLst/>
          </a:prstGeom>
          <a:noFill/>
          <a:ln/>
        </p:spPr>
        <p:txBody>
          <a:bodyPr wrap="square" lIns="0" tIns="0" rIns="0" bIns="0" rtlCol="0" anchor="ctr"/>
          <a:lstStyle/>
          <a:p>
            <a:pPr indent="0" marL="0">
              <a:lnSpc>
                <a:spcPts val="1900"/>
              </a:lnSpc>
              <a:buNone/>
            </a:pPr>
            <a:r>
              <a:rPr lang="en-US" sz="1350" dirty="0">
                <a:solidFill>
                  <a:srgbClr val="1A2B33"/>
                </a:solidFill>
                <a:latin typeface="Meiryo" pitchFamily="34" charset="0"/>
                <a:ea typeface="Meiryo" pitchFamily="34" charset="-122"/>
                <a:cs typeface="Meiryo" pitchFamily="34" charset="-120"/>
              </a:rPr>
              <a:t>項目が多く、見たい条件でまとめて取り出す手段がない</a:t>
            </a:r>
            <a:endParaRPr lang="en-US" sz="1350" dirty="0"/>
          </a:p>
        </p:txBody>
      </p:sp>
      <p:sp>
        <p:nvSpPr>
          <p:cNvPr id="11" name="Shape 9"/>
          <p:cNvSpPr/>
          <p:nvPr/>
        </p:nvSpPr>
        <p:spPr>
          <a:xfrm>
            <a:off x="1143000" y="2862072"/>
            <a:ext cx="219456" cy="237744"/>
          </a:xfrm>
          <a:prstGeom prst="downArrow">
            <a:avLst/>
          </a:prstGeom>
          <a:solidFill>
            <a:srgbClr val="C2CFD3"/>
          </a:solidFill>
          <a:ln w="12700">
            <a:solidFill>
              <a:srgbClr val="C2CFD3"/>
            </a:solidFill>
            <a:prstDash val="solid"/>
          </a:ln>
        </p:spPr>
      </p:sp>
      <p:sp>
        <p:nvSpPr>
          <p:cNvPr id="12" name="Shape 10"/>
          <p:cNvSpPr/>
          <p:nvPr/>
        </p:nvSpPr>
        <p:spPr>
          <a:xfrm>
            <a:off x="640080" y="3090672"/>
            <a:ext cx="5989320" cy="960120"/>
          </a:xfrm>
          <a:prstGeom prst="roundRect">
            <a:avLst>
              <a:gd name="adj" fmla="val 4762"/>
            </a:avLst>
          </a:prstGeom>
          <a:solidFill>
            <a:srgbClr val="F3F6F7"/>
          </a:solidFill>
          <a:ln w="9525">
            <a:solidFill>
              <a:srgbClr val="F3F6F7"/>
            </a:solidFill>
            <a:prstDash val="solid"/>
          </a:ln>
        </p:spPr>
      </p:sp>
      <p:sp>
        <p:nvSpPr>
          <p:cNvPr id="13" name="Text 11"/>
          <p:cNvSpPr txBox="1"/>
          <p:nvPr/>
        </p:nvSpPr>
        <p:spPr>
          <a:xfrm>
            <a:off x="914400" y="3227832"/>
            <a:ext cx="5440680" cy="219456"/>
          </a:xfrm>
          <a:prstGeom prst="rect">
            <a:avLst/>
          </a:prstGeom>
          <a:noFill/>
          <a:ln/>
        </p:spPr>
        <p:txBody>
          <a:bodyPr wrap="square" lIns="0" tIns="0" rIns="0" bIns="0" rtlCol="0" anchor="ctr"/>
          <a:lstStyle/>
          <a:p>
            <a:pPr indent="0" marL="0">
              <a:buNone/>
            </a:pPr>
            <a:r>
              <a:rPr lang="en-US" sz="1050" b="1" spc="100" kern="0" dirty="0">
                <a:solidFill>
                  <a:srgbClr val="8497A0"/>
                </a:solidFill>
                <a:latin typeface="Meiryo" pitchFamily="34" charset="0"/>
                <a:ea typeface="Meiryo" pitchFamily="34" charset="-122"/>
                <a:cs typeface="Meiryo" pitchFamily="34" charset="-120"/>
              </a:rPr>
              <a:t>DYNATREK</a:t>
            </a:r>
            <a:endParaRPr lang="en-US" sz="1050" dirty="0"/>
          </a:p>
        </p:txBody>
      </p:sp>
      <p:sp>
        <p:nvSpPr>
          <p:cNvPr id="14" name="Text 12"/>
          <p:cNvSpPr txBox="1"/>
          <p:nvPr/>
        </p:nvSpPr>
        <p:spPr>
          <a:xfrm>
            <a:off x="914400" y="3493008"/>
            <a:ext cx="5440680" cy="530352"/>
          </a:xfrm>
          <a:prstGeom prst="rect">
            <a:avLst/>
          </a:prstGeom>
          <a:noFill/>
          <a:ln/>
        </p:spPr>
        <p:txBody>
          <a:bodyPr wrap="square" lIns="0" tIns="0" rIns="0" bIns="0" rtlCol="0" anchor="ctr"/>
          <a:lstStyle/>
          <a:p>
            <a:pPr indent="0" marL="0">
              <a:lnSpc>
                <a:spcPts val="1900"/>
              </a:lnSpc>
              <a:buNone/>
            </a:pPr>
            <a:r>
              <a:rPr lang="en-US" sz="1350" dirty="0">
                <a:solidFill>
                  <a:srgbClr val="1A2B33"/>
                </a:solidFill>
                <a:latin typeface="Meiryo" pitchFamily="34" charset="0"/>
                <a:ea typeface="Meiryo" pitchFamily="34" charset="-122"/>
                <a:cs typeface="Meiryo" pitchFamily="34" charset="-120"/>
              </a:rPr>
              <a:t>条件を指定して、必要なデータを集計・表示できるツール</a:t>
            </a:r>
            <a:endParaRPr lang="en-US" sz="1350" dirty="0"/>
          </a:p>
        </p:txBody>
      </p:sp>
      <p:sp>
        <p:nvSpPr>
          <p:cNvPr id="15" name="Shape 13"/>
          <p:cNvSpPr/>
          <p:nvPr/>
        </p:nvSpPr>
        <p:spPr>
          <a:xfrm>
            <a:off x="1143000" y="4078224"/>
            <a:ext cx="219456" cy="237744"/>
          </a:xfrm>
          <a:prstGeom prst="downArrow">
            <a:avLst/>
          </a:prstGeom>
          <a:solidFill>
            <a:srgbClr val="C2CFD3"/>
          </a:solidFill>
          <a:ln w="12700">
            <a:solidFill>
              <a:srgbClr val="C2CFD3"/>
            </a:solidFill>
            <a:prstDash val="solid"/>
          </a:ln>
        </p:spPr>
      </p:sp>
      <p:sp>
        <p:nvSpPr>
          <p:cNvPr id="16" name="Shape 14"/>
          <p:cNvSpPr/>
          <p:nvPr/>
        </p:nvSpPr>
        <p:spPr>
          <a:xfrm>
            <a:off x="640080" y="4306824"/>
            <a:ext cx="5989320" cy="960120"/>
          </a:xfrm>
          <a:prstGeom prst="roundRect">
            <a:avLst>
              <a:gd name="adj" fmla="val 4762"/>
            </a:avLst>
          </a:prstGeom>
          <a:solidFill>
            <a:srgbClr val="E2EEF0"/>
          </a:solidFill>
          <a:ln w="9525">
            <a:solidFill>
              <a:srgbClr val="E2EEF0"/>
            </a:solidFill>
            <a:prstDash val="solid"/>
          </a:ln>
        </p:spPr>
      </p:sp>
      <p:sp>
        <p:nvSpPr>
          <p:cNvPr id="17" name="Text 15"/>
          <p:cNvSpPr txBox="1"/>
          <p:nvPr/>
        </p:nvSpPr>
        <p:spPr>
          <a:xfrm>
            <a:off x="914400" y="4443984"/>
            <a:ext cx="5440680" cy="219456"/>
          </a:xfrm>
          <a:prstGeom prst="rect">
            <a:avLst/>
          </a:prstGeom>
          <a:noFill/>
          <a:ln/>
        </p:spPr>
        <p:txBody>
          <a:bodyPr wrap="square" lIns="0" tIns="0" rIns="0" bIns="0" rtlCol="0" anchor="ctr"/>
          <a:lstStyle/>
          <a:p>
            <a:pPr indent="0" marL="0">
              <a:buNone/>
            </a:pPr>
            <a:r>
              <a:rPr lang="en-US" sz="1050" b="1" spc="100" kern="0" dirty="0">
                <a:solidFill>
                  <a:srgbClr val="0F5A6B"/>
                </a:solidFill>
                <a:latin typeface="Meiryo" pitchFamily="34" charset="0"/>
                <a:ea typeface="Meiryo" pitchFamily="34" charset="-122"/>
                <a:cs typeface="Meiryo" pitchFamily="34" charset="-120"/>
              </a:rPr>
              <a:t>今回の想定</a:t>
            </a:r>
            <a:endParaRPr lang="en-US" sz="1050" dirty="0"/>
          </a:p>
        </p:txBody>
      </p:sp>
      <p:sp>
        <p:nvSpPr>
          <p:cNvPr id="18" name="Text 16"/>
          <p:cNvSpPr txBox="1"/>
          <p:nvPr/>
        </p:nvSpPr>
        <p:spPr>
          <a:xfrm>
            <a:off x="914400" y="4709160"/>
            <a:ext cx="5440680" cy="530352"/>
          </a:xfrm>
          <a:prstGeom prst="rect">
            <a:avLst/>
          </a:prstGeom>
          <a:noFill/>
          <a:ln/>
        </p:spPr>
        <p:txBody>
          <a:bodyPr wrap="square" lIns="0" tIns="0" rIns="0" bIns="0" rtlCol="0" anchor="ctr"/>
          <a:lstStyle/>
          <a:p>
            <a:pPr indent="0" marL="0">
              <a:lnSpc>
                <a:spcPts val="1900"/>
              </a:lnSpc>
              <a:buNone/>
            </a:pPr>
            <a:r>
              <a:rPr lang="en-US" sz="1350" b="1" dirty="0">
                <a:solidFill>
                  <a:srgbClr val="0F5A6B"/>
                </a:solidFill>
                <a:latin typeface="Meiryo" pitchFamily="34" charset="0"/>
                <a:ea typeface="Meiryo" pitchFamily="34" charset="-122"/>
                <a:cs typeface="Meiryo" pitchFamily="34" charset="-120"/>
              </a:rPr>
              <a:t>例えば「預金の増減を知りたい」という問いに、どこまで答えられるか</a:t>
            </a:r>
            <a:endParaRPr lang="en-US" sz="1350" dirty="0"/>
          </a:p>
        </p:txBody>
      </p:sp>
      <p:sp>
        <p:nvSpPr>
          <p:cNvPr id="19" name="Shape 17"/>
          <p:cNvSpPr/>
          <p:nvPr/>
        </p:nvSpPr>
        <p:spPr>
          <a:xfrm>
            <a:off x="6967728" y="1874520"/>
            <a:ext cx="4581144" cy="3392424"/>
          </a:xfrm>
          <a:prstGeom prst="roundRect">
            <a:avLst>
              <a:gd name="adj" fmla="val 1348"/>
            </a:avLst>
          </a:prstGeom>
          <a:solidFill>
            <a:srgbClr val="FFFFFF"/>
          </a:solidFill>
          <a:ln w="15875">
            <a:solidFill>
              <a:srgbClr val="D9A97F"/>
            </a:solidFill>
            <a:prstDash val="solid"/>
          </a:ln>
        </p:spPr>
      </p:sp>
      <p:sp>
        <p:nvSpPr>
          <p:cNvPr id="20" name="Text 18"/>
          <p:cNvSpPr txBox="1"/>
          <p:nvPr/>
        </p:nvSpPr>
        <p:spPr>
          <a:xfrm>
            <a:off x="7333488" y="2240280"/>
            <a:ext cx="3849624" cy="1600200"/>
          </a:xfrm>
          <a:prstGeom prst="rect">
            <a:avLst/>
          </a:prstGeom>
          <a:noFill/>
          <a:ln/>
        </p:spPr>
        <p:txBody>
          <a:bodyPr wrap="square" lIns="0" tIns="0" rIns="0" bIns="0" rtlCol="0" anchor="ctr"/>
          <a:lstStyle/>
          <a:p>
            <a:pPr indent="0" marL="0">
              <a:lnSpc>
                <a:spcPts val="3800"/>
              </a:lnSpc>
              <a:buNone/>
            </a:pPr>
            <a:r>
              <a:rPr lang="en-US" sz="2300" b="1" dirty="0">
                <a:solidFill>
                  <a:srgbClr val="B4551F"/>
                </a:solidFill>
                <a:latin typeface="Meiryo" pitchFamily="34" charset="0"/>
                <a:ea typeface="Meiryo" pitchFamily="34" charset="-122"/>
                <a:cs typeface="Meiryo" pitchFamily="34" charset="-120"/>
              </a:rPr>
              <a:t>では、実際に</a:t>
            </a:r>
            <a:endParaRPr lang="en-US" sz="2300" dirty="0"/>
          </a:p>
          <a:p>
            <a:pPr indent="0" marL="0">
              <a:lnSpc>
                <a:spcPts val="3800"/>
              </a:lnSpc>
              <a:buNone/>
            </a:pPr>
            <a:r>
              <a:rPr lang="en-US" sz="2300" b="1" dirty="0">
                <a:solidFill>
                  <a:srgbClr val="B4551F"/>
                </a:solidFill>
                <a:latin typeface="Meiryo" pitchFamily="34" charset="0"/>
                <a:ea typeface="Meiryo" pitchFamily="34" charset="-122"/>
                <a:cs typeface="Meiryo" pitchFamily="34" charset="-120"/>
              </a:rPr>
              <a:t>どこまで</a:t>
            </a:r>
            <a:endParaRPr lang="en-US" sz="2300" dirty="0"/>
          </a:p>
          <a:p>
            <a:pPr indent="0" marL="0">
              <a:lnSpc>
                <a:spcPts val="3800"/>
              </a:lnSpc>
              <a:buNone/>
            </a:pPr>
            <a:r>
              <a:rPr lang="en-US" sz="2300" b="1" dirty="0">
                <a:solidFill>
                  <a:srgbClr val="B4551F"/>
                </a:solidFill>
                <a:latin typeface="Meiryo" pitchFamily="34" charset="0"/>
                <a:ea typeface="Meiryo" pitchFamily="34" charset="-122"/>
                <a:cs typeface="Meiryo" pitchFamily="34" charset="-120"/>
              </a:rPr>
              <a:t>分かるのか</a:t>
            </a:r>
            <a:endParaRPr lang="en-US" sz="2300" dirty="0"/>
          </a:p>
        </p:txBody>
      </p:sp>
      <p:sp>
        <p:nvSpPr>
          <p:cNvPr id="21" name="Shape 19"/>
          <p:cNvSpPr/>
          <p:nvPr/>
        </p:nvSpPr>
        <p:spPr>
          <a:xfrm>
            <a:off x="7333488" y="3950208"/>
            <a:ext cx="3849624" cy="10973"/>
          </a:xfrm>
          <a:prstGeom prst="rect">
            <a:avLst/>
          </a:prstGeom>
          <a:solidFill>
            <a:srgbClr val="E2CDB9"/>
          </a:solidFill>
          <a:ln w="12700">
            <a:solidFill>
              <a:srgbClr val="E2CDB9"/>
            </a:solidFill>
            <a:prstDash val="solid"/>
          </a:ln>
        </p:spPr>
      </p:sp>
      <p:sp>
        <p:nvSpPr>
          <p:cNvPr id="22" name="Text 20"/>
          <p:cNvSpPr txBox="1"/>
          <p:nvPr/>
        </p:nvSpPr>
        <p:spPr>
          <a:xfrm>
            <a:off x="7333488" y="4224528"/>
            <a:ext cx="3849624" cy="731520"/>
          </a:xfrm>
          <a:prstGeom prst="rect">
            <a:avLst/>
          </a:prstGeom>
          <a:noFill/>
          <a:ln/>
        </p:spPr>
        <p:txBody>
          <a:bodyPr wrap="square" lIns="0" tIns="0" rIns="0" bIns="0" rtlCol="0" anchor="ctr"/>
          <a:lstStyle/>
          <a:p>
            <a:pPr indent="0" marL="0">
              <a:lnSpc>
                <a:spcPts val="2400"/>
              </a:lnSpc>
              <a:buNone/>
            </a:pPr>
            <a:r>
              <a:rPr lang="en-US" sz="1400" dirty="0">
                <a:solidFill>
                  <a:srgbClr val="1A2B33"/>
                </a:solidFill>
                <a:latin typeface="Meiryo" pitchFamily="34" charset="0"/>
                <a:ea typeface="Meiryo" pitchFamily="34" charset="-122"/>
                <a:cs typeface="Meiryo" pitchFamily="34" charset="-120"/>
              </a:rPr>
              <a:t>本発表は、</a:t>
            </a:r>
            <a:endParaRPr lang="en-US" sz="1400" dirty="0"/>
          </a:p>
          <a:p>
            <a:pPr indent="0" marL="0">
              <a:lnSpc>
                <a:spcPts val="2400"/>
              </a:lnSpc>
              <a:buNone/>
            </a:pPr>
            <a:r>
              <a:rPr lang="en-US" sz="1400" dirty="0">
                <a:solidFill>
                  <a:srgbClr val="1A2B33"/>
                </a:solidFill>
                <a:latin typeface="Meiryo" pitchFamily="34" charset="0"/>
                <a:ea typeface="Meiryo" pitchFamily="34" charset="-122"/>
                <a:cs typeface="Meiryo" pitchFamily="34" charset="-120"/>
              </a:rPr>
              <a:t>その活用例の一つ</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02336" cy="402336"/>
          </a:xfrm>
          <a:prstGeom prst="ellipse">
            <a:avLst/>
          </a:prstGeom>
          <a:solidFill>
            <a:srgbClr val="0F5A6B"/>
          </a:solidFill>
          <a:ln w="12700">
            <a:solidFill>
              <a:srgbClr val="0F5A6B"/>
            </a:solidFill>
            <a:prstDash val="solid"/>
          </a:ln>
        </p:spPr>
      </p:sp>
      <p:sp>
        <p:nvSpPr>
          <p:cNvPr id="3" name="Text 1"/>
          <p:cNvSpPr txBox="1"/>
          <p:nvPr/>
        </p:nvSpPr>
        <p:spPr>
          <a:xfrm>
            <a:off x="640080" y="56692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02</a:t>
            </a:r>
            <a:endParaRPr lang="en-US" sz="1150" dirty="0"/>
          </a:p>
        </p:txBody>
      </p:sp>
      <p:sp>
        <p:nvSpPr>
          <p:cNvPr id="4" name="Text 2"/>
          <p:cNvSpPr txBox="1"/>
          <p:nvPr/>
        </p:nvSpPr>
        <p:spPr>
          <a:xfrm>
            <a:off x="1225296" y="402336"/>
            <a:ext cx="6400800" cy="228600"/>
          </a:xfrm>
          <a:prstGeom prst="rect">
            <a:avLst/>
          </a:prstGeom>
          <a:noFill/>
          <a:ln/>
        </p:spPr>
        <p:txBody>
          <a:bodyPr wrap="square" lIns="0" tIns="0" rIns="0" bIns="0" rtlCol="0" anchor="ctr"/>
          <a:lstStyle/>
          <a:p>
            <a:pPr indent="0" marL="0">
              <a:buNone/>
            </a:pPr>
            <a:r>
              <a:rPr lang="en-US" sz="1050" b="1" spc="150" kern="0" dirty="0">
                <a:solidFill>
                  <a:srgbClr val="0F5A6B"/>
                </a:solidFill>
                <a:latin typeface="Meiryo" pitchFamily="34" charset="0"/>
                <a:ea typeface="Meiryo" pitchFamily="34" charset="-122"/>
                <a:cs typeface="Meiryo" pitchFamily="34" charset="-120"/>
              </a:rPr>
              <a:t>背 景</a:t>
            </a:r>
            <a:endParaRPr lang="en-US" sz="1050" dirty="0"/>
          </a:p>
        </p:txBody>
      </p:sp>
      <p:sp>
        <p:nvSpPr>
          <p:cNvPr id="5" name="Text 3"/>
          <p:cNvSpPr txBox="1"/>
          <p:nvPr/>
        </p:nvSpPr>
        <p:spPr>
          <a:xfrm>
            <a:off x="1225296" y="603504"/>
            <a:ext cx="10326319" cy="548640"/>
          </a:xfrm>
          <a:prstGeom prst="rect">
            <a:avLst/>
          </a:prstGeom>
          <a:noFill/>
          <a:ln/>
        </p:spPr>
        <p:txBody>
          <a:bodyPr wrap="square" lIns="0" tIns="0" rIns="0" bIns="0" rtlCol="0" anchor="ctr"/>
          <a:lstStyle/>
          <a:p>
            <a:pPr indent="0" marL="0">
              <a:buNone/>
            </a:pPr>
            <a:r>
              <a:rPr lang="en-US" sz="2600" b="1" dirty="0">
                <a:solidFill>
                  <a:srgbClr val="1A2B33"/>
                </a:solidFill>
                <a:latin typeface="Meiryo" pitchFamily="34" charset="0"/>
                <a:ea typeface="Meiryo" pitchFamily="34" charset="-122"/>
                <a:cs typeface="Meiryo" pitchFamily="34" charset="-120"/>
              </a:rPr>
              <a:t>非対面チャネルの利用拡大は、経営計画上の狙いでもある</a:t>
            </a:r>
            <a:endParaRPr lang="en-US" sz="2600" dirty="0"/>
          </a:p>
        </p:txBody>
      </p:sp>
      <p:sp>
        <p:nvSpPr>
          <p:cNvPr id="6" name="Text 4"/>
          <p:cNvSpPr txBox="1"/>
          <p:nvPr/>
        </p:nvSpPr>
        <p:spPr>
          <a:xfrm>
            <a:off x="1225296" y="1170432"/>
            <a:ext cx="10326319" cy="347472"/>
          </a:xfrm>
          <a:prstGeom prst="rect">
            <a:avLst/>
          </a:prstGeom>
          <a:noFill/>
          <a:ln/>
        </p:spPr>
        <p:txBody>
          <a:bodyPr wrap="square" lIns="0" tIns="0" rIns="0" bIns="0" rtlCol="0" anchor="ctr"/>
          <a:lstStyle/>
          <a:p>
            <a:pPr indent="0" marL="0">
              <a:buNone/>
            </a:pPr>
            <a:r>
              <a:rPr lang="en-US" sz="1250" dirty="0">
                <a:solidFill>
                  <a:srgbClr val="8497A0"/>
                </a:solidFill>
                <a:latin typeface="Meiryo" pitchFamily="34" charset="0"/>
                <a:ea typeface="Meiryo" pitchFamily="34" charset="-122"/>
                <a:cs typeface="Meiryo" pitchFamily="34" charset="-120"/>
              </a:rPr>
              <a:t>今回取り上げたのは非対面チャネルの利用状況。あいち銀行様が経営計画で掲げる方向と重なるテーマ</a:t>
            </a:r>
            <a:endParaRPr lang="en-US" sz="1250" dirty="0"/>
          </a:p>
        </p:txBody>
      </p:sp>
      <p:sp>
        <p:nvSpPr>
          <p:cNvPr id="7" name="Text 5"/>
          <p:cNvSpPr txBox="1"/>
          <p:nvPr/>
        </p:nvSpPr>
        <p:spPr>
          <a:xfrm>
            <a:off x="11130991" y="6217920"/>
            <a:ext cx="548640" cy="256032"/>
          </a:xfrm>
          <a:prstGeom prst="rect">
            <a:avLst/>
          </a:prstGeom>
          <a:noFill/>
          <a:ln/>
        </p:spPr>
        <p:txBody>
          <a:bodyPr wrap="square" lIns="0" tIns="0" rIns="0" bIns="0" rtlCol="0" anchor="ctr"/>
          <a:lstStyle/>
          <a:p>
            <a:pPr algn="r" indent="0" marL="0">
              <a:buNone/>
            </a:pPr>
            <a:r>
              <a:rPr lang="en-US" sz="1000" spc="100" kern="0" dirty="0">
                <a:solidFill>
                  <a:srgbClr val="8497A0"/>
                </a:solidFill>
                <a:latin typeface="Meiryo" pitchFamily="34" charset="0"/>
                <a:ea typeface="Meiryo" pitchFamily="34" charset="-122"/>
                <a:cs typeface="Meiryo" pitchFamily="34" charset="-120"/>
              </a:rPr>
              <a:t>02</a:t>
            </a:r>
            <a:endParaRPr lang="en-US" sz="1000" dirty="0"/>
          </a:p>
        </p:txBody>
      </p:sp>
      <p:sp>
        <p:nvSpPr>
          <p:cNvPr id="8" name="Shape 6"/>
          <p:cNvSpPr/>
          <p:nvPr/>
        </p:nvSpPr>
        <p:spPr>
          <a:xfrm>
            <a:off x="640080" y="1874520"/>
            <a:ext cx="6309360" cy="777240"/>
          </a:xfrm>
          <a:prstGeom prst="roundRect">
            <a:avLst>
              <a:gd name="adj" fmla="val 5882"/>
            </a:avLst>
          </a:prstGeom>
          <a:solidFill>
            <a:srgbClr val="F3F6F7"/>
          </a:solidFill>
          <a:ln w="9525">
            <a:solidFill>
              <a:srgbClr val="F3F6F7"/>
            </a:solidFill>
            <a:prstDash val="solid"/>
          </a:ln>
        </p:spPr>
      </p:sp>
      <p:sp>
        <p:nvSpPr>
          <p:cNvPr id="9" name="Text 7"/>
          <p:cNvSpPr txBox="1"/>
          <p:nvPr/>
        </p:nvSpPr>
        <p:spPr>
          <a:xfrm>
            <a:off x="896112" y="1993392"/>
            <a:ext cx="1463040" cy="219456"/>
          </a:xfrm>
          <a:prstGeom prst="rect">
            <a:avLst/>
          </a:prstGeom>
          <a:noFill/>
          <a:ln/>
        </p:spPr>
        <p:txBody>
          <a:bodyPr wrap="square" lIns="0" tIns="0" rIns="0" bIns="0" rtlCol="0" anchor="ctr"/>
          <a:lstStyle/>
          <a:p>
            <a:pPr indent="0" marL="0">
              <a:buNone/>
            </a:pPr>
            <a:r>
              <a:rPr lang="en-US" sz="1000" b="1" spc="100" kern="0" dirty="0">
                <a:solidFill>
                  <a:srgbClr val="8497A0"/>
                </a:solidFill>
                <a:latin typeface="Meiryo" pitchFamily="34" charset="0"/>
                <a:ea typeface="Meiryo" pitchFamily="34" charset="-122"/>
                <a:cs typeface="Meiryo" pitchFamily="34" charset="-120"/>
              </a:rPr>
              <a:t>計 画</a:t>
            </a:r>
            <a:endParaRPr lang="en-US" sz="1000" dirty="0"/>
          </a:p>
        </p:txBody>
      </p:sp>
      <p:sp>
        <p:nvSpPr>
          <p:cNvPr id="10" name="Text 8"/>
          <p:cNvSpPr txBox="1"/>
          <p:nvPr/>
        </p:nvSpPr>
        <p:spPr>
          <a:xfrm>
            <a:off x="896112" y="2240280"/>
            <a:ext cx="5797296" cy="310896"/>
          </a:xfrm>
          <a:prstGeom prst="rect">
            <a:avLst/>
          </a:prstGeom>
          <a:noFill/>
          <a:ln/>
        </p:spPr>
        <p:txBody>
          <a:bodyPr wrap="square" lIns="0" tIns="0" rIns="0" bIns="0" rtlCol="0" anchor="ctr"/>
          <a:lstStyle/>
          <a:p>
            <a:pPr indent="0" marL="0">
              <a:buNone/>
            </a:pPr>
            <a:r>
              <a:rPr lang="en-US" sz="1300" dirty="0">
                <a:solidFill>
                  <a:srgbClr val="1A2B33"/>
                </a:solidFill>
                <a:latin typeface="Meiryo" pitchFamily="34" charset="0"/>
                <a:ea typeface="Meiryo" pitchFamily="34" charset="-122"/>
                <a:cs typeface="Meiryo" pitchFamily="34" charset="-120"/>
              </a:rPr>
              <a:t>あいちフィナンシャルグループ　第2次中期経営計画（2025年4月〜2028年3月）</a:t>
            </a:r>
            <a:endParaRPr lang="en-US" sz="1300" dirty="0"/>
          </a:p>
        </p:txBody>
      </p:sp>
      <p:sp>
        <p:nvSpPr>
          <p:cNvPr id="11" name="Shape 9"/>
          <p:cNvSpPr/>
          <p:nvPr/>
        </p:nvSpPr>
        <p:spPr>
          <a:xfrm>
            <a:off x="1097280" y="2679192"/>
            <a:ext cx="219456" cy="182880"/>
          </a:xfrm>
          <a:prstGeom prst="downArrow">
            <a:avLst/>
          </a:prstGeom>
          <a:solidFill>
            <a:srgbClr val="C2CFD3"/>
          </a:solidFill>
          <a:ln w="12700">
            <a:solidFill>
              <a:srgbClr val="C2CFD3"/>
            </a:solidFill>
            <a:prstDash val="solid"/>
          </a:ln>
        </p:spPr>
      </p:sp>
      <p:sp>
        <p:nvSpPr>
          <p:cNvPr id="12" name="Shape 10"/>
          <p:cNvSpPr/>
          <p:nvPr/>
        </p:nvSpPr>
        <p:spPr>
          <a:xfrm>
            <a:off x="960120" y="2834640"/>
            <a:ext cx="5989320" cy="777240"/>
          </a:xfrm>
          <a:prstGeom prst="roundRect">
            <a:avLst>
              <a:gd name="adj" fmla="val 5882"/>
            </a:avLst>
          </a:prstGeom>
          <a:solidFill>
            <a:srgbClr val="F3F6F7"/>
          </a:solidFill>
          <a:ln w="9525">
            <a:solidFill>
              <a:srgbClr val="F3F6F7"/>
            </a:solidFill>
            <a:prstDash val="solid"/>
          </a:ln>
        </p:spPr>
      </p:sp>
      <p:sp>
        <p:nvSpPr>
          <p:cNvPr id="13" name="Text 11"/>
          <p:cNvSpPr txBox="1"/>
          <p:nvPr/>
        </p:nvSpPr>
        <p:spPr>
          <a:xfrm>
            <a:off x="1216152" y="2953512"/>
            <a:ext cx="1463040" cy="219456"/>
          </a:xfrm>
          <a:prstGeom prst="rect">
            <a:avLst/>
          </a:prstGeom>
          <a:noFill/>
          <a:ln/>
        </p:spPr>
        <p:txBody>
          <a:bodyPr wrap="square" lIns="0" tIns="0" rIns="0" bIns="0" rtlCol="0" anchor="ctr"/>
          <a:lstStyle/>
          <a:p>
            <a:pPr indent="0" marL="0">
              <a:buNone/>
            </a:pPr>
            <a:r>
              <a:rPr lang="en-US" sz="1000" b="1" spc="100" kern="0" dirty="0">
                <a:solidFill>
                  <a:srgbClr val="8497A0"/>
                </a:solidFill>
                <a:latin typeface="Meiryo" pitchFamily="34" charset="0"/>
                <a:ea typeface="Meiryo" pitchFamily="34" charset="-122"/>
                <a:cs typeface="Meiryo" pitchFamily="34" charset="-120"/>
              </a:rPr>
              <a:t>基本戦略</a:t>
            </a:r>
            <a:endParaRPr lang="en-US" sz="1000" dirty="0"/>
          </a:p>
        </p:txBody>
      </p:sp>
      <p:sp>
        <p:nvSpPr>
          <p:cNvPr id="14" name="Text 12"/>
          <p:cNvSpPr txBox="1"/>
          <p:nvPr/>
        </p:nvSpPr>
        <p:spPr>
          <a:xfrm>
            <a:off x="1216152" y="3200400"/>
            <a:ext cx="5477256" cy="310896"/>
          </a:xfrm>
          <a:prstGeom prst="rect">
            <a:avLst/>
          </a:prstGeom>
          <a:noFill/>
          <a:ln/>
        </p:spPr>
        <p:txBody>
          <a:bodyPr wrap="square" lIns="0" tIns="0" rIns="0" bIns="0" rtlCol="0" anchor="ctr"/>
          <a:lstStyle/>
          <a:p>
            <a:pPr indent="0" marL="0">
              <a:buNone/>
            </a:pPr>
            <a:r>
              <a:rPr lang="en-US" sz="1300" dirty="0">
                <a:solidFill>
                  <a:srgbClr val="1A2B33"/>
                </a:solidFill>
                <a:latin typeface="Meiryo" pitchFamily="34" charset="0"/>
                <a:ea typeface="Meiryo" pitchFamily="34" charset="-122"/>
                <a:cs typeface="Meiryo" pitchFamily="34" charset="-120"/>
              </a:rPr>
              <a:t>Ⅲ「DX戦略の加速化」</a:t>
            </a:r>
            <a:endParaRPr lang="en-US" sz="1300" dirty="0"/>
          </a:p>
        </p:txBody>
      </p:sp>
      <p:sp>
        <p:nvSpPr>
          <p:cNvPr id="15" name="Shape 13"/>
          <p:cNvSpPr/>
          <p:nvPr/>
        </p:nvSpPr>
        <p:spPr>
          <a:xfrm>
            <a:off x="1417320" y="3639312"/>
            <a:ext cx="219456" cy="182880"/>
          </a:xfrm>
          <a:prstGeom prst="downArrow">
            <a:avLst/>
          </a:prstGeom>
          <a:solidFill>
            <a:srgbClr val="C2CFD3"/>
          </a:solidFill>
          <a:ln w="12700">
            <a:solidFill>
              <a:srgbClr val="C2CFD3"/>
            </a:solidFill>
            <a:prstDash val="solid"/>
          </a:ln>
        </p:spPr>
      </p:sp>
      <p:sp>
        <p:nvSpPr>
          <p:cNvPr id="16" name="Shape 14"/>
          <p:cNvSpPr/>
          <p:nvPr/>
        </p:nvSpPr>
        <p:spPr>
          <a:xfrm>
            <a:off x="1280160" y="3794760"/>
            <a:ext cx="5669280" cy="777240"/>
          </a:xfrm>
          <a:prstGeom prst="roundRect">
            <a:avLst>
              <a:gd name="adj" fmla="val 5882"/>
            </a:avLst>
          </a:prstGeom>
          <a:solidFill>
            <a:srgbClr val="F8EBE1"/>
          </a:solidFill>
          <a:ln w="15875">
            <a:solidFill>
              <a:srgbClr val="D9A97F"/>
            </a:solidFill>
            <a:prstDash val="solid"/>
          </a:ln>
        </p:spPr>
      </p:sp>
      <p:sp>
        <p:nvSpPr>
          <p:cNvPr id="17" name="Text 15"/>
          <p:cNvSpPr txBox="1"/>
          <p:nvPr/>
        </p:nvSpPr>
        <p:spPr>
          <a:xfrm>
            <a:off x="1536192" y="3913632"/>
            <a:ext cx="1463040" cy="219456"/>
          </a:xfrm>
          <a:prstGeom prst="rect">
            <a:avLst/>
          </a:prstGeom>
          <a:noFill/>
          <a:ln/>
        </p:spPr>
        <p:txBody>
          <a:bodyPr wrap="square" lIns="0" tIns="0" rIns="0" bIns="0" rtlCol="0" anchor="ctr"/>
          <a:lstStyle/>
          <a:p>
            <a:pPr indent="0" marL="0">
              <a:buNone/>
            </a:pPr>
            <a:r>
              <a:rPr lang="en-US" sz="1000" b="1" spc="100" kern="0" dirty="0">
                <a:solidFill>
                  <a:srgbClr val="B4551F"/>
                </a:solidFill>
                <a:latin typeface="Meiryo" pitchFamily="34" charset="0"/>
                <a:ea typeface="Meiryo" pitchFamily="34" charset="-122"/>
                <a:cs typeface="Meiryo" pitchFamily="34" charset="-120"/>
              </a:rPr>
              <a:t>重点施策</a:t>
            </a:r>
            <a:endParaRPr lang="en-US" sz="1000" dirty="0"/>
          </a:p>
        </p:txBody>
      </p:sp>
      <p:sp>
        <p:nvSpPr>
          <p:cNvPr id="18" name="Text 16"/>
          <p:cNvSpPr txBox="1"/>
          <p:nvPr/>
        </p:nvSpPr>
        <p:spPr>
          <a:xfrm>
            <a:off x="1536192" y="4160520"/>
            <a:ext cx="5157216" cy="310896"/>
          </a:xfrm>
          <a:prstGeom prst="rect">
            <a:avLst/>
          </a:prstGeom>
          <a:noFill/>
          <a:ln/>
        </p:spPr>
        <p:txBody>
          <a:bodyPr wrap="square" lIns="0" tIns="0" rIns="0" bIns="0" rtlCol="0" anchor="ctr"/>
          <a:lstStyle/>
          <a:p>
            <a:pPr indent="0" marL="0">
              <a:buNone/>
            </a:pPr>
            <a:r>
              <a:rPr lang="en-US" sz="1300" b="1" dirty="0">
                <a:solidFill>
                  <a:srgbClr val="B4551F"/>
                </a:solidFill>
                <a:latin typeface="Meiryo" pitchFamily="34" charset="0"/>
                <a:ea typeface="Meiryo" pitchFamily="34" charset="-122"/>
                <a:cs typeface="Meiryo" pitchFamily="34" charset="-120"/>
              </a:rPr>
              <a:t>⑦　〔　計画本文の表現を記入　〕</a:t>
            </a:r>
            <a:endParaRPr lang="en-US" sz="1300" dirty="0"/>
          </a:p>
        </p:txBody>
      </p:sp>
      <p:sp>
        <p:nvSpPr>
          <p:cNvPr id="19" name="Text 17"/>
          <p:cNvSpPr txBox="1"/>
          <p:nvPr/>
        </p:nvSpPr>
        <p:spPr>
          <a:xfrm>
            <a:off x="1280160" y="4626864"/>
            <a:ext cx="5669280" cy="292608"/>
          </a:xfrm>
          <a:prstGeom prst="rect">
            <a:avLst/>
          </a:prstGeom>
          <a:noFill/>
          <a:ln/>
        </p:spPr>
        <p:txBody>
          <a:bodyPr wrap="square" lIns="0" tIns="0" rIns="0" bIns="0" rtlCol="0" anchor="ctr"/>
          <a:lstStyle/>
          <a:p>
            <a:pPr indent="0" marL="0">
              <a:buNone/>
            </a:pPr>
            <a:r>
              <a:rPr lang="en-US" sz="1200" dirty="0">
                <a:solidFill>
                  <a:srgbClr val="465A63"/>
                </a:solidFill>
                <a:latin typeface="Meiryo" pitchFamily="34" charset="0"/>
                <a:ea typeface="Meiryo" pitchFamily="34" charset="-122"/>
                <a:cs typeface="Meiryo" pitchFamily="34" charset="-120"/>
              </a:rPr>
              <a:t>非対面チャネル（バンキングアプリ、インターネット支店 など）の有効活用</a:t>
            </a:r>
            <a:endParaRPr lang="en-US" sz="1200" dirty="0"/>
          </a:p>
        </p:txBody>
      </p:sp>
      <p:sp>
        <p:nvSpPr>
          <p:cNvPr id="20" name="Shape 18"/>
          <p:cNvSpPr/>
          <p:nvPr/>
        </p:nvSpPr>
        <p:spPr>
          <a:xfrm>
            <a:off x="7269480" y="1874520"/>
            <a:ext cx="4279392" cy="2697480"/>
          </a:xfrm>
          <a:prstGeom prst="roundRect">
            <a:avLst>
              <a:gd name="adj" fmla="val 1695"/>
            </a:avLst>
          </a:prstGeom>
          <a:solidFill>
            <a:srgbClr val="F3F6F7"/>
          </a:solidFill>
          <a:ln w="9525">
            <a:solidFill>
              <a:srgbClr val="F3F6F7"/>
            </a:solidFill>
            <a:prstDash val="solid"/>
          </a:ln>
        </p:spPr>
      </p:sp>
      <p:sp>
        <p:nvSpPr>
          <p:cNvPr id="21" name="Text 19"/>
          <p:cNvSpPr txBox="1"/>
          <p:nvPr/>
        </p:nvSpPr>
        <p:spPr>
          <a:xfrm>
            <a:off x="7543800" y="2057400"/>
            <a:ext cx="3730752" cy="274320"/>
          </a:xfrm>
          <a:prstGeom prst="rect">
            <a:avLst/>
          </a:prstGeom>
          <a:noFill/>
          <a:ln/>
        </p:spPr>
        <p:txBody>
          <a:bodyPr wrap="square" lIns="0" tIns="0" rIns="0" bIns="0" rtlCol="0" anchor="ctr"/>
          <a:lstStyle/>
          <a:p>
            <a:pPr indent="0" marL="0">
              <a:buNone/>
            </a:pPr>
            <a:r>
              <a:rPr lang="en-US" sz="1250" b="1" spc="100" kern="0" dirty="0">
                <a:solidFill>
                  <a:srgbClr val="8497A0"/>
                </a:solidFill>
                <a:latin typeface="Meiryo" pitchFamily="34" charset="0"/>
                <a:ea typeface="Meiryo" pitchFamily="34" charset="-122"/>
                <a:cs typeface="Meiryo" pitchFamily="34" charset="-120"/>
              </a:rPr>
              <a:t>非対面チャネル</a:t>
            </a:r>
            <a:endParaRPr lang="en-US" sz="1250" dirty="0"/>
          </a:p>
        </p:txBody>
      </p:sp>
      <p:sp>
        <p:nvSpPr>
          <p:cNvPr id="22" name="Shape 20"/>
          <p:cNvSpPr/>
          <p:nvPr/>
        </p:nvSpPr>
        <p:spPr>
          <a:xfrm>
            <a:off x="7543800" y="2450592"/>
            <a:ext cx="3730752" cy="548640"/>
          </a:xfrm>
          <a:prstGeom prst="roundRect">
            <a:avLst>
              <a:gd name="adj" fmla="val 8333"/>
            </a:avLst>
          </a:prstGeom>
          <a:solidFill>
            <a:srgbClr val="FFFFFF"/>
          </a:solidFill>
          <a:ln w="12700">
            <a:solidFill>
              <a:srgbClr val="D8E0E3"/>
            </a:solidFill>
            <a:prstDash val="solid"/>
          </a:ln>
        </p:spPr>
      </p:sp>
      <p:sp>
        <p:nvSpPr>
          <p:cNvPr id="23" name="Text 21"/>
          <p:cNvSpPr txBox="1"/>
          <p:nvPr/>
        </p:nvSpPr>
        <p:spPr>
          <a:xfrm>
            <a:off x="7543800" y="2450592"/>
            <a:ext cx="3730752" cy="548640"/>
          </a:xfrm>
          <a:prstGeom prst="rect">
            <a:avLst/>
          </a:prstGeom>
          <a:noFill/>
          <a:ln/>
        </p:spPr>
        <p:txBody>
          <a:bodyPr wrap="square" lIns="0" tIns="0" rIns="0" bIns="0" rtlCol="0" anchor="ctr"/>
          <a:lstStyle/>
          <a:p>
            <a:pPr algn="ctr" indent="0" marL="0">
              <a:buNone/>
            </a:pPr>
            <a:r>
              <a:rPr lang="en-US" sz="1200" dirty="0">
                <a:solidFill>
                  <a:srgbClr val="465A63"/>
                </a:solidFill>
                <a:latin typeface="Meiryo" pitchFamily="34" charset="0"/>
                <a:ea typeface="Meiryo" pitchFamily="34" charset="-122"/>
                <a:cs typeface="Meiryo" pitchFamily="34" charset="-120"/>
              </a:rPr>
              <a:t>バンキングアプリ</a:t>
            </a:r>
            <a:endParaRPr lang="en-US" sz="1200" dirty="0"/>
          </a:p>
        </p:txBody>
      </p:sp>
      <p:sp>
        <p:nvSpPr>
          <p:cNvPr id="24" name="Shape 22"/>
          <p:cNvSpPr/>
          <p:nvPr/>
        </p:nvSpPr>
        <p:spPr>
          <a:xfrm>
            <a:off x="7543800" y="3108960"/>
            <a:ext cx="3730752" cy="548640"/>
          </a:xfrm>
          <a:prstGeom prst="roundRect">
            <a:avLst>
              <a:gd name="adj" fmla="val 8333"/>
            </a:avLst>
          </a:prstGeom>
          <a:solidFill>
            <a:srgbClr val="FFFFFF"/>
          </a:solidFill>
          <a:ln w="12700">
            <a:solidFill>
              <a:srgbClr val="D8E0E3"/>
            </a:solidFill>
            <a:prstDash val="solid"/>
          </a:ln>
        </p:spPr>
      </p:sp>
      <p:sp>
        <p:nvSpPr>
          <p:cNvPr id="25" name="Text 23"/>
          <p:cNvSpPr txBox="1"/>
          <p:nvPr/>
        </p:nvSpPr>
        <p:spPr>
          <a:xfrm>
            <a:off x="7543800" y="3108960"/>
            <a:ext cx="3730752" cy="548640"/>
          </a:xfrm>
          <a:prstGeom prst="rect">
            <a:avLst/>
          </a:prstGeom>
          <a:noFill/>
          <a:ln/>
        </p:spPr>
        <p:txBody>
          <a:bodyPr wrap="square" lIns="0" tIns="0" rIns="0" bIns="0" rtlCol="0" anchor="ctr"/>
          <a:lstStyle/>
          <a:p>
            <a:pPr algn="ctr" indent="0" marL="0">
              <a:buNone/>
            </a:pPr>
            <a:r>
              <a:rPr lang="en-US" sz="1200" dirty="0">
                <a:solidFill>
                  <a:srgbClr val="465A63"/>
                </a:solidFill>
                <a:latin typeface="Meiryo" pitchFamily="34" charset="0"/>
                <a:ea typeface="Meiryo" pitchFamily="34" charset="-122"/>
                <a:cs typeface="Meiryo" pitchFamily="34" charset="-120"/>
              </a:rPr>
              <a:t>インターネット支店</a:t>
            </a:r>
            <a:endParaRPr lang="en-US" sz="1200" dirty="0"/>
          </a:p>
        </p:txBody>
      </p:sp>
      <p:sp>
        <p:nvSpPr>
          <p:cNvPr id="26" name="Shape 24"/>
          <p:cNvSpPr/>
          <p:nvPr/>
        </p:nvSpPr>
        <p:spPr>
          <a:xfrm>
            <a:off x="7543800" y="3767328"/>
            <a:ext cx="3730752" cy="548640"/>
          </a:xfrm>
          <a:prstGeom prst="roundRect">
            <a:avLst>
              <a:gd name="adj" fmla="val 8333"/>
            </a:avLst>
          </a:prstGeom>
          <a:solidFill>
            <a:srgbClr val="0F5A6B"/>
          </a:solidFill>
          <a:ln w="12700">
            <a:solidFill>
              <a:srgbClr val="0F5A6B"/>
            </a:solidFill>
            <a:prstDash val="solid"/>
          </a:ln>
        </p:spPr>
      </p:sp>
      <p:sp>
        <p:nvSpPr>
          <p:cNvPr id="27" name="Text 25"/>
          <p:cNvSpPr txBox="1"/>
          <p:nvPr/>
        </p:nvSpPr>
        <p:spPr>
          <a:xfrm>
            <a:off x="7543800" y="3767328"/>
            <a:ext cx="3730752"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インターネットバンキング（IB）</a:t>
            </a:r>
            <a:endParaRPr lang="en-US" sz="1250" dirty="0"/>
          </a:p>
        </p:txBody>
      </p:sp>
      <p:sp>
        <p:nvSpPr>
          <p:cNvPr id="28" name="Text 26"/>
          <p:cNvSpPr txBox="1"/>
          <p:nvPr/>
        </p:nvSpPr>
        <p:spPr>
          <a:xfrm>
            <a:off x="7269480" y="4626864"/>
            <a:ext cx="4279392" cy="274320"/>
          </a:xfrm>
          <a:prstGeom prst="rect">
            <a:avLst/>
          </a:prstGeom>
          <a:noFill/>
          <a:ln/>
        </p:spPr>
        <p:txBody>
          <a:bodyPr wrap="square" lIns="0" tIns="0" rIns="0" bIns="0" rtlCol="0" anchor="ctr"/>
          <a:lstStyle/>
          <a:p>
            <a:pPr algn="ctr" indent="0" marL="0">
              <a:buNone/>
            </a:pPr>
            <a:r>
              <a:rPr lang="en-US" sz="1150" b="1" dirty="0">
                <a:solidFill>
                  <a:srgbClr val="0F5A6B"/>
                </a:solidFill>
                <a:latin typeface="Meiryo" pitchFamily="34" charset="0"/>
                <a:ea typeface="Meiryo" pitchFamily="34" charset="-122"/>
                <a:cs typeface="Meiryo" pitchFamily="34" charset="-120"/>
              </a:rPr>
              <a:t>↑　今回の分析対象</a:t>
            </a:r>
            <a:endParaRPr lang="en-US" sz="1150" dirty="0"/>
          </a:p>
        </p:txBody>
      </p:sp>
      <p:sp>
        <p:nvSpPr>
          <p:cNvPr id="29" name="Shape 27"/>
          <p:cNvSpPr/>
          <p:nvPr/>
        </p:nvSpPr>
        <p:spPr>
          <a:xfrm>
            <a:off x="640080" y="5230368"/>
            <a:ext cx="10911535" cy="658368"/>
          </a:xfrm>
          <a:prstGeom prst="roundRect">
            <a:avLst>
              <a:gd name="adj" fmla="val 6944"/>
            </a:avLst>
          </a:prstGeom>
          <a:solidFill>
            <a:srgbClr val="E2EEF0"/>
          </a:solidFill>
          <a:ln w="12700">
            <a:solidFill>
              <a:srgbClr val="E2EEF0"/>
            </a:solidFill>
            <a:prstDash val="solid"/>
          </a:ln>
        </p:spPr>
      </p:sp>
      <p:sp>
        <p:nvSpPr>
          <p:cNvPr id="30" name="Text 28"/>
          <p:cNvSpPr txBox="1"/>
          <p:nvPr/>
        </p:nvSpPr>
        <p:spPr>
          <a:xfrm>
            <a:off x="914400" y="5230368"/>
            <a:ext cx="10362895" cy="658368"/>
          </a:xfrm>
          <a:prstGeom prst="rect">
            <a:avLst/>
          </a:prstGeom>
          <a:noFill/>
          <a:ln/>
        </p:spPr>
        <p:txBody>
          <a:bodyPr wrap="square" lIns="0" tIns="0" rIns="0" bIns="0" rtlCol="0" anchor="ctr"/>
          <a:lstStyle/>
          <a:p>
            <a:pPr algn="ctr" indent="0" marL="0">
              <a:buNone/>
            </a:pPr>
            <a:r>
              <a:rPr lang="en-US" sz="1400" b="1" dirty="0">
                <a:solidFill>
                  <a:srgbClr val="0F5A6B"/>
                </a:solidFill>
                <a:latin typeface="Meiryo" pitchFamily="34" charset="0"/>
                <a:ea typeface="Meiryo" pitchFamily="34" charset="-122"/>
                <a:cs typeface="Meiryo" pitchFamily="34" charset="-120"/>
              </a:rPr>
              <a:t>非対面チャネルがどれだけ使われるようになったかは、計画の狙いがどこまで進んでいるかを示す手がかりになる</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02336" cy="402336"/>
          </a:xfrm>
          <a:prstGeom prst="ellipse">
            <a:avLst/>
          </a:prstGeom>
          <a:solidFill>
            <a:srgbClr val="0F5A6B"/>
          </a:solidFill>
          <a:ln w="12700">
            <a:solidFill>
              <a:srgbClr val="0F5A6B"/>
            </a:solidFill>
            <a:prstDash val="solid"/>
          </a:ln>
        </p:spPr>
      </p:sp>
      <p:sp>
        <p:nvSpPr>
          <p:cNvPr id="3" name="Text 1"/>
          <p:cNvSpPr txBox="1"/>
          <p:nvPr/>
        </p:nvSpPr>
        <p:spPr>
          <a:xfrm>
            <a:off x="640080" y="56692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03</a:t>
            </a:r>
            <a:endParaRPr lang="en-US" sz="1150" dirty="0"/>
          </a:p>
        </p:txBody>
      </p:sp>
      <p:sp>
        <p:nvSpPr>
          <p:cNvPr id="4" name="Text 2"/>
          <p:cNvSpPr txBox="1"/>
          <p:nvPr/>
        </p:nvSpPr>
        <p:spPr>
          <a:xfrm>
            <a:off x="1225296" y="402336"/>
            <a:ext cx="6400800" cy="228600"/>
          </a:xfrm>
          <a:prstGeom prst="rect">
            <a:avLst/>
          </a:prstGeom>
          <a:noFill/>
          <a:ln/>
        </p:spPr>
        <p:txBody>
          <a:bodyPr wrap="square" lIns="0" tIns="0" rIns="0" bIns="0" rtlCol="0" anchor="ctr"/>
          <a:lstStyle/>
          <a:p>
            <a:pPr indent="0" marL="0">
              <a:buNone/>
            </a:pPr>
            <a:r>
              <a:rPr lang="en-US" sz="1050" b="1" spc="150" kern="0" dirty="0">
                <a:solidFill>
                  <a:srgbClr val="0F5A6B"/>
                </a:solidFill>
                <a:latin typeface="Meiryo" pitchFamily="34" charset="0"/>
                <a:ea typeface="Meiryo" pitchFamily="34" charset="-122"/>
                <a:cs typeface="Meiryo" pitchFamily="34" charset="-120"/>
              </a:rPr>
              <a:t>目 的</a:t>
            </a:r>
            <a:endParaRPr lang="en-US" sz="1050" dirty="0"/>
          </a:p>
        </p:txBody>
      </p:sp>
      <p:sp>
        <p:nvSpPr>
          <p:cNvPr id="5" name="Text 3"/>
          <p:cNvSpPr txBox="1"/>
          <p:nvPr/>
        </p:nvSpPr>
        <p:spPr>
          <a:xfrm>
            <a:off x="1225296" y="603504"/>
            <a:ext cx="10326319" cy="548640"/>
          </a:xfrm>
          <a:prstGeom prst="rect">
            <a:avLst/>
          </a:prstGeom>
          <a:noFill/>
          <a:ln/>
        </p:spPr>
        <p:txBody>
          <a:bodyPr wrap="square" lIns="0" tIns="0" rIns="0" bIns="0" rtlCol="0" anchor="ctr"/>
          <a:lstStyle/>
          <a:p>
            <a:pPr indent="0" marL="0">
              <a:buNone/>
            </a:pPr>
            <a:r>
              <a:rPr lang="en-US" sz="2600" b="1" dirty="0">
                <a:solidFill>
                  <a:srgbClr val="1A2B33"/>
                </a:solidFill>
                <a:latin typeface="Meiryo" pitchFamily="34" charset="0"/>
                <a:ea typeface="Meiryo" pitchFamily="34" charset="-122"/>
                <a:cs typeface="Meiryo" pitchFamily="34" charset="-120"/>
              </a:rPr>
              <a:t>IBの利用がどれだけ増えたかを、データで確かめる</a:t>
            </a:r>
            <a:endParaRPr lang="en-US" sz="2600" dirty="0"/>
          </a:p>
        </p:txBody>
      </p:sp>
      <p:sp>
        <p:nvSpPr>
          <p:cNvPr id="6" name="Text 4"/>
          <p:cNvSpPr txBox="1"/>
          <p:nvPr/>
        </p:nvSpPr>
        <p:spPr>
          <a:xfrm>
            <a:off x="1225296" y="1170432"/>
            <a:ext cx="10326319" cy="347472"/>
          </a:xfrm>
          <a:prstGeom prst="rect">
            <a:avLst/>
          </a:prstGeom>
          <a:noFill/>
          <a:ln/>
        </p:spPr>
        <p:txBody>
          <a:bodyPr wrap="square" lIns="0" tIns="0" rIns="0" bIns="0" rtlCol="0" anchor="ctr"/>
          <a:lstStyle/>
          <a:p>
            <a:pPr indent="0" marL="0">
              <a:buNone/>
            </a:pPr>
            <a:r>
              <a:rPr lang="en-US" sz="1250" dirty="0">
                <a:solidFill>
                  <a:srgbClr val="8497A0"/>
                </a:solidFill>
                <a:latin typeface="Meiryo" pitchFamily="34" charset="0"/>
                <a:ea typeface="Meiryo" pitchFamily="34" charset="-122"/>
                <a:cs typeface="Meiryo" pitchFamily="34" charset="-120"/>
              </a:rPr>
              <a:t>背景をふまえ、今回の分析の目的を次のように置いた</a:t>
            </a:r>
            <a:endParaRPr lang="en-US" sz="1250" dirty="0"/>
          </a:p>
        </p:txBody>
      </p:sp>
      <p:sp>
        <p:nvSpPr>
          <p:cNvPr id="7" name="Text 5"/>
          <p:cNvSpPr txBox="1"/>
          <p:nvPr/>
        </p:nvSpPr>
        <p:spPr>
          <a:xfrm>
            <a:off x="11130991" y="6217920"/>
            <a:ext cx="548640" cy="256032"/>
          </a:xfrm>
          <a:prstGeom prst="rect">
            <a:avLst/>
          </a:prstGeom>
          <a:noFill/>
          <a:ln/>
        </p:spPr>
        <p:txBody>
          <a:bodyPr wrap="square" lIns="0" tIns="0" rIns="0" bIns="0" rtlCol="0" anchor="ctr"/>
          <a:lstStyle/>
          <a:p>
            <a:pPr algn="r" indent="0" marL="0">
              <a:buNone/>
            </a:pPr>
            <a:r>
              <a:rPr lang="en-US" sz="1000" spc="100" kern="0" dirty="0">
                <a:solidFill>
                  <a:srgbClr val="8497A0"/>
                </a:solidFill>
                <a:latin typeface="Meiryo" pitchFamily="34" charset="0"/>
                <a:ea typeface="Meiryo" pitchFamily="34" charset="-122"/>
                <a:cs typeface="Meiryo" pitchFamily="34" charset="-120"/>
              </a:rPr>
              <a:t>03</a:t>
            </a:r>
            <a:endParaRPr lang="en-US" sz="1000" dirty="0"/>
          </a:p>
        </p:txBody>
      </p:sp>
      <p:sp>
        <p:nvSpPr>
          <p:cNvPr id="8" name="Shape 6"/>
          <p:cNvSpPr/>
          <p:nvPr/>
        </p:nvSpPr>
        <p:spPr>
          <a:xfrm>
            <a:off x="640080" y="1920240"/>
            <a:ext cx="10911535" cy="1417320"/>
          </a:xfrm>
          <a:prstGeom prst="roundRect">
            <a:avLst>
              <a:gd name="adj" fmla="val 3226"/>
            </a:avLst>
          </a:prstGeom>
          <a:solidFill>
            <a:srgbClr val="E2EEF0"/>
          </a:solidFill>
          <a:ln w="9525">
            <a:solidFill>
              <a:srgbClr val="E2EEF0"/>
            </a:solidFill>
            <a:prstDash val="solid"/>
          </a:ln>
        </p:spPr>
      </p:sp>
      <p:sp>
        <p:nvSpPr>
          <p:cNvPr id="9" name="Text 7"/>
          <p:cNvSpPr txBox="1"/>
          <p:nvPr/>
        </p:nvSpPr>
        <p:spPr>
          <a:xfrm>
            <a:off x="1051560" y="2121408"/>
            <a:ext cx="1828800" cy="237744"/>
          </a:xfrm>
          <a:prstGeom prst="rect">
            <a:avLst/>
          </a:prstGeom>
          <a:noFill/>
          <a:ln/>
        </p:spPr>
        <p:txBody>
          <a:bodyPr wrap="square" lIns="0" tIns="0" rIns="0" bIns="0" rtlCol="0" anchor="ctr"/>
          <a:lstStyle/>
          <a:p>
            <a:pPr indent="0" marL="0">
              <a:buNone/>
            </a:pPr>
            <a:r>
              <a:rPr lang="en-US" sz="1050" b="1" spc="150" kern="0" dirty="0">
                <a:solidFill>
                  <a:srgbClr val="0F5A6B"/>
                </a:solidFill>
                <a:latin typeface="Meiryo" pitchFamily="34" charset="0"/>
                <a:ea typeface="Meiryo" pitchFamily="34" charset="-122"/>
                <a:cs typeface="Meiryo" pitchFamily="34" charset="-120"/>
              </a:rPr>
              <a:t>目 的</a:t>
            </a:r>
            <a:endParaRPr lang="en-US" sz="1050" dirty="0"/>
          </a:p>
        </p:txBody>
      </p:sp>
      <p:sp>
        <p:nvSpPr>
          <p:cNvPr id="10" name="Text 8"/>
          <p:cNvSpPr txBox="1"/>
          <p:nvPr/>
        </p:nvSpPr>
        <p:spPr>
          <a:xfrm>
            <a:off x="1051560" y="2450592"/>
            <a:ext cx="10088575" cy="548640"/>
          </a:xfrm>
          <a:prstGeom prst="rect">
            <a:avLst/>
          </a:prstGeom>
          <a:noFill/>
          <a:ln/>
        </p:spPr>
        <p:txBody>
          <a:bodyPr wrap="square" lIns="0" tIns="0" rIns="0" bIns="0" rtlCol="0" anchor="ctr"/>
          <a:lstStyle/>
          <a:p>
            <a:pPr indent="0" marL="0">
              <a:buNone/>
            </a:pPr>
            <a:r>
              <a:rPr lang="en-US" sz="1900" b="1" dirty="0">
                <a:solidFill>
                  <a:srgbClr val="0F5A6B"/>
                </a:solidFill>
                <a:latin typeface="Meiryo" pitchFamily="34" charset="0"/>
                <a:ea typeface="Meiryo" pitchFamily="34" charset="-122"/>
                <a:cs typeface="Meiryo" pitchFamily="34" charset="-120"/>
              </a:rPr>
              <a:t>2025年と2026年の同じ時期を比べ、IBの利用件数がどれだけ増えたかを確認する</a:t>
            </a:r>
            <a:endParaRPr lang="en-US" sz="1900" dirty="0"/>
          </a:p>
        </p:txBody>
      </p:sp>
      <p:sp>
        <p:nvSpPr>
          <p:cNvPr id="11" name="Shape 9"/>
          <p:cNvSpPr/>
          <p:nvPr/>
        </p:nvSpPr>
        <p:spPr>
          <a:xfrm>
            <a:off x="640080" y="3703320"/>
            <a:ext cx="5227168" cy="1600200"/>
          </a:xfrm>
          <a:prstGeom prst="roundRect">
            <a:avLst>
              <a:gd name="adj" fmla="val 2857"/>
            </a:avLst>
          </a:prstGeom>
          <a:solidFill>
            <a:srgbClr val="F3F6F7"/>
          </a:solidFill>
          <a:ln w="9525">
            <a:solidFill>
              <a:srgbClr val="F3F6F7"/>
            </a:solidFill>
            <a:prstDash val="solid"/>
          </a:ln>
        </p:spPr>
      </p:sp>
      <p:sp>
        <p:nvSpPr>
          <p:cNvPr id="12" name="Text 10"/>
          <p:cNvSpPr txBox="1"/>
          <p:nvPr/>
        </p:nvSpPr>
        <p:spPr>
          <a:xfrm>
            <a:off x="960120" y="3931920"/>
            <a:ext cx="4587088" cy="237744"/>
          </a:xfrm>
          <a:prstGeom prst="rect">
            <a:avLst/>
          </a:prstGeom>
          <a:noFill/>
          <a:ln/>
        </p:spPr>
        <p:txBody>
          <a:bodyPr wrap="square" lIns="0" tIns="0" rIns="0" bIns="0" rtlCol="0" anchor="ctr"/>
          <a:lstStyle/>
          <a:p>
            <a:pPr indent="0" marL="0">
              <a:buNone/>
            </a:pPr>
            <a:r>
              <a:rPr lang="en-US" sz="1050" b="1" spc="100" kern="0" dirty="0">
                <a:solidFill>
                  <a:srgbClr val="8497A0"/>
                </a:solidFill>
                <a:latin typeface="Meiryo" pitchFamily="34" charset="0"/>
                <a:ea typeface="Meiryo" pitchFamily="34" charset="-122"/>
                <a:cs typeface="Meiryo" pitchFamily="34" charset="-120"/>
              </a:rPr>
              <a:t>比べ方</a:t>
            </a:r>
            <a:endParaRPr lang="en-US" sz="1050" dirty="0"/>
          </a:p>
        </p:txBody>
      </p:sp>
      <p:sp>
        <p:nvSpPr>
          <p:cNvPr id="13" name="Text 11"/>
          <p:cNvSpPr txBox="1"/>
          <p:nvPr/>
        </p:nvSpPr>
        <p:spPr>
          <a:xfrm>
            <a:off x="960120" y="4270248"/>
            <a:ext cx="4587088" cy="822960"/>
          </a:xfrm>
          <a:prstGeom prst="rect">
            <a:avLst/>
          </a:prstGeom>
          <a:noFill/>
          <a:ln/>
        </p:spPr>
        <p:txBody>
          <a:bodyPr wrap="square" lIns="0" tIns="0" rIns="0" bIns="0" rtlCol="0" anchor="ctr"/>
          <a:lstStyle/>
          <a:p>
            <a:pPr indent="0" marL="0">
              <a:lnSpc>
                <a:spcPts val="2200"/>
              </a:lnSpc>
              <a:buNone/>
            </a:pPr>
            <a:r>
              <a:rPr lang="en-US" sz="1350" dirty="0">
                <a:solidFill>
                  <a:srgbClr val="1A2B33"/>
                </a:solidFill>
                <a:latin typeface="Meiryo" pitchFamily="34" charset="0"/>
                <a:ea typeface="Meiryo" pitchFamily="34" charset="-122"/>
                <a:cs typeface="Meiryo" pitchFamily="34" charset="-120"/>
              </a:rPr>
              <a:t>同じ4〜6月どうしを比べることで、時期による取引量の差の影響を避ける</a:t>
            </a:r>
            <a:endParaRPr lang="en-US" sz="1350" dirty="0"/>
          </a:p>
        </p:txBody>
      </p:sp>
      <p:sp>
        <p:nvSpPr>
          <p:cNvPr id="14" name="Shape 12"/>
          <p:cNvSpPr/>
          <p:nvPr/>
        </p:nvSpPr>
        <p:spPr>
          <a:xfrm>
            <a:off x="6324448" y="3703320"/>
            <a:ext cx="5227168" cy="1600200"/>
          </a:xfrm>
          <a:prstGeom prst="roundRect">
            <a:avLst>
              <a:gd name="adj" fmla="val 2857"/>
            </a:avLst>
          </a:prstGeom>
          <a:solidFill>
            <a:srgbClr val="F3F6F7"/>
          </a:solidFill>
          <a:ln w="9525">
            <a:solidFill>
              <a:srgbClr val="F3F6F7"/>
            </a:solidFill>
            <a:prstDash val="solid"/>
          </a:ln>
        </p:spPr>
      </p:sp>
      <p:sp>
        <p:nvSpPr>
          <p:cNvPr id="15" name="Text 13"/>
          <p:cNvSpPr txBox="1"/>
          <p:nvPr/>
        </p:nvSpPr>
        <p:spPr>
          <a:xfrm>
            <a:off x="6644488" y="3931920"/>
            <a:ext cx="4587088" cy="237744"/>
          </a:xfrm>
          <a:prstGeom prst="rect">
            <a:avLst/>
          </a:prstGeom>
          <a:noFill/>
          <a:ln/>
        </p:spPr>
        <p:txBody>
          <a:bodyPr wrap="square" lIns="0" tIns="0" rIns="0" bIns="0" rtlCol="0" anchor="ctr"/>
          <a:lstStyle/>
          <a:p>
            <a:pPr indent="0" marL="0">
              <a:buNone/>
            </a:pPr>
            <a:r>
              <a:rPr lang="en-US" sz="1050" b="1" spc="100" kern="0" dirty="0">
                <a:solidFill>
                  <a:srgbClr val="8497A0"/>
                </a:solidFill>
                <a:latin typeface="Meiryo" pitchFamily="34" charset="0"/>
                <a:ea typeface="Meiryo" pitchFamily="34" charset="-122"/>
                <a:cs typeface="Meiryo" pitchFamily="34" charset="-120"/>
              </a:rPr>
              <a:t>見る対象</a:t>
            </a:r>
            <a:endParaRPr lang="en-US" sz="1050" dirty="0"/>
          </a:p>
        </p:txBody>
      </p:sp>
      <p:sp>
        <p:nvSpPr>
          <p:cNvPr id="16" name="Text 14"/>
          <p:cNvSpPr txBox="1"/>
          <p:nvPr/>
        </p:nvSpPr>
        <p:spPr>
          <a:xfrm>
            <a:off x="6644488" y="4270248"/>
            <a:ext cx="4587088" cy="822960"/>
          </a:xfrm>
          <a:prstGeom prst="rect">
            <a:avLst/>
          </a:prstGeom>
          <a:noFill/>
          <a:ln/>
        </p:spPr>
        <p:txBody>
          <a:bodyPr wrap="square" lIns="0" tIns="0" rIns="0" bIns="0" rtlCol="0" anchor="ctr"/>
          <a:lstStyle/>
          <a:p>
            <a:pPr indent="0" marL="0">
              <a:lnSpc>
                <a:spcPts val="2200"/>
              </a:lnSpc>
              <a:buNone/>
            </a:pPr>
            <a:r>
              <a:rPr lang="en-US" sz="1350" dirty="0">
                <a:solidFill>
                  <a:srgbClr val="1A2B33"/>
                </a:solidFill>
                <a:latin typeface="Meiryo" pitchFamily="34" charset="0"/>
                <a:ea typeface="Meiryo" pitchFamily="34" charset="-122"/>
                <a:cs typeface="Meiryo" pitchFamily="34" charset="-120"/>
              </a:rPr>
              <a:t>IBの件数だけでなく、ATMで行われている「IBでも代替できる取引」も合わせて見る</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02336" cy="402336"/>
          </a:xfrm>
          <a:prstGeom prst="ellipse">
            <a:avLst/>
          </a:prstGeom>
          <a:solidFill>
            <a:srgbClr val="0F5A6B"/>
          </a:solidFill>
          <a:ln w="12700">
            <a:solidFill>
              <a:srgbClr val="0F5A6B"/>
            </a:solidFill>
            <a:prstDash val="solid"/>
          </a:ln>
        </p:spPr>
      </p:sp>
      <p:sp>
        <p:nvSpPr>
          <p:cNvPr id="3" name="Text 1"/>
          <p:cNvSpPr txBox="1"/>
          <p:nvPr/>
        </p:nvSpPr>
        <p:spPr>
          <a:xfrm>
            <a:off x="640080" y="56692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04</a:t>
            </a:r>
            <a:endParaRPr lang="en-US" sz="1150" dirty="0"/>
          </a:p>
        </p:txBody>
      </p:sp>
      <p:sp>
        <p:nvSpPr>
          <p:cNvPr id="4" name="Text 2"/>
          <p:cNvSpPr txBox="1"/>
          <p:nvPr/>
        </p:nvSpPr>
        <p:spPr>
          <a:xfrm>
            <a:off x="1225296" y="402336"/>
            <a:ext cx="6400800" cy="228600"/>
          </a:xfrm>
          <a:prstGeom prst="rect">
            <a:avLst/>
          </a:prstGeom>
          <a:noFill/>
          <a:ln/>
        </p:spPr>
        <p:txBody>
          <a:bodyPr wrap="square" lIns="0" tIns="0" rIns="0" bIns="0" rtlCol="0" anchor="ctr"/>
          <a:lstStyle/>
          <a:p>
            <a:pPr indent="0" marL="0">
              <a:buNone/>
            </a:pPr>
            <a:r>
              <a:rPr lang="en-US" sz="1050" b="1" spc="150" kern="0" dirty="0">
                <a:solidFill>
                  <a:srgbClr val="0F5A6B"/>
                </a:solidFill>
                <a:latin typeface="Meiryo" pitchFamily="34" charset="0"/>
                <a:ea typeface="Meiryo" pitchFamily="34" charset="-122"/>
                <a:cs typeface="Meiryo" pitchFamily="34" charset="-120"/>
              </a:rPr>
              <a:t>使 用 し た デ ー タ</a:t>
            </a:r>
            <a:endParaRPr lang="en-US" sz="1050" dirty="0"/>
          </a:p>
        </p:txBody>
      </p:sp>
      <p:sp>
        <p:nvSpPr>
          <p:cNvPr id="5" name="Text 3"/>
          <p:cNvSpPr txBox="1"/>
          <p:nvPr/>
        </p:nvSpPr>
        <p:spPr>
          <a:xfrm>
            <a:off x="1225296" y="603504"/>
            <a:ext cx="10326319" cy="548640"/>
          </a:xfrm>
          <a:prstGeom prst="rect">
            <a:avLst/>
          </a:prstGeom>
          <a:noFill/>
          <a:ln/>
        </p:spPr>
        <p:txBody>
          <a:bodyPr wrap="square" lIns="0" tIns="0" rIns="0" bIns="0" rtlCol="0" anchor="ctr"/>
          <a:lstStyle/>
          <a:p>
            <a:pPr indent="0" marL="0">
              <a:buNone/>
            </a:pPr>
            <a:r>
              <a:rPr lang="en-US" sz="2600" b="1" dirty="0">
                <a:solidFill>
                  <a:srgbClr val="1A2B33"/>
                </a:solidFill>
                <a:latin typeface="Meiryo" pitchFamily="34" charset="0"/>
                <a:ea typeface="Meiryo" pitchFamily="34" charset="-122"/>
                <a:cs typeface="Meiryo" pitchFamily="34" charset="-120"/>
              </a:rPr>
              <a:t>取引履歴（流動）から入出金テーブルを作成した</a:t>
            </a:r>
            <a:endParaRPr lang="en-US" sz="2600" dirty="0"/>
          </a:p>
        </p:txBody>
      </p:sp>
      <p:sp>
        <p:nvSpPr>
          <p:cNvPr id="6" name="Text 4"/>
          <p:cNvSpPr txBox="1"/>
          <p:nvPr/>
        </p:nvSpPr>
        <p:spPr>
          <a:xfrm>
            <a:off x="1225296" y="1170432"/>
            <a:ext cx="10326319" cy="347472"/>
          </a:xfrm>
          <a:prstGeom prst="rect">
            <a:avLst/>
          </a:prstGeom>
          <a:noFill/>
          <a:ln/>
        </p:spPr>
        <p:txBody>
          <a:bodyPr wrap="square" lIns="0" tIns="0" rIns="0" bIns="0" rtlCol="0" anchor="ctr"/>
          <a:lstStyle/>
          <a:p>
            <a:pPr indent="0" marL="0">
              <a:buNone/>
            </a:pPr>
            <a:r>
              <a:rPr lang="en-US" sz="1250" dirty="0">
                <a:solidFill>
                  <a:srgbClr val="8497A0"/>
                </a:solidFill>
                <a:latin typeface="Meiryo" pitchFamily="34" charset="0"/>
                <a:ea typeface="Meiryo" pitchFamily="34" charset="-122"/>
                <a:cs typeface="Meiryo" pitchFamily="34" charset="-120"/>
              </a:rPr>
              <a:t>分析に使ったデータと、DYNATREKで扱える形にするまでの準備</a:t>
            </a:r>
            <a:endParaRPr lang="en-US" sz="1250" dirty="0"/>
          </a:p>
        </p:txBody>
      </p:sp>
      <p:sp>
        <p:nvSpPr>
          <p:cNvPr id="7" name="Text 5"/>
          <p:cNvSpPr txBox="1"/>
          <p:nvPr/>
        </p:nvSpPr>
        <p:spPr>
          <a:xfrm>
            <a:off x="11130991" y="6217920"/>
            <a:ext cx="548640" cy="256032"/>
          </a:xfrm>
          <a:prstGeom prst="rect">
            <a:avLst/>
          </a:prstGeom>
          <a:noFill/>
          <a:ln/>
        </p:spPr>
        <p:txBody>
          <a:bodyPr wrap="square" lIns="0" tIns="0" rIns="0" bIns="0" rtlCol="0" anchor="ctr"/>
          <a:lstStyle/>
          <a:p>
            <a:pPr algn="r" indent="0" marL="0">
              <a:buNone/>
            </a:pPr>
            <a:r>
              <a:rPr lang="en-US" sz="1000" spc="100" kern="0" dirty="0">
                <a:solidFill>
                  <a:srgbClr val="8497A0"/>
                </a:solidFill>
                <a:latin typeface="Meiryo" pitchFamily="34" charset="0"/>
                <a:ea typeface="Meiryo" pitchFamily="34" charset="-122"/>
                <a:cs typeface="Meiryo" pitchFamily="34" charset="-120"/>
              </a:rPr>
              <a:t>04</a:t>
            </a:r>
            <a:endParaRPr lang="en-US" sz="1000" dirty="0"/>
          </a:p>
        </p:txBody>
      </p:sp>
      <p:sp>
        <p:nvSpPr>
          <p:cNvPr id="8" name="Shape 6"/>
          <p:cNvSpPr/>
          <p:nvPr/>
        </p:nvSpPr>
        <p:spPr>
          <a:xfrm>
            <a:off x="640080" y="1874520"/>
            <a:ext cx="3246120" cy="1481328"/>
          </a:xfrm>
          <a:prstGeom prst="roundRect">
            <a:avLst>
              <a:gd name="adj" fmla="val 3086"/>
            </a:avLst>
          </a:prstGeom>
          <a:solidFill>
            <a:srgbClr val="F3F6F7"/>
          </a:solidFill>
          <a:ln w="9525">
            <a:solidFill>
              <a:srgbClr val="F3F6F7"/>
            </a:solidFill>
            <a:prstDash val="solid"/>
          </a:ln>
        </p:spPr>
      </p:sp>
      <p:sp>
        <p:nvSpPr>
          <p:cNvPr id="9" name="Text 7"/>
          <p:cNvSpPr txBox="1"/>
          <p:nvPr/>
        </p:nvSpPr>
        <p:spPr>
          <a:xfrm>
            <a:off x="640080" y="2130552"/>
            <a:ext cx="3246120" cy="237744"/>
          </a:xfrm>
          <a:prstGeom prst="rect">
            <a:avLst/>
          </a:prstGeom>
          <a:noFill/>
          <a:ln/>
        </p:spPr>
        <p:txBody>
          <a:bodyPr wrap="square" lIns="0" tIns="0" rIns="0" bIns="0" rtlCol="0" anchor="ctr"/>
          <a:lstStyle/>
          <a:p>
            <a:pPr algn="ctr" indent="0" marL="0">
              <a:buNone/>
            </a:pPr>
            <a:r>
              <a:rPr lang="en-US" sz="1050" b="1" spc="100" kern="0" dirty="0">
                <a:solidFill>
                  <a:srgbClr val="8497A0"/>
                </a:solidFill>
                <a:latin typeface="Meiryo" pitchFamily="34" charset="0"/>
                <a:ea typeface="Meiryo" pitchFamily="34" charset="-122"/>
                <a:cs typeface="Meiryo" pitchFamily="34" charset="-120"/>
              </a:rPr>
              <a:t>元データ</a:t>
            </a:r>
            <a:endParaRPr lang="en-US" sz="1050" dirty="0"/>
          </a:p>
        </p:txBody>
      </p:sp>
      <p:sp>
        <p:nvSpPr>
          <p:cNvPr id="10" name="Text 8"/>
          <p:cNvSpPr txBox="1"/>
          <p:nvPr/>
        </p:nvSpPr>
        <p:spPr>
          <a:xfrm>
            <a:off x="822960" y="2496312"/>
            <a:ext cx="2880360" cy="640080"/>
          </a:xfrm>
          <a:prstGeom prst="rect">
            <a:avLst/>
          </a:prstGeom>
          <a:noFill/>
          <a:ln/>
        </p:spPr>
        <p:txBody>
          <a:bodyPr wrap="square" lIns="0" tIns="0" rIns="0" bIns="0" rtlCol="0" anchor="ctr"/>
          <a:lstStyle/>
          <a:p>
            <a:pPr algn="ctr" indent="0" marL="0">
              <a:lnSpc>
                <a:spcPts val="2200"/>
              </a:lnSpc>
              <a:buNone/>
            </a:pPr>
            <a:r>
              <a:rPr lang="en-US" sz="1500" b="1" dirty="0">
                <a:solidFill>
                  <a:srgbClr val="1A2B33"/>
                </a:solidFill>
                <a:latin typeface="Meiryo" pitchFamily="34" charset="0"/>
                <a:ea typeface="Meiryo" pitchFamily="34" charset="-122"/>
                <a:cs typeface="Meiryo" pitchFamily="34" charset="-120"/>
              </a:rPr>
              <a:t>取引履歴（流動）</a:t>
            </a:r>
            <a:endParaRPr lang="en-US" sz="1500" dirty="0"/>
          </a:p>
        </p:txBody>
      </p:sp>
      <p:sp>
        <p:nvSpPr>
          <p:cNvPr id="11" name="Shape 9"/>
          <p:cNvSpPr/>
          <p:nvPr/>
        </p:nvSpPr>
        <p:spPr>
          <a:xfrm>
            <a:off x="4050792" y="2505456"/>
            <a:ext cx="256032" cy="219456"/>
          </a:xfrm>
          <a:prstGeom prst="rightArrow">
            <a:avLst/>
          </a:prstGeom>
          <a:solidFill>
            <a:srgbClr val="C2CFD3"/>
          </a:solidFill>
          <a:ln w="12700">
            <a:solidFill>
              <a:srgbClr val="C2CFD3"/>
            </a:solidFill>
            <a:prstDash val="solid"/>
          </a:ln>
        </p:spPr>
      </p:sp>
      <p:sp>
        <p:nvSpPr>
          <p:cNvPr id="12" name="Shape 10"/>
          <p:cNvSpPr/>
          <p:nvPr/>
        </p:nvSpPr>
        <p:spPr>
          <a:xfrm>
            <a:off x="4471416" y="1874520"/>
            <a:ext cx="3246120" cy="1481328"/>
          </a:xfrm>
          <a:prstGeom prst="roundRect">
            <a:avLst>
              <a:gd name="adj" fmla="val 3086"/>
            </a:avLst>
          </a:prstGeom>
          <a:solidFill>
            <a:srgbClr val="F3F6F7"/>
          </a:solidFill>
          <a:ln w="9525">
            <a:solidFill>
              <a:srgbClr val="F3F6F7"/>
            </a:solidFill>
            <a:prstDash val="solid"/>
          </a:ln>
        </p:spPr>
      </p:sp>
      <p:sp>
        <p:nvSpPr>
          <p:cNvPr id="13" name="Text 11"/>
          <p:cNvSpPr txBox="1"/>
          <p:nvPr/>
        </p:nvSpPr>
        <p:spPr>
          <a:xfrm>
            <a:off x="4471416" y="2130552"/>
            <a:ext cx="3246120" cy="237744"/>
          </a:xfrm>
          <a:prstGeom prst="rect">
            <a:avLst/>
          </a:prstGeom>
          <a:noFill/>
          <a:ln/>
        </p:spPr>
        <p:txBody>
          <a:bodyPr wrap="square" lIns="0" tIns="0" rIns="0" bIns="0" rtlCol="0" anchor="ctr"/>
          <a:lstStyle/>
          <a:p>
            <a:pPr algn="ctr" indent="0" marL="0">
              <a:buNone/>
            </a:pPr>
            <a:r>
              <a:rPr lang="en-US" sz="1050" b="1" spc="100" kern="0" dirty="0">
                <a:solidFill>
                  <a:srgbClr val="8497A0"/>
                </a:solidFill>
                <a:latin typeface="Meiryo" pitchFamily="34" charset="0"/>
                <a:ea typeface="Meiryo" pitchFamily="34" charset="-122"/>
                <a:cs typeface="Meiryo" pitchFamily="34" charset="-120"/>
              </a:rPr>
              <a:t>作成したもの</a:t>
            </a:r>
            <a:endParaRPr lang="en-US" sz="1050" dirty="0"/>
          </a:p>
        </p:txBody>
      </p:sp>
      <p:sp>
        <p:nvSpPr>
          <p:cNvPr id="14" name="Text 12"/>
          <p:cNvSpPr txBox="1"/>
          <p:nvPr/>
        </p:nvSpPr>
        <p:spPr>
          <a:xfrm>
            <a:off x="4654296" y="2496312"/>
            <a:ext cx="2880360" cy="640080"/>
          </a:xfrm>
          <a:prstGeom prst="rect">
            <a:avLst/>
          </a:prstGeom>
          <a:noFill/>
          <a:ln/>
        </p:spPr>
        <p:txBody>
          <a:bodyPr wrap="square" lIns="0" tIns="0" rIns="0" bIns="0" rtlCol="0" anchor="ctr"/>
          <a:lstStyle/>
          <a:p>
            <a:pPr algn="ctr" indent="0" marL="0">
              <a:lnSpc>
                <a:spcPts val="2200"/>
              </a:lnSpc>
              <a:buNone/>
            </a:pPr>
            <a:r>
              <a:rPr lang="en-US" sz="1500" b="1" dirty="0">
                <a:solidFill>
                  <a:srgbClr val="1A2B33"/>
                </a:solidFill>
                <a:latin typeface="Meiryo" pitchFamily="34" charset="0"/>
                <a:ea typeface="Meiryo" pitchFamily="34" charset="-122"/>
                <a:cs typeface="Meiryo" pitchFamily="34" charset="-120"/>
              </a:rPr>
              <a:t>入出金テーブル</a:t>
            </a:r>
            <a:endParaRPr lang="en-US" sz="1500" dirty="0"/>
          </a:p>
        </p:txBody>
      </p:sp>
      <p:sp>
        <p:nvSpPr>
          <p:cNvPr id="15" name="Shape 13"/>
          <p:cNvSpPr/>
          <p:nvPr/>
        </p:nvSpPr>
        <p:spPr>
          <a:xfrm>
            <a:off x="7882128" y="2505456"/>
            <a:ext cx="256032" cy="219456"/>
          </a:xfrm>
          <a:prstGeom prst="rightArrow">
            <a:avLst/>
          </a:prstGeom>
          <a:solidFill>
            <a:srgbClr val="C2CFD3"/>
          </a:solidFill>
          <a:ln w="12700">
            <a:solidFill>
              <a:srgbClr val="C2CFD3"/>
            </a:solidFill>
            <a:prstDash val="solid"/>
          </a:ln>
        </p:spPr>
      </p:sp>
      <p:sp>
        <p:nvSpPr>
          <p:cNvPr id="16" name="Shape 14"/>
          <p:cNvSpPr/>
          <p:nvPr/>
        </p:nvSpPr>
        <p:spPr>
          <a:xfrm>
            <a:off x="8302752" y="1874520"/>
            <a:ext cx="3246120" cy="1481328"/>
          </a:xfrm>
          <a:prstGeom prst="roundRect">
            <a:avLst>
              <a:gd name="adj" fmla="val 3086"/>
            </a:avLst>
          </a:prstGeom>
          <a:solidFill>
            <a:srgbClr val="E2EEF0"/>
          </a:solidFill>
          <a:ln w="9525">
            <a:solidFill>
              <a:srgbClr val="E2EEF0"/>
            </a:solidFill>
            <a:prstDash val="solid"/>
          </a:ln>
        </p:spPr>
      </p:sp>
      <p:sp>
        <p:nvSpPr>
          <p:cNvPr id="17" name="Text 15"/>
          <p:cNvSpPr txBox="1"/>
          <p:nvPr/>
        </p:nvSpPr>
        <p:spPr>
          <a:xfrm>
            <a:off x="8302752" y="2130552"/>
            <a:ext cx="3246120" cy="237744"/>
          </a:xfrm>
          <a:prstGeom prst="rect">
            <a:avLst/>
          </a:prstGeom>
          <a:noFill/>
          <a:ln/>
        </p:spPr>
        <p:txBody>
          <a:bodyPr wrap="square" lIns="0" tIns="0" rIns="0" bIns="0" rtlCol="0" anchor="ctr"/>
          <a:lstStyle/>
          <a:p>
            <a:pPr algn="ctr" indent="0" marL="0">
              <a:buNone/>
            </a:pPr>
            <a:r>
              <a:rPr lang="en-US" sz="1050" b="1" spc="100" kern="0" dirty="0">
                <a:solidFill>
                  <a:srgbClr val="0F5A6B"/>
                </a:solidFill>
                <a:latin typeface="Meiryo" pitchFamily="34" charset="0"/>
                <a:ea typeface="Meiryo" pitchFamily="34" charset="-122"/>
                <a:cs typeface="Meiryo" pitchFamily="34" charset="-120"/>
              </a:rPr>
              <a:t>分析</a:t>
            </a:r>
            <a:endParaRPr lang="en-US" sz="1050" dirty="0"/>
          </a:p>
        </p:txBody>
      </p:sp>
      <p:sp>
        <p:nvSpPr>
          <p:cNvPr id="18" name="Text 16"/>
          <p:cNvSpPr txBox="1"/>
          <p:nvPr/>
        </p:nvSpPr>
        <p:spPr>
          <a:xfrm>
            <a:off x="8485632" y="2496312"/>
            <a:ext cx="2880360" cy="640080"/>
          </a:xfrm>
          <a:prstGeom prst="rect">
            <a:avLst/>
          </a:prstGeom>
          <a:noFill/>
          <a:ln/>
        </p:spPr>
        <p:txBody>
          <a:bodyPr wrap="square" lIns="0" tIns="0" rIns="0" bIns="0" rtlCol="0" anchor="ctr"/>
          <a:lstStyle/>
          <a:p>
            <a:pPr algn="ctr" indent="0" marL="0">
              <a:lnSpc>
                <a:spcPts val="2200"/>
              </a:lnSpc>
              <a:buNone/>
            </a:pPr>
            <a:r>
              <a:rPr lang="en-US" sz="1500" b="1" dirty="0">
                <a:solidFill>
                  <a:srgbClr val="0F5A6B"/>
                </a:solidFill>
                <a:latin typeface="Meiryo" pitchFamily="34" charset="0"/>
                <a:ea typeface="Meiryo" pitchFamily="34" charset="-122"/>
                <a:cs typeface="Meiryo" pitchFamily="34" charset="-120"/>
              </a:rPr>
              <a:t>DYNATREKで</a:t>
            </a:r>
            <a:endParaRPr lang="en-US" sz="1500" dirty="0"/>
          </a:p>
          <a:p>
            <a:pPr algn="ctr" indent="0" marL="0">
              <a:lnSpc>
                <a:spcPts val="2200"/>
              </a:lnSpc>
              <a:buNone/>
            </a:pPr>
            <a:r>
              <a:rPr lang="en-US" sz="1500" b="1" dirty="0">
                <a:solidFill>
                  <a:srgbClr val="0F5A6B"/>
                </a:solidFill>
                <a:latin typeface="Meiryo" pitchFamily="34" charset="0"/>
                <a:ea typeface="Meiryo" pitchFamily="34" charset="-122"/>
                <a:cs typeface="Meiryo" pitchFamily="34" charset="-120"/>
              </a:rPr>
              <a:t>条件を指定して集計</a:t>
            </a:r>
            <a:endParaRPr lang="en-US" sz="1500" dirty="0"/>
          </a:p>
        </p:txBody>
      </p:sp>
      <p:sp>
        <p:nvSpPr>
          <p:cNvPr id="19" name="Shape 17"/>
          <p:cNvSpPr/>
          <p:nvPr/>
        </p:nvSpPr>
        <p:spPr>
          <a:xfrm>
            <a:off x="640080" y="3703320"/>
            <a:ext cx="10911535" cy="1097280"/>
          </a:xfrm>
          <a:prstGeom prst="roundRect">
            <a:avLst>
              <a:gd name="adj" fmla="val 4167"/>
            </a:avLst>
          </a:prstGeom>
          <a:solidFill>
            <a:srgbClr val="F3F6F7"/>
          </a:solidFill>
          <a:ln w="9525">
            <a:solidFill>
              <a:srgbClr val="F3F6F7"/>
            </a:solidFill>
            <a:prstDash val="solid"/>
          </a:ln>
        </p:spPr>
      </p:sp>
      <p:sp>
        <p:nvSpPr>
          <p:cNvPr id="20" name="Text 18"/>
          <p:cNvSpPr txBox="1"/>
          <p:nvPr/>
        </p:nvSpPr>
        <p:spPr>
          <a:xfrm>
            <a:off x="1005840" y="3913632"/>
            <a:ext cx="1645920" cy="237744"/>
          </a:xfrm>
          <a:prstGeom prst="rect">
            <a:avLst/>
          </a:prstGeom>
          <a:noFill/>
          <a:ln/>
        </p:spPr>
        <p:txBody>
          <a:bodyPr wrap="square" lIns="0" tIns="0" rIns="0" bIns="0" rtlCol="0" anchor="ctr"/>
          <a:lstStyle/>
          <a:p>
            <a:pPr indent="0" marL="0">
              <a:buNone/>
            </a:pPr>
            <a:r>
              <a:rPr lang="en-US" sz="1050" b="1" spc="100" kern="0" dirty="0">
                <a:solidFill>
                  <a:srgbClr val="8497A0"/>
                </a:solidFill>
                <a:latin typeface="Meiryo" pitchFamily="34" charset="0"/>
                <a:ea typeface="Meiryo" pitchFamily="34" charset="-122"/>
                <a:cs typeface="Meiryo" pitchFamily="34" charset="-120"/>
              </a:rPr>
              <a:t>対 象 期 間</a:t>
            </a:r>
            <a:endParaRPr lang="en-US" sz="1050" dirty="0"/>
          </a:p>
        </p:txBody>
      </p:sp>
      <p:sp>
        <p:nvSpPr>
          <p:cNvPr id="21" name="Shape 19"/>
          <p:cNvSpPr/>
          <p:nvPr/>
        </p:nvSpPr>
        <p:spPr>
          <a:xfrm>
            <a:off x="3063240" y="3913632"/>
            <a:ext cx="3566160" cy="658368"/>
          </a:xfrm>
          <a:prstGeom prst="roundRect">
            <a:avLst>
              <a:gd name="adj" fmla="val 6944"/>
            </a:avLst>
          </a:prstGeom>
          <a:solidFill>
            <a:srgbClr val="FFFFFF"/>
          </a:solidFill>
          <a:ln w="12700">
            <a:solidFill>
              <a:srgbClr val="D8E0E3"/>
            </a:solidFill>
            <a:prstDash val="solid"/>
          </a:ln>
        </p:spPr>
      </p:sp>
      <p:sp>
        <p:nvSpPr>
          <p:cNvPr id="22" name="Text 20"/>
          <p:cNvSpPr txBox="1"/>
          <p:nvPr/>
        </p:nvSpPr>
        <p:spPr>
          <a:xfrm>
            <a:off x="3063240" y="3913632"/>
            <a:ext cx="3566160" cy="658368"/>
          </a:xfrm>
          <a:prstGeom prst="rect">
            <a:avLst/>
          </a:prstGeom>
          <a:noFill/>
          <a:ln/>
        </p:spPr>
        <p:txBody>
          <a:bodyPr wrap="square" lIns="0" tIns="0" rIns="0" bIns="0" rtlCol="0" anchor="ctr"/>
          <a:lstStyle/>
          <a:p>
            <a:pPr algn="ctr" indent="0" marL="0">
              <a:buNone/>
            </a:pPr>
            <a:r>
              <a:rPr lang="en-US" sz="1400" b="1" dirty="0">
                <a:solidFill>
                  <a:srgbClr val="1A2B33"/>
                </a:solidFill>
                <a:latin typeface="Meiryo" pitchFamily="34" charset="0"/>
                <a:ea typeface="Meiryo" pitchFamily="34" charset="-122"/>
                <a:cs typeface="Meiryo" pitchFamily="34" charset="-120"/>
              </a:rPr>
              <a:t>2025年　4月・5月・6月</a:t>
            </a:r>
            <a:endParaRPr lang="en-US" sz="1400" dirty="0"/>
          </a:p>
        </p:txBody>
      </p:sp>
      <p:sp>
        <p:nvSpPr>
          <p:cNvPr id="23" name="Shape 21"/>
          <p:cNvSpPr/>
          <p:nvPr/>
        </p:nvSpPr>
        <p:spPr>
          <a:xfrm>
            <a:off x="6995160" y="3913632"/>
            <a:ext cx="3566160" cy="658368"/>
          </a:xfrm>
          <a:prstGeom prst="roundRect">
            <a:avLst>
              <a:gd name="adj" fmla="val 6944"/>
            </a:avLst>
          </a:prstGeom>
          <a:solidFill>
            <a:srgbClr val="FFFFFF"/>
          </a:solidFill>
          <a:ln w="12700">
            <a:solidFill>
              <a:srgbClr val="D8E0E3"/>
            </a:solidFill>
            <a:prstDash val="solid"/>
          </a:ln>
        </p:spPr>
      </p:sp>
      <p:sp>
        <p:nvSpPr>
          <p:cNvPr id="24" name="Text 22"/>
          <p:cNvSpPr txBox="1"/>
          <p:nvPr/>
        </p:nvSpPr>
        <p:spPr>
          <a:xfrm>
            <a:off x="6995160" y="3913632"/>
            <a:ext cx="3566160" cy="658368"/>
          </a:xfrm>
          <a:prstGeom prst="rect">
            <a:avLst/>
          </a:prstGeom>
          <a:noFill/>
          <a:ln/>
        </p:spPr>
        <p:txBody>
          <a:bodyPr wrap="square" lIns="0" tIns="0" rIns="0" bIns="0" rtlCol="0" anchor="ctr"/>
          <a:lstStyle/>
          <a:p>
            <a:pPr algn="ctr" indent="0" marL="0">
              <a:buNone/>
            </a:pPr>
            <a:r>
              <a:rPr lang="en-US" sz="1400" b="1" dirty="0">
                <a:solidFill>
                  <a:srgbClr val="1A2B33"/>
                </a:solidFill>
                <a:latin typeface="Meiryo" pitchFamily="34" charset="0"/>
                <a:ea typeface="Meiryo" pitchFamily="34" charset="-122"/>
                <a:cs typeface="Meiryo" pitchFamily="34" charset="-120"/>
              </a:rPr>
              <a:t>2026年　4月・5月・6月</a:t>
            </a:r>
            <a:endParaRPr lang="en-US" sz="1400" dirty="0"/>
          </a:p>
        </p:txBody>
      </p:sp>
      <p:sp>
        <p:nvSpPr>
          <p:cNvPr id="25" name="Shape 23"/>
          <p:cNvSpPr/>
          <p:nvPr/>
        </p:nvSpPr>
        <p:spPr>
          <a:xfrm>
            <a:off x="640080" y="5120640"/>
            <a:ext cx="10911535" cy="914400"/>
          </a:xfrm>
          <a:prstGeom prst="roundRect">
            <a:avLst>
              <a:gd name="adj" fmla="val 5000"/>
            </a:avLst>
          </a:prstGeom>
          <a:solidFill>
            <a:srgbClr val="F8EBE1"/>
          </a:solidFill>
          <a:ln w="15875">
            <a:solidFill>
              <a:srgbClr val="D9A97F"/>
            </a:solidFill>
            <a:prstDash val="dash"/>
          </a:ln>
        </p:spPr>
      </p:sp>
      <p:sp>
        <p:nvSpPr>
          <p:cNvPr id="26" name="Text 24"/>
          <p:cNvSpPr txBox="1"/>
          <p:nvPr/>
        </p:nvSpPr>
        <p:spPr>
          <a:xfrm>
            <a:off x="859536" y="5257800"/>
            <a:ext cx="10472623" cy="237744"/>
          </a:xfrm>
          <a:prstGeom prst="rect">
            <a:avLst/>
          </a:prstGeom>
          <a:noFill/>
          <a:ln/>
        </p:spPr>
        <p:txBody>
          <a:bodyPr wrap="square" lIns="0" tIns="0" rIns="0" bIns="0" rtlCol="0" anchor="ctr"/>
          <a:lstStyle/>
          <a:p>
            <a:pPr indent="0" marL="0">
              <a:buNone/>
            </a:pPr>
            <a:r>
              <a:rPr lang="en-US" sz="1050" b="1" spc="80" kern="0" dirty="0">
                <a:solidFill>
                  <a:srgbClr val="B4551F"/>
                </a:solidFill>
                <a:latin typeface="Meiryo" pitchFamily="34" charset="0"/>
                <a:ea typeface="Meiryo" pitchFamily="34" charset="-122"/>
                <a:cs typeface="Meiryo" pitchFamily="34" charset="-120"/>
              </a:rPr>
              <a:t>記 入 欄</a:t>
            </a:r>
            <a:endParaRPr lang="en-US" sz="1050" dirty="0"/>
          </a:p>
        </p:txBody>
      </p:sp>
      <p:sp>
        <p:nvSpPr>
          <p:cNvPr id="27" name="Text 25"/>
          <p:cNvSpPr txBox="1"/>
          <p:nvPr/>
        </p:nvSpPr>
        <p:spPr>
          <a:xfrm>
            <a:off x="859536" y="5522976"/>
            <a:ext cx="10472623" cy="384048"/>
          </a:xfrm>
          <a:prstGeom prst="rect">
            <a:avLst/>
          </a:prstGeom>
          <a:noFill/>
          <a:ln/>
        </p:spPr>
        <p:txBody>
          <a:bodyPr wrap="square" lIns="0" tIns="0" rIns="0" bIns="0" rtlCol="0" anchor="ctr"/>
          <a:lstStyle/>
          <a:p>
            <a:pPr indent="0" marL="0">
              <a:lnSpc>
                <a:spcPts val="1700"/>
              </a:lnSpc>
              <a:buNone/>
            </a:pPr>
            <a:r>
              <a:rPr lang="en-US" sz="1150" dirty="0">
                <a:solidFill>
                  <a:srgbClr val="A2795C"/>
                </a:solidFill>
                <a:latin typeface="Meiryo" pitchFamily="34" charset="0"/>
                <a:ea typeface="Meiryo" pitchFamily="34" charset="-122"/>
                <a:cs typeface="Meiryo" pitchFamily="34" charset="-120"/>
              </a:rPr>
              <a:t>入出金テーブルに持たせた主な項目（例：日付／チャネル／取引種別／年代 など、実際に使ったものを記載）</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02336" cy="402336"/>
          </a:xfrm>
          <a:prstGeom prst="ellipse">
            <a:avLst/>
          </a:prstGeom>
          <a:solidFill>
            <a:srgbClr val="0F5A6B"/>
          </a:solidFill>
          <a:ln w="12700">
            <a:solidFill>
              <a:srgbClr val="0F5A6B"/>
            </a:solidFill>
            <a:prstDash val="solid"/>
          </a:ln>
        </p:spPr>
      </p:sp>
      <p:sp>
        <p:nvSpPr>
          <p:cNvPr id="3" name="Text 1"/>
          <p:cNvSpPr txBox="1"/>
          <p:nvPr/>
        </p:nvSpPr>
        <p:spPr>
          <a:xfrm>
            <a:off x="640080" y="56692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05</a:t>
            </a:r>
            <a:endParaRPr lang="en-US" sz="1150" dirty="0"/>
          </a:p>
        </p:txBody>
      </p:sp>
      <p:sp>
        <p:nvSpPr>
          <p:cNvPr id="4" name="Text 2"/>
          <p:cNvSpPr txBox="1"/>
          <p:nvPr/>
        </p:nvSpPr>
        <p:spPr>
          <a:xfrm>
            <a:off x="1225296" y="402336"/>
            <a:ext cx="6400800" cy="228600"/>
          </a:xfrm>
          <a:prstGeom prst="rect">
            <a:avLst/>
          </a:prstGeom>
          <a:noFill/>
          <a:ln/>
        </p:spPr>
        <p:txBody>
          <a:bodyPr wrap="square" lIns="0" tIns="0" rIns="0" bIns="0" rtlCol="0" anchor="ctr"/>
          <a:lstStyle/>
          <a:p>
            <a:pPr indent="0" marL="0">
              <a:buNone/>
            </a:pPr>
            <a:r>
              <a:rPr lang="en-US" sz="1050" b="1" spc="150" kern="0" dirty="0">
                <a:solidFill>
                  <a:srgbClr val="0F5A6B"/>
                </a:solidFill>
                <a:latin typeface="Meiryo" pitchFamily="34" charset="0"/>
                <a:ea typeface="Meiryo" pitchFamily="34" charset="-122"/>
                <a:cs typeface="Meiryo" pitchFamily="34" charset="-120"/>
              </a:rPr>
              <a:t>結 果 ①</a:t>
            </a:r>
            <a:endParaRPr lang="en-US" sz="1050" dirty="0"/>
          </a:p>
        </p:txBody>
      </p:sp>
      <p:sp>
        <p:nvSpPr>
          <p:cNvPr id="5" name="Text 3"/>
          <p:cNvSpPr txBox="1"/>
          <p:nvPr/>
        </p:nvSpPr>
        <p:spPr>
          <a:xfrm>
            <a:off x="1225296" y="603504"/>
            <a:ext cx="10326319" cy="548640"/>
          </a:xfrm>
          <a:prstGeom prst="rect">
            <a:avLst/>
          </a:prstGeom>
          <a:noFill/>
          <a:ln/>
        </p:spPr>
        <p:txBody>
          <a:bodyPr wrap="square" lIns="0" tIns="0" rIns="0" bIns="0" rtlCol="0" anchor="ctr"/>
          <a:lstStyle/>
          <a:p>
            <a:pPr indent="0" marL="0">
              <a:buNone/>
            </a:pPr>
            <a:r>
              <a:rPr lang="en-US" sz="2600" b="1" dirty="0">
                <a:solidFill>
                  <a:srgbClr val="1A2B33"/>
                </a:solidFill>
                <a:latin typeface="Meiryo" pitchFamily="34" charset="0"/>
                <a:ea typeface="Meiryo" pitchFamily="34" charset="-122"/>
                <a:cs typeface="Meiryo" pitchFamily="34" charset="-120"/>
              </a:rPr>
              <a:t>IBの利用件数は増えていた</a:t>
            </a:r>
            <a:endParaRPr lang="en-US" sz="2600" dirty="0"/>
          </a:p>
        </p:txBody>
      </p:sp>
      <p:sp>
        <p:nvSpPr>
          <p:cNvPr id="6" name="Text 4"/>
          <p:cNvSpPr txBox="1"/>
          <p:nvPr/>
        </p:nvSpPr>
        <p:spPr>
          <a:xfrm>
            <a:off x="1225296" y="1170432"/>
            <a:ext cx="10326319" cy="347472"/>
          </a:xfrm>
          <a:prstGeom prst="rect">
            <a:avLst/>
          </a:prstGeom>
          <a:noFill/>
          <a:ln/>
        </p:spPr>
        <p:txBody>
          <a:bodyPr wrap="square" lIns="0" tIns="0" rIns="0" bIns="0" rtlCol="0" anchor="ctr"/>
          <a:lstStyle/>
          <a:p>
            <a:pPr indent="0" marL="0">
              <a:buNone/>
            </a:pPr>
            <a:r>
              <a:rPr lang="en-US" sz="1250" dirty="0">
                <a:solidFill>
                  <a:srgbClr val="8497A0"/>
                </a:solidFill>
                <a:latin typeface="Meiryo" pitchFamily="34" charset="0"/>
                <a:ea typeface="Meiryo" pitchFamily="34" charset="-122"/>
                <a:cs typeface="Meiryo" pitchFamily="34" charset="-120"/>
              </a:rPr>
              <a:t>まず、IBで行われた取引の件数を2つの期間で比較</a:t>
            </a:r>
            <a:endParaRPr lang="en-US" sz="1250" dirty="0"/>
          </a:p>
        </p:txBody>
      </p:sp>
      <p:sp>
        <p:nvSpPr>
          <p:cNvPr id="7" name="Text 5"/>
          <p:cNvSpPr txBox="1"/>
          <p:nvPr/>
        </p:nvSpPr>
        <p:spPr>
          <a:xfrm>
            <a:off x="11130991" y="6217920"/>
            <a:ext cx="548640" cy="256032"/>
          </a:xfrm>
          <a:prstGeom prst="rect">
            <a:avLst/>
          </a:prstGeom>
          <a:noFill/>
          <a:ln/>
        </p:spPr>
        <p:txBody>
          <a:bodyPr wrap="square" lIns="0" tIns="0" rIns="0" bIns="0" rtlCol="0" anchor="ctr"/>
          <a:lstStyle/>
          <a:p>
            <a:pPr algn="r" indent="0" marL="0">
              <a:buNone/>
            </a:pPr>
            <a:r>
              <a:rPr lang="en-US" sz="1000" spc="100" kern="0" dirty="0">
                <a:solidFill>
                  <a:srgbClr val="8497A0"/>
                </a:solidFill>
                <a:latin typeface="Meiryo" pitchFamily="34" charset="0"/>
                <a:ea typeface="Meiryo" pitchFamily="34" charset="-122"/>
                <a:cs typeface="Meiryo" pitchFamily="34" charset="-120"/>
              </a:rPr>
              <a:t>05</a:t>
            </a:r>
            <a:endParaRPr lang="en-US" sz="1000" dirty="0"/>
          </a:p>
        </p:txBody>
      </p:sp>
      <p:sp>
        <p:nvSpPr>
          <p:cNvPr id="8" name="Shape 6"/>
          <p:cNvSpPr/>
          <p:nvPr/>
        </p:nvSpPr>
        <p:spPr>
          <a:xfrm>
            <a:off x="640080" y="1874520"/>
            <a:ext cx="5989320" cy="3200400"/>
          </a:xfrm>
          <a:prstGeom prst="roundRect">
            <a:avLst>
              <a:gd name="adj" fmla="val 1429"/>
            </a:avLst>
          </a:prstGeom>
          <a:solidFill>
            <a:srgbClr val="F3F6F7"/>
          </a:solidFill>
          <a:ln w="15875">
            <a:solidFill>
              <a:srgbClr val="BFCCD1"/>
            </a:solidFill>
            <a:prstDash val="dash"/>
          </a:ln>
        </p:spPr>
      </p:sp>
      <p:sp>
        <p:nvSpPr>
          <p:cNvPr id="9" name="Text 7"/>
          <p:cNvSpPr txBox="1"/>
          <p:nvPr/>
        </p:nvSpPr>
        <p:spPr>
          <a:xfrm>
            <a:off x="640080" y="3072384"/>
            <a:ext cx="5989320" cy="310896"/>
          </a:xfrm>
          <a:prstGeom prst="rect">
            <a:avLst/>
          </a:prstGeom>
          <a:noFill/>
          <a:ln/>
        </p:spPr>
        <p:txBody>
          <a:bodyPr wrap="square" lIns="0" tIns="0" rIns="0" bIns="0" rtlCol="0" anchor="ctr"/>
          <a:lstStyle/>
          <a:p>
            <a:pPr algn="ctr" indent="0" marL="0">
              <a:buNone/>
            </a:pPr>
            <a:r>
              <a:rPr lang="en-US" sz="1300" b="1" dirty="0">
                <a:solidFill>
                  <a:srgbClr val="0F5A6B"/>
                </a:solidFill>
                <a:latin typeface="Meiryo" pitchFamily="34" charset="0"/>
                <a:ea typeface="Meiryo" pitchFamily="34" charset="-122"/>
                <a:cs typeface="Meiryo" pitchFamily="34" charset="-120"/>
              </a:rPr>
              <a:t>グラフ貼付エリア</a:t>
            </a:r>
            <a:endParaRPr lang="en-US" sz="1300" dirty="0"/>
          </a:p>
        </p:txBody>
      </p:sp>
      <p:sp>
        <p:nvSpPr>
          <p:cNvPr id="10" name="Text 8"/>
          <p:cNvSpPr txBox="1"/>
          <p:nvPr/>
        </p:nvSpPr>
        <p:spPr>
          <a:xfrm>
            <a:off x="914400" y="3438144"/>
            <a:ext cx="5440680" cy="731520"/>
          </a:xfrm>
          <a:prstGeom prst="rect">
            <a:avLst/>
          </a:prstGeom>
          <a:noFill/>
          <a:ln/>
        </p:spPr>
        <p:txBody>
          <a:bodyPr wrap="square" lIns="0" tIns="0" rIns="0" bIns="0" rtlCol="0" anchor="ctr"/>
          <a:lstStyle/>
          <a:p>
            <a:pPr algn="ctr" indent="0" marL="0">
              <a:lnSpc>
                <a:spcPts val="1700"/>
              </a:lnSpc>
              <a:buNone/>
            </a:pPr>
            <a:r>
              <a:rPr lang="en-US" sz="1100" dirty="0">
                <a:solidFill>
                  <a:srgbClr val="8497A0"/>
                </a:solidFill>
                <a:latin typeface="Meiryo" pitchFamily="34" charset="0"/>
                <a:ea typeface="Meiryo" pitchFamily="34" charset="-122"/>
                <a:cs typeface="Meiryo" pitchFamily="34" charset="-120"/>
              </a:rPr>
              <a:t>IBの利用件数（2025年4〜6月 / 2026年4〜6月）</a:t>
            </a:r>
            <a:endParaRPr lang="en-US" sz="1100" dirty="0"/>
          </a:p>
        </p:txBody>
      </p:sp>
      <p:sp>
        <p:nvSpPr>
          <p:cNvPr id="11" name="Shape 9"/>
          <p:cNvSpPr/>
          <p:nvPr/>
        </p:nvSpPr>
        <p:spPr>
          <a:xfrm>
            <a:off x="6967728" y="1874520"/>
            <a:ext cx="4581144" cy="960120"/>
          </a:xfrm>
          <a:prstGeom prst="roundRect">
            <a:avLst>
              <a:gd name="adj" fmla="val 4762"/>
            </a:avLst>
          </a:prstGeom>
          <a:solidFill>
            <a:srgbClr val="F8EBE1"/>
          </a:solidFill>
          <a:ln w="15875">
            <a:solidFill>
              <a:srgbClr val="D9A97F"/>
            </a:solidFill>
            <a:prstDash val="dash"/>
          </a:ln>
        </p:spPr>
      </p:sp>
      <p:sp>
        <p:nvSpPr>
          <p:cNvPr id="12" name="Text 10"/>
          <p:cNvSpPr txBox="1"/>
          <p:nvPr/>
        </p:nvSpPr>
        <p:spPr>
          <a:xfrm>
            <a:off x="7187184" y="2011680"/>
            <a:ext cx="4142232" cy="237744"/>
          </a:xfrm>
          <a:prstGeom prst="rect">
            <a:avLst/>
          </a:prstGeom>
          <a:noFill/>
          <a:ln/>
        </p:spPr>
        <p:txBody>
          <a:bodyPr wrap="square" lIns="0" tIns="0" rIns="0" bIns="0" rtlCol="0" anchor="ctr"/>
          <a:lstStyle/>
          <a:p>
            <a:pPr indent="0" marL="0">
              <a:buNone/>
            </a:pPr>
            <a:r>
              <a:rPr lang="en-US" sz="1050" b="1" spc="80" kern="0" dirty="0">
                <a:solidFill>
                  <a:srgbClr val="B4551F"/>
                </a:solidFill>
                <a:latin typeface="Meiryo" pitchFamily="34" charset="0"/>
                <a:ea typeface="Meiryo" pitchFamily="34" charset="-122"/>
                <a:cs typeface="Meiryo" pitchFamily="34" charset="-120"/>
              </a:rPr>
              <a:t>件 数</a:t>
            </a:r>
            <a:endParaRPr lang="en-US" sz="1050" dirty="0"/>
          </a:p>
        </p:txBody>
      </p:sp>
      <p:sp>
        <p:nvSpPr>
          <p:cNvPr id="13" name="Text 11"/>
          <p:cNvSpPr txBox="1"/>
          <p:nvPr/>
        </p:nvSpPr>
        <p:spPr>
          <a:xfrm>
            <a:off x="7187184" y="2276856"/>
            <a:ext cx="4142232" cy="429768"/>
          </a:xfrm>
          <a:prstGeom prst="rect">
            <a:avLst/>
          </a:prstGeom>
          <a:noFill/>
          <a:ln/>
        </p:spPr>
        <p:txBody>
          <a:bodyPr wrap="square" lIns="0" tIns="0" rIns="0" bIns="0" rtlCol="0" anchor="ctr"/>
          <a:lstStyle/>
          <a:p>
            <a:pPr indent="0" marL="0">
              <a:lnSpc>
                <a:spcPts val="1700"/>
              </a:lnSpc>
              <a:buNone/>
            </a:pPr>
            <a:r>
              <a:rPr lang="en-US" sz="1150" dirty="0">
                <a:solidFill>
                  <a:srgbClr val="A2795C"/>
                </a:solidFill>
                <a:latin typeface="Meiryo" pitchFamily="34" charset="0"/>
                <a:ea typeface="Meiryo" pitchFamily="34" charset="-122"/>
                <a:cs typeface="Meiryo" pitchFamily="34" charset="-120"/>
              </a:rPr>
              <a:t>2025年4〜6月 合計 ◯◯件 → 2026年4〜6月 合計 ◯◯件</a:t>
            </a:r>
            <a:endParaRPr lang="en-US" sz="1150" dirty="0"/>
          </a:p>
        </p:txBody>
      </p:sp>
      <p:sp>
        <p:nvSpPr>
          <p:cNvPr id="14" name="Shape 12"/>
          <p:cNvSpPr/>
          <p:nvPr/>
        </p:nvSpPr>
        <p:spPr>
          <a:xfrm>
            <a:off x="6967728" y="2999232"/>
            <a:ext cx="4581144" cy="960120"/>
          </a:xfrm>
          <a:prstGeom prst="roundRect">
            <a:avLst>
              <a:gd name="adj" fmla="val 4762"/>
            </a:avLst>
          </a:prstGeom>
          <a:solidFill>
            <a:srgbClr val="F8EBE1"/>
          </a:solidFill>
          <a:ln w="15875">
            <a:solidFill>
              <a:srgbClr val="D9A97F"/>
            </a:solidFill>
            <a:prstDash val="dash"/>
          </a:ln>
        </p:spPr>
      </p:sp>
      <p:sp>
        <p:nvSpPr>
          <p:cNvPr id="15" name="Text 13"/>
          <p:cNvSpPr txBox="1"/>
          <p:nvPr/>
        </p:nvSpPr>
        <p:spPr>
          <a:xfrm>
            <a:off x="7187184" y="3136392"/>
            <a:ext cx="4142232" cy="237744"/>
          </a:xfrm>
          <a:prstGeom prst="rect">
            <a:avLst/>
          </a:prstGeom>
          <a:noFill/>
          <a:ln/>
        </p:spPr>
        <p:txBody>
          <a:bodyPr wrap="square" lIns="0" tIns="0" rIns="0" bIns="0" rtlCol="0" anchor="ctr"/>
          <a:lstStyle/>
          <a:p>
            <a:pPr indent="0" marL="0">
              <a:buNone/>
            </a:pPr>
            <a:r>
              <a:rPr lang="en-US" sz="1050" b="1" spc="80" kern="0" dirty="0">
                <a:solidFill>
                  <a:srgbClr val="B4551F"/>
                </a:solidFill>
                <a:latin typeface="Meiryo" pitchFamily="34" charset="0"/>
                <a:ea typeface="Meiryo" pitchFamily="34" charset="-122"/>
                <a:cs typeface="Meiryo" pitchFamily="34" charset="-120"/>
              </a:rPr>
              <a:t>変 化</a:t>
            </a:r>
            <a:endParaRPr lang="en-US" sz="1050" dirty="0"/>
          </a:p>
        </p:txBody>
      </p:sp>
      <p:sp>
        <p:nvSpPr>
          <p:cNvPr id="16" name="Text 14"/>
          <p:cNvSpPr txBox="1"/>
          <p:nvPr/>
        </p:nvSpPr>
        <p:spPr>
          <a:xfrm>
            <a:off x="7187184" y="3401568"/>
            <a:ext cx="4142232" cy="429768"/>
          </a:xfrm>
          <a:prstGeom prst="rect">
            <a:avLst/>
          </a:prstGeom>
          <a:noFill/>
          <a:ln/>
        </p:spPr>
        <p:txBody>
          <a:bodyPr wrap="square" lIns="0" tIns="0" rIns="0" bIns="0" rtlCol="0" anchor="ctr"/>
          <a:lstStyle/>
          <a:p>
            <a:pPr indent="0" marL="0">
              <a:lnSpc>
                <a:spcPts val="1700"/>
              </a:lnSpc>
              <a:buNone/>
            </a:pPr>
            <a:r>
              <a:rPr lang="en-US" sz="1150" dirty="0">
                <a:solidFill>
                  <a:srgbClr val="A2795C"/>
                </a:solidFill>
                <a:latin typeface="Meiryo" pitchFamily="34" charset="0"/>
                <a:ea typeface="Meiryo" pitchFamily="34" charset="-122"/>
                <a:cs typeface="Meiryo" pitchFamily="34" charset="-120"/>
              </a:rPr>
              <a:t>1年間で ＋◯◯件（＋◯◯％）</a:t>
            </a:r>
            <a:endParaRPr lang="en-US" sz="1150" dirty="0"/>
          </a:p>
        </p:txBody>
      </p:sp>
      <p:sp>
        <p:nvSpPr>
          <p:cNvPr id="17" name="Shape 15"/>
          <p:cNvSpPr/>
          <p:nvPr/>
        </p:nvSpPr>
        <p:spPr>
          <a:xfrm>
            <a:off x="6967728" y="4123944"/>
            <a:ext cx="4581144" cy="950976"/>
          </a:xfrm>
          <a:prstGeom prst="roundRect">
            <a:avLst>
              <a:gd name="adj" fmla="val 4808"/>
            </a:avLst>
          </a:prstGeom>
          <a:solidFill>
            <a:srgbClr val="F8EBE1"/>
          </a:solidFill>
          <a:ln w="15875">
            <a:solidFill>
              <a:srgbClr val="D9A97F"/>
            </a:solidFill>
            <a:prstDash val="dash"/>
          </a:ln>
        </p:spPr>
      </p:sp>
      <p:sp>
        <p:nvSpPr>
          <p:cNvPr id="18" name="Text 16"/>
          <p:cNvSpPr txBox="1"/>
          <p:nvPr/>
        </p:nvSpPr>
        <p:spPr>
          <a:xfrm>
            <a:off x="7187184" y="4261104"/>
            <a:ext cx="4142232" cy="237744"/>
          </a:xfrm>
          <a:prstGeom prst="rect">
            <a:avLst/>
          </a:prstGeom>
          <a:noFill/>
          <a:ln/>
        </p:spPr>
        <p:txBody>
          <a:bodyPr wrap="square" lIns="0" tIns="0" rIns="0" bIns="0" rtlCol="0" anchor="ctr"/>
          <a:lstStyle/>
          <a:p>
            <a:pPr indent="0" marL="0">
              <a:buNone/>
            </a:pPr>
            <a:r>
              <a:rPr lang="en-US" sz="1050" b="1" spc="80" kern="0" dirty="0">
                <a:solidFill>
                  <a:srgbClr val="B4551F"/>
                </a:solidFill>
                <a:latin typeface="Meiryo" pitchFamily="34" charset="0"/>
                <a:ea typeface="Meiryo" pitchFamily="34" charset="-122"/>
                <a:cs typeface="Meiryo" pitchFamily="34" charset="-120"/>
              </a:rPr>
              <a:t>月 別 の 傾 向</a:t>
            </a:r>
            <a:endParaRPr lang="en-US" sz="1050" dirty="0"/>
          </a:p>
        </p:txBody>
      </p:sp>
      <p:sp>
        <p:nvSpPr>
          <p:cNvPr id="19" name="Text 17"/>
          <p:cNvSpPr txBox="1"/>
          <p:nvPr/>
        </p:nvSpPr>
        <p:spPr>
          <a:xfrm>
            <a:off x="7187184" y="4526280"/>
            <a:ext cx="4142232" cy="420624"/>
          </a:xfrm>
          <a:prstGeom prst="rect">
            <a:avLst/>
          </a:prstGeom>
          <a:noFill/>
          <a:ln/>
        </p:spPr>
        <p:txBody>
          <a:bodyPr wrap="square" lIns="0" tIns="0" rIns="0" bIns="0" rtlCol="0" anchor="ctr"/>
          <a:lstStyle/>
          <a:p>
            <a:pPr indent="0" marL="0">
              <a:lnSpc>
                <a:spcPts val="1700"/>
              </a:lnSpc>
              <a:buNone/>
            </a:pPr>
            <a:r>
              <a:rPr lang="en-US" sz="1150" dirty="0">
                <a:solidFill>
                  <a:srgbClr val="A2795C"/>
                </a:solidFill>
                <a:latin typeface="Meiryo" pitchFamily="34" charset="0"/>
                <a:ea typeface="Meiryo" pitchFamily="34" charset="-122"/>
                <a:cs typeface="Meiryo" pitchFamily="34" charset="-120"/>
              </a:rPr>
              <a:t>4月・5月・6月それぞれ増えているか／特に伸びた月はどこか</a:t>
            </a:r>
            <a:endParaRPr lang="en-US" sz="1150" dirty="0"/>
          </a:p>
        </p:txBody>
      </p:sp>
      <p:sp>
        <p:nvSpPr>
          <p:cNvPr id="20" name="Shape 18"/>
          <p:cNvSpPr/>
          <p:nvPr/>
        </p:nvSpPr>
        <p:spPr>
          <a:xfrm>
            <a:off x="640080" y="5349240"/>
            <a:ext cx="10911535" cy="621792"/>
          </a:xfrm>
          <a:prstGeom prst="roundRect">
            <a:avLst>
              <a:gd name="adj" fmla="val 7353"/>
            </a:avLst>
          </a:prstGeom>
          <a:solidFill>
            <a:srgbClr val="E2EEF0"/>
          </a:solidFill>
          <a:ln w="12700">
            <a:solidFill>
              <a:srgbClr val="E2EEF0"/>
            </a:solidFill>
            <a:prstDash val="solid"/>
          </a:ln>
        </p:spPr>
      </p:sp>
      <p:sp>
        <p:nvSpPr>
          <p:cNvPr id="21" name="Text 19"/>
          <p:cNvSpPr txBox="1"/>
          <p:nvPr/>
        </p:nvSpPr>
        <p:spPr>
          <a:xfrm>
            <a:off x="914400" y="5349240"/>
            <a:ext cx="10362895" cy="621792"/>
          </a:xfrm>
          <a:prstGeom prst="rect">
            <a:avLst/>
          </a:prstGeom>
          <a:noFill/>
          <a:ln/>
        </p:spPr>
        <p:txBody>
          <a:bodyPr wrap="square" lIns="0" tIns="0" rIns="0" bIns="0" rtlCol="0" anchor="ctr"/>
          <a:lstStyle/>
          <a:p>
            <a:pPr algn="ctr" indent="0" marL="0">
              <a:buNone/>
            </a:pPr>
            <a:r>
              <a:rPr lang="en-US" sz="1400" b="1" dirty="0">
                <a:solidFill>
                  <a:srgbClr val="0F5A6B"/>
                </a:solidFill>
                <a:latin typeface="Meiryo" pitchFamily="34" charset="0"/>
                <a:ea typeface="Meiryo" pitchFamily="34" charset="-122"/>
                <a:cs typeface="Meiryo" pitchFamily="34" charset="-120"/>
              </a:rPr>
              <a:t>IBの利用件数は、1年間で増加していた</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02336" cy="402336"/>
          </a:xfrm>
          <a:prstGeom prst="ellipse">
            <a:avLst/>
          </a:prstGeom>
          <a:solidFill>
            <a:srgbClr val="0F5A6B"/>
          </a:solidFill>
          <a:ln w="12700">
            <a:solidFill>
              <a:srgbClr val="0F5A6B"/>
            </a:solidFill>
            <a:prstDash val="solid"/>
          </a:ln>
        </p:spPr>
      </p:sp>
      <p:sp>
        <p:nvSpPr>
          <p:cNvPr id="3" name="Text 1"/>
          <p:cNvSpPr txBox="1"/>
          <p:nvPr/>
        </p:nvSpPr>
        <p:spPr>
          <a:xfrm>
            <a:off x="640080" y="56692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06</a:t>
            </a:r>
            <a:endParaRPr lang="en-US" sz="1150" dirty="0"/>
          </a:p>
        </p:txBody>
      </p:sp>
      <p:sp>
        <p:nvSpPr>
          <p:cNvPr id="4" name="Text 2"/>
          <p:cNvSpPr txBox="1"/>
          <p:nvPr/>
        </p:nvSpPr>
        <p:spPr>
          <a:xfrm>
            <a:off x="1225296" y="402336"/>
            <a:ext cx="6400800" cy="228600"/>
          </a:xfrm>
          <a:prstGeom prst="rect">
            <a:avLst/>
          </a:prstGeom>
          <a:noFill/>
          <a:ln/>
        </p:spPr>
        <p:txBody>
          <a:bodyPr wrap="square" lIns="0" tIns="0" rIns="0" bIns="0" rtlCol="0" anchor="ctr"/>
          <a:lstStyle/>
          <a:p>
            <a:pPr indent="0" marL="0">
              <a:buNone/>
            </a:pPr>
            <a:r>
              <a:rPr lang="en-US" sz="1050" b="1" spc="150" kern="0" dirty="0">
                <a:solidFill>
                  <a:srgbClr val="0F5A6B"/>
                </a:solidFill>
                <a:latin typeface="Meiryo" pitchFamily="34" charset="0"/>
                <a:ea typeface="Meiryo" pitchFamily="34" charset="-122"/>
                <a:cs typeface="Meiryo" pitchFamily="34" charset="-120"/>
              </a:rPr>
              <a:t>結 果 ②</a:t>
            </a:r>
            <a:endParaRPr lang="en-US" sz="1050" dirty="0"/>
          </a:p>
        </p:txBody>
      </p:sp>
      <p:sp>
        <p:nvSpPr>
          <p:cNvPr id="5" name="Text 3"/>
          <p:cNvSpPr txBox="1"/>
          <p:nvPr/>
        </p:nvSpPr>
        <p:spPr>
          <a:xfrm>
            <a:off x="1225296" y="603504"/>
            <a:ext cx="10326319" cy="548640"/>
          </a:xfrm>
          <a:prstGeom prst="rect">
            <a:avLst/>
          </a:prstGeom>
          <a:noFill/>
          <a:ln/>
        </p:spPr>
        <p:txBody>
          <a:bodyPr wrap="square" lIns="0" tIns="0" rIns="0" bIns="0" rtlCol="0" anchor="ctr"/>
          <a:lstStyle/>
          <a:p>
            <a:pPr indent="0" marL="0">
              <a:buNone/>
            </a:pPr>
            <a:r>
              <a:rPr lang="en-US" sz="2600" b="1" dirty="0">
                <a:solidFill>
                  <a:srgbClr val="1A2B33"/>
                </a:solidFill>
                <a:latin typeface="Meiryo" pitchFamily="34" charset="0"/>
                <a:ea typeface="Meiryo" pitchFamily="34" charset="-122"/>
                <a:cs typeface="Meiryo" pitchFamily="34" charset="-120"/>
              </a:rPr>
              <a:t>ATMのうち、IBでもできる取引は減っていた</a:t>
            </a:r>
            <a:endParaRPr lang="en-US" sz="2600" dirty="0"/>
          </a:p>
        </p:txBody>
      </p:sp>
      <p:sp>
        <p:nvSpPr>
          <p:cNvPr id="6" name="Text 4"/>
          <p:cNvSpPr txBox="1"/>
          <p:nvPr/>
        </p:nvSpPr>
        <p:spPr>
          <a:xfrm>
            <a:off x="1225296" y="1170432"/>
            <a:ext cx="10326319" cy="347472"/>
          </a:xfrm>
          <a:prstGeom prst="rect">
            <a:avLst/>
          </a:prstGeom>
          <a:noFill/>
          <a:ln/>
        </p:spPr>
        <p:txBody>
          <a:bodyPr wrap="square" lIns="0" tIns="0" rIns="0" bIns="0" rtlCol="0" anchor="ctr"/>
          <a:lstStyle/>
          <a:p>
            <a:pPr indent="0" marL="0">
              <a:buNone/>
            </a:pPr>
            <a:r>
              <a:rPr lang="en-US" sz="1250" dirty="0">
                <a:solidFill>
                  <a:srgbClr val="8497A0"/>
                </a:solidFill>
                <a:latin typeface="Meiryo" pitchFamily="34" charset="0"/>
                <a:ea typeface="Meiryo" pitchFamily="34" charset="-122"/>
                <a:cs typeface="Meiryo" pitchFamily="34" charset="-120"/>
              </a:rPr>
              <a:t>増加の理由が「取引全体の増加」ではないことを確かめるため、ATM側も確認</a:t>
            </a:r>
            <a:endParaRPr lang="en-US" sz="1250" dirty="0"/>
          </a:p>
        </p:txBody>
      </p:sp>
      <p:sp>
        <p:nvSpPr>
          <p:cNvPr id="7" name="Text 5"/>
          <p:cNvSpPr txBox="1"/>
          <p:nvPr/>
        </p:nvSpPr>
        <p:spPr>
          <a:xfrm>
            <a:off x="11130991" y="6217920"/>
            <a:ext cx="548640" cy="256032"/>
          </a:xfrm>
          <a:prstGeom prst="rect">
            <a:avLst/>
          </a:prstGeom>
          <a:noFill/>
          <a:ln/>
        </p:spPr>
        <p:txBody>
          <a:bodyPr wrap="square" lIns="0" tIns="0" rIns="0" bIns="0" rtlCol="0" anchor="ctr"/>
          <a:lstStyle/>
          <a:p>
            <a:pPr algn="r" indent="0" marL="0">
              <a:buNone/>
            </a:pPr>
            <a:r>
              <a:rPr lang="en-US" sz="1000" spc="100" kern="0" dirty="0">
                <a:solidFill>
                  <a:srgbClr val="8497A0"/>
                </a:solidFill>
                <a:latin typeface="Meiryo" pitchFamily="34" charset="0"/>
                <a:ea typeface="Meiryo" pitchFamily="34" charset="-122"/>
                <a:cs typeface="Meiryo" pitchFamily="34" charset="-120"/>
              </a:rPr>
              <a:t>06</a:t>
            </a:r>
            <a:endParaRPr lang="en-US" sz="1000" dirty="0"/>
          </a:p>
        </p:txBody>
      </p:sp>
      <p:sp>
        <p:nvSpPr>
          <p:cNvPr id="8" name="Shape 6"/>
          <p:cNvSpPr/>
          <p:nvPr/>
        </p:nvSpPr>
        <p:spPr>
          <a:xfrm>
            <a:off x="640080" y="1874520"/>
            <a:ext cx="5989320" cy="3200400"/>
          </a:xfrm>
          <a:prstGeom prst="roundRect">
            <a:avLst>
              <a:gd name="adj" fmla="val 1429"/>
            </a:avLst>
          </a:prstGeom>
          <a:solidFill>
            <a:srgbClr val="F3F6F7"/>
          </a:solidFill>
          <a:ln w="15875">
            <a:solidFill>
              <a:srgbClr val="BFCCD1"/>
            </a:solidFill>
            <a:prstDash val="dash"/>
          </a:ln>
        </p:spPr>
      </p:sp>
      <p:sp>
        <p:nvSpPr>
          <p:cNvPr id="9" name="Text 7"/>
          <p:cNvSpPr txBox="1"/>
          <p:nvPr/>
        </p:nvSpPr>
        <p:spPr>
          <a:xfrm>
            <a:off x="640080" y="3072384"/>
            <a:ext cx="5989320" cy="310896"/>
          </a:xfrm>
          <a:prstGeom prst="rect">
            <a:avLst/>
          </a:prstGeom>
          <a:noFill/>
          <a:ln/>
        </p:spPr>
        <p:txBody>
          <a:bodyPr wrap="square" lIns="0" tIns="0" rIns="0" bIns="0" rtlCol="0" anchor="ctr"/>
          <a:lstStyle/>
          <a:p>
            <a:pPr algn="ctr" indent="0" marL="0">
              <a:buNone/>
            </a:pPr>
            <a:r>
              <a:rPr lang="en-US" sz="1300" b="1" dirty="0">
                <a:solidFill>
                  <a:srgbClr val="0F5A6B"/>
                </a:solidFill>
                <a:latin typeface="Meiryo" pitchFamily="34" charset="0"/>
                <a:ea typeface="Meiryo" pitchFamily="34" charset="-122"/>
                <a:cs typeface="Meiryo" pitchFamily="34" charset="-120"/>
              </a:rPr>
              <a:t>グラフ貼付エリア</a:t>
            </a:r>
            <a:endParaRPr lang="en-US" sz="1300" dirty="0"/>
          </a:p>
        </p:txBody>
      </p:sp>
      <p:sp>
        <p:nvSpPr>
          <p:cNvPr id="10" name="Text 8"/>
          <p:cNvSpPr txBox="1"/>
          <p:nvPr/>
        </p:nvSpPr>
        <p:spPr>
          <a:xfrm>
            <a:off x="914400" y="3438144"/>
            <a:ext cx="5440680" cy="731520"/>
          </a:xfrm>
          <a:prstGeom prst="rect">
            <a:avLst/>
          </a:prstGeom>
          <a:noFill/>
          <a:ln/>
        </p:spPr>
        <p:txBody>
          <a:bodyPr wrap="square" lIns="0" tIns="0" rIns="0" bIns="0" rtlCol="0" anchor="ctr"/>
          <a:lstStyle/>
          <a:p>
            <a:pPr algn="ctr" indent="0" marL="0">
              <a:lnSpc>
                <a:spcPts val="1700"/>
              </a:lnSpc>
              <a:buNone/>
            </a:pPr>
            <a:r>
              <a:rPr lang="en-US" sz="1100" dirty="0">
                <a:solidFill>
                  <a:srgbClr val="8497A0"/>
                </a:solidFill>
                <a:latin typeface="Meiryo" pitchFamily="34" charset="0"/>
                <a:ea typeface="Meiryo" pitchFamily="34" charset="-122"/>
                <a:cs typeface="Meiryo" pitchFamily="34" charset="-120"/>
              </a:rPr>
              <a:t>ATMでのIB代替可能な取引の件数（2025年4〜6月 / 2026年4〜6月）</a:t>
            </a:r>
            <a:endParaRPr lang="en-US" sz="1100" dirty="0"/>
          </a:p>
        </p:txBody>
      </p:sp>
      <p:sp>
        <p:nvSpPr>
          <p:cNvPr id="11" name="Shape 9"/>
          <p:cNvSpPr/>
          <p:nvPr/>
        </p:nvSpPr>
        <p:spPr>
          <a:xfrm>
            <a:off x="6967728" y="1874520"/>
            <a:ext cx="4581144" cy="960120"/>
          </a:xfrm>
          <a:prstGeom prst="roundRect">
            <a:avLst>
              <a:gd name="adj" fmla="val 4762"/>
            </a:avLst>
          </a:prstGeom>
          <a:solidFill>
            <a:srgbClr val="F3F6F7"/>
          </a:solidFill>
          <a:ln w="9525">
            <a:solidFill>
              <a:srgbClr val="F3F6F7"/>
            </a:solidFill>
            <a:prstDash val="solid"/>
          </a:ln>
        </p:spPr>
      </p:sp>
      <p:sp>
        <p:nvSpPr>
          <p:cNvPr id="12" name="Text 10"/>
          <p:cNvSpPr txBox="1"/>
          <p:nvPr/>
        </p:nvSpPr>
        <p:spPr>
          <a:xfrm>
            <a:off x="7223760" y="2011680"/>
            <a:ext cx="1828800" cy="219456"/>
          </a:xfrm>
          <a:prstGeom prst="rect">
            <a:avLst/>
          </a:prstGeom>
          <a:noFill/>
          <a:ln/>
        </p:spPr>
        <p:txBody>
          <a:bodyPr wrap="square" lIns="0" tIns="0" rIns="0" bIns="0" rtlCol="0" anchor="ctr"/>
          <a:lstStyle/>
          <a:p>
            <a:pPr indent="0" marL="0">
              <a:buNone/>
            </a:pPr>
            <a:r>
              <a:rPr lang="en-US" sz="1000" b="1" spc="100" kern="0" dirty="0">
                <a:solidFill>
                  <a:srgbClr val="8497A0"/>
                </a:solidFill>
                <a:latin typeface="Meiryo" pitchFamily="34" charset="0"/>
                <a:ea typeface="Meiryo" pitchFamily="34" charset="-122"/>
                <a:cs typeface="Meiryo" pitchFamily="34" charset="-120"/>
              </a:rPr>
              <a:t>対 象</a:t>
            </a:r>
            <a:endParaRPr lang="en-US" sz="1000" dirty="0"/>
          </a:p>
        </p:txBody>
      </p:sp>
      <p:sp>
        <p:nvSpPr>
          <p:cNvPr id="13" name="Text 11"/>
          <p:cNvSpPr txBox="1"/>
          <p:nvPr/>
        </p:nvSpPr>
        <p:spPr>
          <a:xfrm>
            <a:off x="7223760" y="2249424"/>
            <a:ext cx="4069080" cy="502920"/>
          </a:xfrm>
          <a:prstGeom prst="rect">
            <a:avLst/>
          </a:prstGeom>
          <a:noFill/>
          <a:ln/>
        </p:spPr>
        <p:txBody>
          <a:bodyPr wrap="square" lIns="0" tIns="0" rIns="0" bIns="0" rtlCol="0" anchor="ctr"/>
          <a:lstStyle/>
          <a:p>
            <a:pPr indent="0" marL="0">
              <a:lnSpc>
                <a:spcPts val="1700"/>
              </a:lnSpc>
              <a:buNone/>
            </a:pPr>
            <a:r>
              <a:rPr lang="en-US" sz="1200" dirty="0">
                <a:solidFill>
                  <a:srgbClr val="1A2B33"/>
                </a:solidFill>
                <a:latin typeface="Meiryo" pitchFamily="34" charset="0"/>
                <a:ea typeface="Meiryo" pitchFamily="34" charset="-122"/>
                <a:cs typeface="Meiryo" pitchFamily="34" charset="-120"/>
              </a:rPr>
              <a:t>ATMでの取引のうち、IBでも行えるもの</a:t>
            </a:r>
            <a:endParaRPr lang="en-US" sz="1200" dirty="0"/>
          </a:p>
          <a:p>
            <a:pPr indent="0" marL="0">
              <a:lnSpc>
                <a:spcPts val="1700"/>
              </a:lnSpc>
              <a:buNone/>
            </a:pPr>
            <a:r>
              <a:rPr lang="en-US" sz="1200" dirty="0">
                <a:solidFill>
                  <a:srgbClr val="1A2B33"/>
                </a:solidFill>
                <a:latin typeface="Meiryo" pitchFamily="34" charset="0"/>
                <a:ea typeface="Meiryo" pitchFamily="34" charset="-122"/>
                <a:cs typeface="Meiryo" pitchFamily="34" charset="-120"/>
              </a:rPr>
              <a:t>（振込・振替 など）</a:t>
            </a:r>
            <a:endParaRPr lang="en-US" sz="1200" dirty="0"/>
          </a:p>
        </p:txBody>
      </p:sp>
      <p:sp>
        <p:nvSpPr>
          <p:cNvPr id="14" name="Shape 12"/>
          <p:cNvSpPr/>
          <p:nvPr/>
        </p:nvSpPr>
        <p:spPr>
          <a:xfrm>
            <a:off x="6967728" y="2999232"/>
            <a:ext cx="4581144" cy="960120"/>
          </a:xfrm>
          <a:prstGeom prst="roundRect">
            <a:avLst>
              <a:gd name="adj" fmla="val 4762"/>
            </a:avLst>
          </a:prstGeom>
          <a:solidFill>
            <a:srgbClr val="F8EBE1"/>
          </a:solidFill>
          <a:ln w="15875">
            <a:solidFill>
              <a:srgbClr val="D9A97F"/>
            </a:solidFill>
            <a:prstDash val="dash"/>
          </a:ln>
        </p:spPr>
      </p:sp>
      <p:sp>
        <p:nvSpPr>
          <p:cNvPr id="15" name="Text 13"/>
          <p:cNvSpPr txBox="1"/>
          <p:nvPr/>
        </p:nvSpPr>
        <p:spPr>
          <a:xfrm>
            <a:off x="7187184" y="3136392"/>
            <a:ext cx="4142232" cy="237744"/>
          </a:xfrm>
          <a:prstGeom prst="rect">
            <a:avLst/>
          </a:prstGeom>
          <a:noFill/>
          <a:ln/>
        </p:spPr>
        <p:txBody>
          <a:bodyPr wrap="square" lIns="0" tIns="0" rIns="0" bIns="0" rtlCol="0" anchor="ctr"/>
          <a:lstStyle/>
          <a:p>
            <a:pPr indent="0" marL="0">
              <a:buNone/>
            </a:pPr>
            <a:r>
              <a:rPr lang="en-US" sz="1050" b="1" spc="80" kern="0" dirty="0">
                <a:solidFill>
                  <a:srgbClr val="B4551F"/>
                </a:solidFill>
                <a:latin typeface="Meiryo" pitchFamily="34" charset="0"/>
                <a:ea typeface="Meiryo" pitchFamily="34" charset="-122"/>
                <a:cs typeface="Meiryo" pitchFamily="34" charset="-120"/>
              </a:rPr>
              <a:t>件 数</a:t>
            </a:r>
            <a:endParaRPr lang="en-US" sz="1050" dirty="0"/>
          </a:p>
        </p:txBody>
      </p:sp>
      <p:sp>
        <p:nvSpPr>
          <p:cNvPr id="16" name="Text 14"/>
          <p:cNvSpPr txBox="1"/>
          <p:nvPr/>
        </p:nvSpPr>
        <p:spPr>
          <a:xfrm>
            <a:off x="7187184" y="3401568"/>
            <a:ext cx="4142232" cy="429768"/>
          </a:xfrm>
          <a:prstGeom prst="rect">
            <a:avLst/>
          </a:prstGeom>
          <a:noFill/>
          <a:ln/>
        </p:spPr>
        <p:txBody>
          <a:bodyPr wrap="square" lIns="0" tIns="0" rIns="0" bIns="0" rtlCol="0" anchor="ctr"/>
          <a:lstStyle/>
          <a:p>
            <a:pPr indent="0" marL="0">
              <a:lnSpc>
                <a:spcPts val="1700"/>
              </a:lnSpc>
              <a:buNone/>
            </a:pPr>
            <a:r>
              <a:rPr lang="en-US" sz="1150" dirty="0">
                <a:solidFill>
                  <a:srgbClr val="A2795C"/>
                </a:solidFill>
                <a:latin typeface="Meiryo" pitchFamily="34" charset="0"/>
                <a:ea typeface="Meiryo" pitchFamily="34" charset="-122"/>
                <a:cs typeface="Meiryo" pitchFamily="34" charset="-120"/>
              </a:rPr>
              <a:t>2025年4〜6月 合計 ◯◯件 → 2026年4〜6月 合計 ◯◯件</a:t>
            </a:r>
            <a:endParaRPr lang="en-US" sz="1150" dirty="0"/>
          </a:p>
        </p:txBody>
      </p:sp>
      <p:sp>
        <p:nvSpPr>
          <p:cNvPr id="17" name="Shape 15"/>
          <p:cNvSpPr/>
          <p:nvPr/>
        </p:nvSpPr>
        <p:spPr>
          <a:xfrm>
            <a:off x="6967728" y="4123944"/>
            <a:ext cx="4581144" cy="950976"/>
          </a:xfrm>
          <a:prstGeom prst="roundRect">
            <a:avLst>
              <a:gd name="adj" fmla="val 4808"/>
            </a:avLst>
          </a:prstGeom>
          <a:solidFill>
            <a:srgbClr val="F8EBE1"/>
          </a:solidFill>
          <a:ln w="15875">
            <a:solidFill>
              <a:srgbClr val="D9A97F"/>
            </a:solidFill>
            <a:prstDash val="dash"/>
          </a:ln>
        </p:spPr>
      </p:sp>
      <p:sp>
        <p:nvSpPr>
          <p:cNvPr id="18" name="Text 16"/>
          <p:cNvSpPr txBox="1"/>
          <p:nvPr/>
        </p:nvSpPr>
        <p:spPr>
          <a:xfrm>
            <a:off x="7187184" y="4261104"/>
            <a:ext cx="4142232" cy="237744"/>
          </a:xfrm>
          <a:prstGeom prst="rect">
            <a:avLst/>
          </a:prstGeom>
          <a:noFill/>
          <a:ln/>
        </p:spPr>
        <p:txBody>
          <a:bodyPr wrap="square" lIns="0" tIns="0" rIns="0" bIns="0" rtlCol="0" anchor="ctr"/>
          <a:lstStyle/>
          <a:p>
            <a:pPr indent="0" marL="0">
              <a:buNone/>
            </a:pPr>
            <a:r>
              <a:rPr lang="en-US" sz="1050" b="1" spc="80" kern="0" dirty="0">
                <a:solidFill>
                  <a:srgbClr val="B4551F"/>
                </a:solidFill>
                <a:latin typeface="Meiryo" pitchFamily="34" charset="0"/>
                <a:ea typeface="Meiryo" pitchFamily="34" charset="-122"/>
                <a:cs typeface="Meiryo" pitchFamily="34" charset="-120"/>
              </a:rPr>
              <a:t>変 化</a:t>
            </a:r>
            <a:endParaRPr lang="en-US" sz="1050" dirty="0"/>
          </a:p>
        </p:txBody>
      </p:sp>
      <p:sp>
        <p:nvSpPr>
          <p:cNvPr id="19" name="Text 17"/>
          <p:cNvSpPr txBox="1"/>
          <p:nvPr/>
        </p:nvSpPr>
        <p:spPr>
          <a:xfrm>
            <a:off x="7187184" y="4526280"/>
            <a:ext cx="4142232" cy="420624"/>
          </a:xfrm>
          <a:prstGeom prst="rect">
            <a:avLst/>
          </a:prstGeom>
          <a:noFill/>
          <a:ln/>
        </p:spPr>
        <p:txBody>
          <a:bodyPr wrap="square" lIns="0" tIns="0" rIns="0" bIns="0" rtlCol="0" anchor="ctr"/>
          <a:lstStyle/>
          <a:p>
            <a:pPr indent="0" marL="0">
              <a:lnSpc>
                <a:spcPts val="1700"/>
              </a:lnSpc>
              <a:buNone/>
            </a:pPr>
            <a:r>
              <a:rPr lang="en-US" sz="1150" dirty="0">
                <a:solidFill>
                  <a:srgbClr val="A2795C"/>
                </a:solidFill>
                <a:latin typeface="Meiryo" pitchFamily="34" charset="0"/>
                <a:ea typeface="Meiryo" pitchFamily="34" charset="-122"/>
                <a:cs typeface="Meiryo" pitchFamily="34" charset="-120"/>
              </a:rPr>
              <a:t>1年間で −◯◯件（−◯◯％）</a:t>
            </a:r>
            <a:endParaRPr lang="en-US" sz="1150" dirty="0"/>
          </a:p>
        </p:txBody>
      </p:sp>
      <p:sp>
        <p:nvSpPr>
          <p:cNvPr id="20" name="Shape 18"/>
          <p:cNvSpPr/>
          <p:nvPr/>
        </p:nvSpPr>
        <p:spPr>
          <a:xfrm>
            <a:off x="640080" y="5349240"/>
            <a:ext cx="10911535" cy="621792"/>
          </a:xfrm>
          <a:prstGeom prst="roundRect">
            <a:avLst>
              <a:gd name="adj" fmla="val 7353"/>
            </a:avLst>
          </a:prstGeom>
          <a:solidFill>
            <a:srgbClr val="E2EEF0"/>
          </a:solidFill>
          <a:ln w="12700">
            <a:solidFill>
              <a:srgbClr val="E2EEF0"/>
            </a:solidFill>
            <a:prstDash val="solid"/>
          </a:ln>
        </p:spPr>
      </p:sp>
      <p:sp>
        <p:nvSpPr>
          <p:cNvPr id="21" name="Text 19"/>
          <p:cNvSpPr txBox="1"/>
          <p:nvPr/>
        </p:nvSpPr>
        <p:spPr>
          <a:xfrm>
            <a:off x="914400" y="5349240"/>
            <a:ext cx="10362895" cy="621792"/>
          </a:xfrm>
          <a:prstGeom prst="rect">
            <a:avLst/>
          </a:prstGeom>
          <a:noFill/>
          <a:ln/>
        </p:spPr>
        <p:txBody>
          <a:bodyPr wrap="square" lIns="0" tIns="0" rIns="0" bIns="0" rtlCol="0" anchor="ctr"/>
          <a:lstStyle/>
          <a:p>
            <a:pPr algn="ctr" indent="0" marL="0">
              <a:buNone/>
            </a:pPr>
            <a:r>
              <a:rPr lang="en-US" sz="1400" b="1" dirty="0">
                <a:solidFill>
                  <a:srgbClr val="0F5A6B"/>
                </a:solidFill>
                <a:latin typeface="Meiryo" pitchFamily="34" charset="0"/>
                <a:ea typeface="Meiryo" pitchFamily="34" charset="-122"/>
                <a:cs typeface="Meiryo" pitchFamily="34" charset="-120"/>
              </a:rPr>
              <a:t>IBは増え、ATM側は減っている　→　同じ取引がIBへ移りつつあると読める</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02336" cy="402336"/>
          </a:xfrm>
          <a:prstGeom prst="ellipse">
            <a:avLst/>
          </a:prstGeom>
          <a:solidFill>
            <a:srgbClr val="0F5A6B"/>
          </a:solidFill>
          <a:ln w="12700">
            <a:solidFill>
              <a:srgbClr val="0F5A6B"/>
            </a:solidFill>
            <a:prstDash val="solid"/>
          </a:ln>
        </p:spPr>
      </p:sp>
      <p:sp>
        <p:nvSpPr>
          <p:cNvPr id="3" name="Text 1"/>
          <p:cNvSpPr txBox="1"/>
          <p:nvPr/>
        </p:nvSpPr>
        <p:spPr>
          <a:xfrm>
            <a:off x="640080" y="56692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07</a:t>
            </a:r>
            <a:endParaRPr lang="en-US" sz="1150" dirty="0"/>
          </a:p>
        </p:txBody>
      </p:sp>
      <p:sp>
        <p:nvSpPr>
          <p:cNvPr id="4" name="Text 2"/>
          <p:cNvSpPr txBox="1"/>
          <p:nvPr/>
        </p:nvSpPr>
        <p:spPr>
          <a:xfrm>
            <a:off x="1225296" y="402336"/>
            <a:ext cx="6400800" cy="228600"/>
          </a:xfrm>
          <a:prstGeom prst="rect">
            <a:avLst/>
          </a:prstGeom>
          <a:noFill/>
          <a:ln/>
        </p:spPr>
        <p:txBody>
          <a:bodyPr wrap="square" lIns="0" tIns="0" rIns="0" bIns="0" rtlCol="0" anchor="ctr"/>
          <a:lstStyle/>
          <a:p>
            <a:pPr indent="0" marL="0">
              <a:buNone/>
            </a:pPr>
            <a:r>
              <a:rPr lang="en-US" sz="1050" b="1" spc="150" kern="0" dirty="0">
                <a:solidFill>
                  <a:srgbClr val="0F5A6B"/>
                </a:solidFill>
                <a:latin typeface="Meiryo" pitchFamily="34" charset="0"/>
                <a:ea typeface="Meiryo" pitchFamily="34" charset="-122"/>
                <a:cs typeface="Meiryo" pitchFamily="34" charset="-120"/>
              </a:rPr>
              <a:t>深 掘 り</a:t>
            </a:r>
            <a:endParaRPr lang="en-US" sz="1050" dirty="0"/>
          </a:p>
        </p:txBody>
      </p:sp>
      <p:sp>
        <p:nvSpPr>
          <p:cNvPr id="5" name="Text 3"/>
          <p:cNvSpPr txBox="1"/>
          <p:nvPr/>
        </p:nvSpPr>
        <p:spPr>
          <a:xfrm>
            <a:off x="1225296" y="603504"/>
            <a:ext cx="10326319" cy="548640"/>
          </a:xfrm>
          <a:prstGeom prst="rect">
            <a:avLst/>
          </a:prstGeom>
          <a:noFill/>
          <a:ln/>
        </p:spPr>
        <p:txBody>
          <a:bodyPr wrap="square" lIns="0" tIns="0" rIns="0" bIns="0" rtlCol="0" anchor="ctr"/>
          <a:lstStyle/>
          <a:p>
            <a:pPr indent="0" marL="0">
              <a:buNone/>
            </a:pPr>
            <a:r>
              <a:rPr lang="en-US" sz="2600" b="1" dirty="0">
                <a:solidFill>
                  <a:srgbClr val="1A2B33"/>
                </a:solidFill>
                <a:latin typeface="Meiryo" pitchFamily="34" charset="0"/>
                <a:ea typeface="Meiryo" pitchFamily="34" charset="-122"/>
                <a:cs typeface="Meiryo" pitchFamily="34" charset="-120"/>
              </a:rPr>
              <a:t>では、どの年代でIBの利用が増えたのか</a:t>
            </a:r>
            <a:endParaRPr lang="en-US" sz="2600" dirty="0"/>
          </a:p>
        </p:txBody>
      </p:sp>
      <p:sp>
        <p:nvSpPr>
          <p:cNvPr id="6" name="Text 4"/>
          <p:cNvSpPr txBox="1"/>
          <p:nvPr/>
        </p:nvSpPr>
        <p:spPr>
          <a:xfrm>
            <a:off x="1225296" y="1170432"/>
            <a:ext cx="10326319" cy="347472"/>
          </a:xfrm>
          <a:prstGeom prst="rect">
            <a:avLst/>
          </a:prstGeom>
          <a:noFill/>
          <a:ln/>
        </p:spPr>
        <p:txBody>
          <a:bodyPr wrap="square" lIns="0" tIns="0" rIns="0" bIns="0" rtlCol="0" anchor="ctr"/>
          <a:lstStyle/>
          <a:p>
            <a:pPr indent="0" marL="0">
              <a:buNone/>
            </a:pPr>
            <a:r>
              <a:rPr lang="en-US" sz="1250" dirty="0">
                <a:solidFill>
                  <a:srgbClr val="8497A0"/>
                </a:solidFill>
                <a:latin typeface="Meiryo" pitchFamily="34" charset="0"/>
                <a:ea typeface="Meiryo" pitchFamily="34" charset="-122"/>
                <a:cs typeface="Meiryo" pitchFamily="34" charset="-120"/>
              </a:rPr>
              <a:t>「増えた」の次に知りたくなるのは「誰が使うようになったのか」。今回は年代を5つに分けて確認</a:t>
            </a:r>
            <a:endParaRPr lang="en-US" sz="1250" dirty="0"/>
          </a:p>
        </p:txBody>
      </p:sp>
      <p:sp>
        <p:nvSpPr>
          <p:cNvPr id="7" name="Text 5"/>
          <p:cNvSpPr txBox="1"/>
          <p:nvPr/>
        </p:nvSpPr>
        <p:spPr>
          <a:xfrm>
            <a:off x="11130991" y="6217920"/>
            <a:ext cx="548640" cy="256032"/>
          </a:xfrm>
          <a:prstGeom prst="rect">
            <a:avLst/>
          </a:prstGeom>
          <a:noFill/>
          <a:ln/>
        </p:spPr>
        <p:txBody>
          <a:bodyPr wrap="square" lIns="0" tIns="0" rIns="0" bIns="0" rtlCol="0" anchor="ctr"/>
          <a:lstStyle/>
          <a:p>
            <a:pPr algn="r" indent="0" marL="0">
              <a:buNone/>
            </a:pPr>
            <a:r>
              <a:rPr lang="en-US" sz="1000" spc="100" kern="0" dirty="0">
                <a:solidFill>
                  <a:srgbClr val="8497A0"/>
                </a:solidFill>
                <a:latin typeface="Meiryo" pitchFamily="34" charset="0"/>
                <a:ea typeface="Meiryo" pitchFamily="34" charset="-122"/>
                <a:cs typeface="Meiryo" pitchFamily="34" charset="-120"/>
              </a:rPr>
              <a:t>07</a:t>
            </a:r>
            <a:endParaRPr lang="en-US" sz="1000" dirty="0"/>
          </a:p>
        </p:txBody>
      </p:sp>
      <p:sp>
        <p:nvSpPr>
          <p:cNvPr id="8" name="Shape 6"/>
          <p:cNvSpPr/>
          <p:nvPr/>
        </p:nvSpPr>
        <p:spPr>
          <a:xfrm>
            <a:off x="640080" y="1828800"/>
            <a:ext cx="1993392" cy="713232"/>
          </a:xfrm>
          <a:prstGeom prst="roundRect">
            <a:avLst>
              <a:gd name="adj" fmla="val 6410"/>
            </a:avLst>
          </a:prstGeom>
          <a:solidFill>
            <a:srgbClr val="F3F6F7"/>
          </a:solidFill>
          <a:ln w="9525">
            <a:solidFill>
              <a:srgbClr val="F3F6F7"/>
            </a:solidFill>
            <a:prstDash val="solid"/>
          </a:ln>
        </p:spPr>
      </p:sp>
      <p:sp>
        <p:nvSpPr>
          <p:cNvPr id="9" name="Text 7"/>
          <p:cNvSpPr txBox="1"/>
          <p:nvPr/>
        </p:nvSpPr>
        <p:spPr>
          <a:xfrm>
            <a:off x="640080" y="1938528"/>
            <a:ext cx="1993392" cy="256032"/>
          </a:xfrm>
          <a:prstGeom prst="rect">
            <a:avLst/>
          </a:prstGeom>
          <a:noFill/>
          <a:ln/>
        </p:spPr>
        <p:txBody>
          <a:bodyPr wrap="square" lIns="0" tIns="0" rIns="0" bIns="0" rtlCol="0" anchor="ctr"/>
          <a:lstStyle/>
          <a:p>
            <a:pPr algn="ctr" indent="0" marL="0">
              <a:buNone/>
            </a:pPr>
            <a:r>
              <a:rPr lang="en-US" sz="1250" b="1" dirty="0">
                <a:solidFill>
                  <a:srgbClr val="1A2B33"/>
                </a:solidFill>
                <a:latin typeface="Meiryo" pitchFamily="34" charset="0"/>
                <a:ea typeface="Meiryo" pitchFamily="34" charset="-122"/>
                <a:cs typeface="Meiryo" pitchFamily="34" charset="-120"/>
              </a:rPr>
              <a:t>未成年</a:t>
            </a:r>
            <a:endParaRPr lang="en-US" sz="1250" dirty="0"/>
          </a:p>
        </p:txBody>
      </p:sp>
      <p:sp>
        <p:nvSpPr>
          <p:cNvPr id="10" name="Text 8"/>
          <p:cNvSpPr txBox="1"/>
          <p:nvPr/>
        </p:nvSpPr>
        <p:spPr>
          <a:xfrm>
            <a:off x="640080" y="2212848"/>
            <a:ext cx="1993392" cy="237744"/>
          </a:xfrm>
          <a:prstGeom prst="rect">
            <a:avLst/>
          </a:prstGeom>
          <a:noFill/>
          <a:ln/>
        </p:spPr>
        <p:txBody>
          <a:bodyPr wrap="square" lIns="0" tIns="0" rIns="0" bIns="0" rtlCol="0" anchor="ctr"/>
          <a:lstStyle/>
          <a:p>
            <a:pPr algn="ctr" indent="0" marL="0">
              <a:buNone/>
            </a:pPr>
            <a:r>
              <a:rPr lang="en-US" sz="1100" dirty="0">
                <a:solidFill>
                  <a:srgbClr val="8497A0"/>
                </a:solidFill>
                <a:latin typeface="Meiryo" pitchFamily="34" charset="0"/>
                <a:ea typeface="Meiryo" pitchFamily="34" charset="-122"/>
                <a:cs typeface="Meiryo" pitchFamily="34" charset="-120"/>
              </a:rPr>
              <a:t>0〜17歳</a:t>
            </a:r>
            <a:endParaRPr lang="en-US" sz="1100" dirty="0"/>
          </a:p>
        </p:txBody>
      </p:sp>
      <p:sp>
        <p:nvSpPr>
          <p:cNvPr id="11" name="Shape 9"/>
          <p:cNvSpPr/>
          <p:nvPr/>
        </p:nvSpPr>
        <p:spPr>
          <a:xfrm>
            <a:off x="2862072" y="1828800"/>
            <a:ext cx="1993392" cy="713232"/>
          </a:xfrm>
          <a:prstGeom prst="roundRect">
            <a:avLst>
              <a:gd name="adj" fmla="val 6410"/>
            </a:avLst>
          </a:prstGeom>
          <a:solidFill>
            <a:srgbClr val="F3F6F7"/>
          </a:solidFill>
          <a:ln w="9525">
            <a:solidFill>
              <a:srgbClr val="F3F6F7"/>
            </a:solidFill>
            <a:prstDash val="solid"/>
          </a:ln>
        </p:spPr>
      </p:sp>
      <p:sp>
        <p:nvSpPr>
          <p:cNvPr id="12" name="Text 10"/>
          <p:cNvSpPr txBox="1"/>
          <p:nvPr/>
        </p:nvSpPr>
        <p:spPr>
          <a:xfrm>
            <a:off x="2862072" y="1938528"/>
            <a:ext cx="1993392" cy="256032"/>
          </a:xfrm>
          <a:prstGeom prst="rect">
            <a:avLst/>
          </a:prstGeom>
          <a:noFill/>
          <a:ln/>
        </p:spPr>
        <p:txBody>
          <a:bodyPr wrap="square" lIns="0" tIns="0" rIns="0" bIns="0" rtlCol="0" anchor="ctr"/>
          <a:lstStyle/>
          <a:p>
            <a:pPr algn="ctr" indent="0" marL="0">
              <a:buNone/>
            </a:pPr>
            <a:r>
              <a:rPr lang="en-US" sz="1250" b="1" dirty="0">
                <a:solidFill>
                  <a:srgbClr val="1A2B33"/>
                </a:solidFill>
                <a:latin typeface="Meiryo" pitchFamily="34" charset="0"/>
                <a:ea typeface="Meiryo" pitchFamily="34" charset="-122"/>
                <a:cs typeface="Meiryo" pitchFamily="34" charset="-120"/>
              </a:rPr>
              <a:t>若手成人</a:t>
            </a:r>
            <a:endParaRPr lang="en-US" sz="1250" dirty="0"/>
          </a:p>
        </p:txBody>
      </p:sp>
      <p:sp>
        <p:nvSpPr>
          <p:cNvPr id="13" name="Text 11"/>
          <p:cNvSpPr txBox="1"/>
          <p:nvPr/>
        </p:nvSpPr>
        <p:spPr>
          <a:xfrm>
            <a:off x="2862072" y="2212848"/>
            <a:ext cx="1993392" cy="237744"/>
          </a:xfrm>
          <a:prstGeom prst="rect">
            <a:avLst/>
          </a:prstGeom>
          <a:noFill/>
          <a:ln/>
        </p:spPr>
        <p:txBody>
          <a:bodyPr wrap="square" lIns="0" tIns="0" rIns="0" bIns="0" rtlCol="0" anchor="ctr"/>
          <a:lstStyle/>
          <a:p>
            <a:pPr algn="ctr" indent="0" marL="0">
              <a:buNone/>
            </a:pPr>
            <a:r>
              <a:rPr lang="en-US" sz="1100" dirty="0">
                <a:solidFill>
                  <a:srgbClr val="8497A0"/>
                </a:solidFill>
                <a:latin typeface="Meiryo" pitchFamily="34" charset="0"/>
                <a:ea typeface="Meiryo" pitchFamily="34" charset="-122"/>
                <a:cs typeface="Meiryo" pitchFamily="34" charset="-120"/>
              </a:rPr>
              <a:t>18〜29歳</a:t>
            </a:r>
            <a:endParaRPr lang="en-US" sz="1100" dirty="0"/>
          </a:p>
        </p:txBody>
      </p:sp>
      <p:sp>
        <p:nvSpPr>
          <p:cNvPr id="14" name="Shape 12"/>
          <p:cNvSpPr/>
          <p:nvPr/>
        </p:nvSpPr>
        <p:spPr>
          <a:xfrm>
            <a:off x="5084064" y="1828800"/>
            <a:ext cx="1993392" cy="713232"/>
          </a:xfrm>
          <a:prstGeom prst="roundRect">
            <a:avLst>
              <a:gd name="adj" fmla="val 6410"/>
            </a:avLst>
          </a:prstGeom>
          <a:solidFill>
            <a:srgbClr val="F3F6F7"/>
          </a:solidFill>
          <a:ln w="9525">
            <a:solidFill>
              <a:srgbClr val="F3F6F7"/>
            </a:solidFill>
            <a:prstDash val="solid"/>
          </a:ln>
        </p:spPr>
      </p:sp>
      <p:sp>
        <p:nvSpPr>
          <p:cNvPr id="15" name="Text 13"/>
          <p:cNvSpPr txBox="1"/>
          <p:nvPr/>
        </p:nvSpPr>
        <p:spPr>
          <a:xfrm>
            <a:off x="5084064" y="1938528"/>
            <a:ext cx="1993392" cy="256032"/>
          </a:xfrm>
          <a:prstGeom prst="rect">
            <a:avLst/>
          </a:prstGeom>
          <a:noFill/>
          <a:ln/>
        </p:spPr>
        <p:txBody>
          <a:bodyPr wrap="square" lIns="0" tIns="0" rIns="0" bIns="0" rtlCol="0" anchor="ctr"/>
          <a:lstStyle/>
          <a:p>
            <a:pPr algn="ctr" indent="0" marL="0">
              <a:buNone/>
            </a:pPr>
            <a:r>
              <a:rPr lang="en-US" sz="1250" b="1" dirty="0">
                <a:solidFill>
                  <a:srgbClr val="1A2B33"/>
                </a:solidFill>
                <a:latin typeface="Meiryo" pitchFamily="34" charset="0"/>
                <a:ea typeface="Meiryo" pitchFamily="34" charset="-122"/>
                <a:cs typeface="Meiryo" pitchFamily="34" charset="-120"/>
              </a:rPr>
              <a:t>働き手①</a:t>
            </a:r>
            <a:endParaRPr lang="en-US" sz="1250" dirty="0"/>
          </a:p>
        </p:txBody>
      </p:sp>
      <p:sp>
        <p:nvSpPr>
          <p:cNvPr id="16" name="Text 14"/>
          <p:cNvSpPr txBox="1"/>
          <p:nvPr/>
        </p:nvSpPr>
        <p:spPr>
          <a:xfrm>
            <a:off x="5084064" y="2212848"/>
            <a:ext cx="1993392" cy="237744"/>
          </a:xfrm>
          <a:prstGeom prst="rect">
            <a:avLst/>
          </a:prstGeom>
          <a:noFill/>
          <a:ln/>
        </p:spPr>
        <p:txBody>
          <a:bodyPr wrap="square" lIns="0" tIns="0" rIns="0" bIns="0" rtlCol="0" anchor="ctr"/>
          <a:lstStyle/>
          <a:p>
            <a:pPr algn="ctr" indent="0" marL="0">
              <a:buNone/>
            </a:pPr>
            <a:r>
              <a:rPr lang="en-US" sz="1100" dirty="0">
                <a:solidFill>
                  <a:srgbClr val="8497A0"/>
                </a:solidFill>
                <a:latin typeface="Meiryo" pitchFamily="34" charset="0"/>
                <a:ea typeface="Meiryo" pitchFamily="34" charset="-122"/>
                <a:cs typeface="Meiryo" pitchFamily="34" charset="-120"/>
              </a:rPr>
              <a:t>30〜44歳</a:t>
            </a:r>
            <a:endParaRPr lang="en-US" sz="1100" dirty="0"/>
          </a:p>
        </p:txBody>
      </p:sp>
      <p:sp>
        <p:nvSpPr>
          <p:cNvPr id="17" name="Shape 15"/>
          <p:cNvSpPr/>
          <p:nvPr/>
        </p:nvSpPr>
        <p:spPr>
          <a:xfrm>
            <a:off x="7306056" y="1828800"/>
            <a:ext cx="1993392" cy="713232"/>
          </a:xfrm>
          <a:prstGeom prst="roundRect">
            <a:avLst>
              <a:gd name="adj" fmla="val 6410"/>
            </a:avLst>
          </a:prstGeom>
          <a:solidFill>
            <a:srgbClr val="F3F6F7"/>
          </a:solidFill>
          <a:ln w="9525">
            <a:solidFill>
              <a:srgbClr val="F3F6F7"/>
            </a:solidFill>
            <a:prstDash val="solid"/>
          </a:ln>
        </p:spPr>
      </p:sp>
      <p:sp>
        <p:nvSpPr>
          <p:cNvPr id="18" name="Text 16"/>
          <p:cNvSpPr txBox="1"/>
          <p:nvPr/>
        </p:nvSpPr>
        <p:spPr>
          <a:xfrm>
            <a:off x="7306056" y="1938528"/>
            <a:ext cx="1993392" cy="256032"/>
          </a:xfrm>
          <a:prstGeom prst="rect">
            <a:avLst/>
          </a:prstGeom>
          <a:noFill/>
          <a:ln/>
        </p:spPr>
        <p:txBody>
          <a:bodyPr wrap="square" lIns="0" tIns="0" rIns="0" bIns="0" rtlCol="0" anchor="ctr"/>
          <a:lstStyle/>
          <a:p>
            <a:pPr algn="ctr" indent="0" marL="0">
              <a:buNone/>
            </a:pPr>
            <a:r>
              <a:rPr lang="en-US" sz="1250" b="1" dirty="0">
                <a:solidFill>
                  <a:srgbClr val="1A2B33"/>
                </a:solidFill>
                <a:latin typeface="Meiryo" pitchFamily="34" charset="0"/>
                <a:ea typeface="Meiryo" pitchFamily="34" charset="-122"/>
                <a:cs typeface="Meiryo" pitchFamily="34" charset="-120"/>
              </a:rPr>
              <a:t>働き手②</a:t>
            </a:r>
            <a:endParaRPr lang="en-US" sz="1250" dirty="0"/>
          </a:p>
        </p:txBody>
      </p:sp>
      <p:sp>
        <p:nvSpPr>
          <p:cNvPr id="19" name="Text 17"/>
          <p:cNvSpPr txBox="1"/>
          <p:nvPr/>
        </p:nvSpPr>
        <p:spPr>
          <a:xfrm>
            <a:off x="7306056" y="2212848"/>
            <a:ext cx="1993392" cy="237744"/>
          </a:xfrm>
          <a:prstGeom prst="rect">
            <a:avLst/>
          </a:prstGeom>
          <a:noFill/>
          <a:ln/>
        </p:spPr>
        <p:txBody>
          <a:bodyPr wrap="square" lIns="0" tIns="0" rIns="0" bIns="0" rtlCol="0" anchor="ctr"/>
          <a:lstStyle/>
          <a:p>
            <a:pPr algn="ctr" indent="0" marL="0">
              <a:buNone/>
            </a:pPr>
            <a:r>
              <a:rPr lang="en-US" sz="1100" dirty="0">
                <a:solidFill>
                  <a:srgbClr val="8497A0"/>
                </a:solidFill>
                <a:latin typeface="Meiryo" pitchFamily="34" charset="0"/>
                <a:ea typeface="Meiryo" pitchFamily="34" charset="-122"/>
                <a:cs typeface="Meiryo" pitchFamily="34" charset="-120"/>
              </a:rPr>
              <a:t>45〜64歳</a:t>
            </a:r>
            <a:endParaRPr lang="en-US" sz="1100" dirty="0"/>
          </a:p>
        </p:txBody>
      </p:sp>
      <p:sp>
        <p:nvSpPr>
          <p:cNvPr id="20" name="Shape 18"/>
          <p:cNvSpPr/>
          <p:nvPr/>
        </p:nvSpPr>
        <p:spPr>
          <a:xfrm>
            <a:off x="9528048" y="1828800"/>
            <a:ext cx="1993392" cy="713232"/>
          </a:xfrm>
          <a:prstGeom prst="roundRect">
            <a:avLst>
              <a:gd name="adj" fmla="val 6410"/>
            </a:avLst>
          </a:prstGeom>
          <a:solidFill>
            <a:srgbClr val="F3F6F7"/>
          </a:solidFill>
          <a:ln w="9525">
            <a:solidFill>
              <a:srgbClr val="F3F6F7"/>
            </a:solidFill>
            <a:prstDash val="solid"/>
          </a:ln>
        </p:spPr>
      </p:sp>
      <p:sp>
        <p:nvSpPr>
          <p:cNvPr id="21" name="Text 19"/>
          <p:cNvSpPr txBox="1"/>
          <p:nvPr/>
        </p:nvSpPr>
        <p:spPr>
          <a:xfrm>
            <a:off x="9528048" y="1938528"/>
            <a:ext cx="1993392" cy="256032"/>
          </a:xfrm>
          <a:prstGeom prst="rect">
            <a:avLst/>
          </a:prstGeom>
          <a:noFill/>
          <a:ln/>
        </p:spPr>
        <p:txBody>
          <a:bodyPr wrap="square" lIns="0" tIns="0" rIns="0" bIns="0" rtlCol="0" anchor="ctr"/>
          <a:lstStyle/>
          <a:p>
            <a:pPr algn="ctr" indent="0" marL="0">
              <a:buNone/>
            </a:pPr>
            <a:r>
              <a:rPr lang="en-US" sz="1250" b="1" dirty="0">
                <a:solidFill>
                  <a:srgbClr val="1A2B33"/>
                </a:solidFill>
                <a:latin typeface="Meiryo" pitchFamily="34" charset="0"/>
                <a:ea typeface="Meiryo" pitchFamily="34" charset="-122"/>
                <a:cs typeface="Meiryo" pitchFamily="34" charset="-120"/>
              </a:rPr>
              <a:t>高齢者</a:t>
            </a:r>
            <a:endParaRPr lang="en-US" sz="1250" dirty="0"/>
          </a:p>
        </p:txBody>
      </p:sp>
      <p:sp>
        <p:nvSpPr>
          <p:cNvPr id="22" name="Text 20"/>
          <p:cNvSpPr txBox="1"/>
          <p:nvPr/>
        </p:nvSpPr>
        <p:spPr>
          <a:xfrm>
            <a:off x="9528048" y="2212848"/>
            <a:ext cx="1993392" cy="237744"/>
          </a:xfrm>
          <a:prstGeom prst="rect">
            <a:avLst/>
          </a:prstGeom>
          <a:noFill/>
          <a:ln/>
        </p:spPr>
        <p:txBody>
          <a:bodyPr wrap="square" lIns="0" tIns="0" rIns="0" bIns="0" rtlCol="0" anchor="ctr"/>
          <a:lstStyle/>
          <a:p>
            <a:pPr algn="ctr" indent="0" marL="0">
              <a:buNone/>
            </a:pPr>
            <a:r>
              <a:rPr lang="en-US" sz="1100" dirty="0">
                <a:solidFill>
                  <a:srgbClr val="8497A0"/>
                </a:solidFill>
                <a:latin typeface="Meiryo" pitchFamily="34" charset="0"/>
                <a:ea typeface="Meiryo" pitchFamily="34" charset="-122"/>
                <a:cs typeface="Meiryo" pitchFamily="34" charset="-120"/>
              </a:rPr>
              <a:t>65歳以上</a:t>
            </a:r>
            <a:endParaRPr lang="en-US" sz="1100" dirty="0"/>
          </a:p>
        </p:txBody>
      </p:sp>
      <p:sp>
        <p:nvSpPr>
          <p:cNvPr id="23" name="Shape 21"/>
          <p:cNvSpPr/>
          <p:nvPr/>
        </p:nvSpPr>
        <p:spPr>
          <a:xfrm>
            <a:off x="640080" y="2788920"/>
            <a:ext cx="5989320" cy="2377440"/>
          </a:xfrm>
          <a:prstGeom prst="roundRect">
            <a:avLst>
              <a:gd name="adj" fmla="val 1923"/>
            </a:avLst>
          </a:prstGeom>
          <a:solidFill>
            <a:srgbClr val="F3F6F7"/>
          </a:solidFill>
          <a:ln w="15875">
            <a:solidFill>
              <a:srgbClr val="BFCCD1"/>
            </a:solidFill>
            <a:prstDash val="dash"/>
          </a:ln>
        </p:spPr>
      </p:sp>
      <p:sp>
        <p:nvSpPr>
          <p:cNvPr id="24" name="Text 22"/>
          <p:cNvSpPr txBox="1"/>
          <p:nvPr/>
        </p:nvSpPr>
        <p:spPr>
          <a:xfrm>
            <a:off x="640080" y="3575304"/>
            <a:ext cx="5989320" cy="310896"/>
          </a:xfrm>
          <a:prstGeom prst="rect">
            <a:avLst/>
          </a:prstGeom>
          <a:noFill/>
          <a:ln/>
        </p:spPr>
        <p:txBody>
          <a:bodyPr wrap="square" lIns="0" tIns="0" rIns="0" bIns="0" rtlCol="0" anchor="ctr"/>
          <a:lstStyle/>
          <a:p>
            <a:pPr algn="ctr" indent="0" marL="0">
              <a:buNone/>
            </a:pPr>
            <a:r>
              <a:rPr lang="en-US" sz="1300" b="1" dirty="0">
                <a:solidFill>
                  <a:srgbClr val="0F5A6B"/>
                </a:solidFill>
                <a:latin typeface="Meiryo" pitchFamily="34" charset="0"/>
                <a:ea typeface="Meiryo" pitchFamily="34" charset="-122"/>
                <a:cs typeface="Meiryo" pitchFamily="34" charset="-120"/>
              </a:rPr>
              <a:t>グラフ貼付エリア</a:t>
            </a:r>
            <a:endParaRPr lang="en-US" sz="1300" dirty="0"/>
          </a:p>
        </p:txBody>
      </p:sp>
      <p:sp>
        <p:nvSpPr>
          <p:cNvPr id="25" name="Text 23"/>
          <p:cNvSpPr txBox="1"/>
          <p:nvPr/>
        </p:nvSpPr>
        <p:spPr>
          <a:xfrm>
            <a:off x="914400" y="3941064"/>
            <a:ext cx="5440680" cy="731520"/>
          </a:xfrm>
          <a:prstGeom prst="rect">
            <a:avLst/>
          </a:prstGeom>
          <a:noFill/>
          <a:ln/>
        </p:spPr>
        <p:txBody>
          <a:bodyPr wrap="square" lIns="0" tIns="0" rIns="0" bIns="0" rtlCol="0" anchor="ctr"/>
          <a:lstStyle/>
          <a:p>
            <a:pPr algn="ctr" indent="0" marL="0">
              <a:lnSpc>
                <a:spcPts val="1700"/>
              </a:lnSpc>
              <a:buNone/>
            </a:pPr>
            <a:r>
              <a:rPr lang="en-US" sz="1100" dirty="0">
                <a:solidFill>
                  <a:srgbClr val="8497A0"/>
                </a:solidFill>
                <a:latin typeface="Meiryo" pitchFamily="34" charset="0"/>
                <a:ea typeface="Meiryo" pitchFamily="34" charset="-122"/>
                <a:cs typeface="Meiryo" pitchFamily="34" charset="-120"/>
              </a:rPr>
              <a:t>年代別 IB利用件数の増加率（棒グラフ）</a:t>
            </a:r>
            <a:endParaRPr lang="en-US" sz="1100" dirty="0"/>
          </a:p>
        </p:txBody>
      </p:sp>
      <p:sp>
        <p:nvSpPr>
          <p:cNvPr id="26" name="Shape 24"/>
          <p:cNvSpPr/>
          <p:nvPr/>
        </p:nvSpPr>
        <p:spPr>
          <a:xfrm>
            <a:off x="6967728" y="2788920"/>
            <a:ext cx="4581144" cy="804672"/>
          </a:xfrm>
          <a:prstGeom prst="roundRect">
            <a:avLst>
              <a:gd name="adj" fmla="val 5682"/>
            </a:avLst>
          </a:prstGeom>
          <a:solidFill>
            <a:srgbClr val="F8EBE1"/>
          </a:solidFill>
          <a:ln w="15875">
            <a:solidFill>
              <a:srgbClr val="D9A97F"/>
            </a:solidFill>
            <a:prstDash val="dash"/>
          </a:ln>
        </p:spPr>
      </p:sp>
      <p:sp>
        <p:nvSpPr>
          <p:cNvPr id="27" name="Text 25"/>
          <p:cNvSpPr txBox="1"/>
          <p:nvPr/>
        </p:nvSpPr>
        <p:spPr>
          <a:xfrm>
            <a:off x="7187184" y="2926080"/>
            <a:ext cx="4142232" cy="237744"/>
          </a:xfrm>
          <a:prstGeom prst="rect">
            <a:avLst/>
          </a:prstGeom>
          <a:noFill/>
          <a:ln/>
        </p:spPr>
        <p:txBody>
          <a:bodyPr wrap="square" lIns="0" tIns="0" rIns="0" bIns="0" rtlCol="0" anchor="ctr"/>
          <a:lstStyle/>
          <a:p>
            <a:pPr indent="0" marL="0">
              <a:buNone/>
            </a:pPr>
            <a:r>
              <a:rPr lang="en-US" sz="1050" b="1" spc="80" kern="0" dirty="0">
                <a:solidFill>
                  <a:srgbClr val="B4551F"/>
                </a:solidFill>
                <a:latin typeface="Meiryo" pitchFamily="34" charset="0"/>
                <a:ea typeface="Meiryo" pitchFamily="34" charset="-122"/>
                <a:cs typeface="Meiryo" pitchFamily="34" charset="-120"/>
              </a:rPr>
              <a:t>読 み 取 り</a:t>
            </a:r>
            <a:endParaRPr lang="en-US" sz="1050" dirty="0"/>
          </a:p>
        </p:txBody>
      </p:sp>
      <p:sp>
        <p:nvSpPr>
          <p:cNvPr id="28" name="Text 26"/>
          <p:cNvSpPr txBox="1"/>
          <p:nvPr/>
        </p:nvSpPr>
        <p:spPr>
          <a:xfrm>
            <a:off x="7187184" y="3191256"/>
            <a:ext cx="4142232" cy="274320"/>
          </a:xfrm>
          <a:prstGeom prst="rect">
            <a:avLst/>
          </a:prstGeom>
          <a:noFill/>
          <a:ln/>
        </p:spPr>
        <p:txBody>
          <a:bodyPr wrap="square" lIns="0" tIns="0" rIns="0" bIns="0" rtlCol="0" anchor="ctr"/>
          <a:lstStyle/>
          <a:p>
            <a:pPr indent="0" marL="0">
              <a:lnSpc>
                <a:spcPts val="1700"/>
              </a:lnSpc>
              <a:buNone/>
            </a:pPr>
            <a:r>
              <a:rPr lang="en-US" sz="1150" dirty="0">
                <a:solidFill>
                  <a:srgbClr val="A2795C"/>
                </a:solidFill>
                <a:latin typeface="Meiryo" pitchFamily="34" charset="0"/>
                <a:ea typeface="Meiryo" pitchFamily="34" charset="-122"/>
                <a:cs typeface="Meiryo" pitchFamily="34" charset="-120"/>
              </a:rPr>
              <a:t>どの年代の増加率が最も高かったか／他の年代はどうだったか</a:t>
            </a:r>
            <a:endParaRPr lang="en-US" sz="1150" dirty="0"/>
          </a:p>
        </p:txBody>
      </p:sp>
      <p:sp>
        <p:nvSpPr>
          <p:cNvPr id="29" name="Shape 27"/>
          <p:cNvSpPr/>
          <p:nvPr/>
        </p:nvSpPr>
        <p:spPr>
          <a:xfrm>
            <a:off x="6967728" y="3749040"/>
            <a:ext cx="4581144" cy="1417320"/>
          </a:xfrm>
          <a:prstGeom prst="roundRect">
            <a:avLst>
              <a:gd name="adj" fmla="val 3226"/>
            </a:avLst>
          </a:prstGeom>
          <a:solidFill>
            <a:srgbClr val="E2EEF0"/>
          </a:solidFill>
          <a:ln w="9525">
            <a:solidFill>
              <a:srgbClr val="E2EEF0"/>
            </a:solidFill>
            <a:prstDash val="solid"/>
          </a:ln>
        </p:spPr>
      </p:sp>
      <p:sp>
        <p:nvSpPr>
          <p:cNvPr id="30" name="Text 28"/>
          <p:cNvSpPr txBox="1"/>
          <p:nvPr/>
        </p:nvSpPr>
        <p:spPr>
          <a:xfrm>
            <a:off x="7223760" y="3886200"/>
            <a:ext cx="4069080" cy="237744"/>
          </a:xfrm>
          <a:prstGeom prst="rect">
            <a:avLst/>
          </a:prstGeom>
          <a:noFill/>
          <a:ln/>
        </p:spPr>
        <p:txBody>
          <a:bodyPr wrap="square" lIns="0" tIns="0" rIns="0" bIns="0" rtlCol="0" anchor="ctr"/>
          <a:lstStyle/>
          <a:p>
            <a:pPr indent="0" marL="0">
              <a:buNone/>
            </a:pPr>
            <a:r>
              <a:rPr lang="en-US" sz="1050" b="1" spc="100" kern="0" dirty="0">
                <a:solidFill>
                  <a:srgbClr val="0F5A6B"/>
                </a:solidFill>
                <a:latin typeface="Meiryo" pitchFamily="34" charset="0"/>
                <a:ea typeface="Meiryo" pitchFamily="34" charset="-122"/>
                <a:cs typeface="Meiryo" pitchFamily="34" charset="-120"/>
              </a:rPr>
              <a:t>次 に 考 え ら れ る 施 策</a:t>
            </a:r>
            <a:endParaRPr lang="en-US" sz="1050" dirty="0"/>
          </a:p>
        </p:txBody>
      </p:sp>
      <p:sp>
        <p:nvSpPr>
          <p:cNvPr id="31" name="Text 29"/>
          <p:cNvSpPr txBox="1"/>
          <p:nvPr/>
        </p:nvSpPr>
        <p:spPr>
          <a:xfrm>
            <a:off x="7223760" y="4142232"/>
            <a:ext cx="4069080" cy="96012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150" dirty="0">
                <a:solidFill>
                  <a:srgbClr val="0F5A6B"/>
                </a:solidFill>
                <a:latin typeface="Meiryo" pitchFamily="34" charset="0"/>
                <a:ea typeface="Meiryo" pitchFamily="34" charset="-122"/>
                <a:cs typeface="Meiryo" pitchFamily="34" charset="-120"/>
              </a:rPr>
              <a:t>伸びが小さい年代には、ATMでの振込・振替の際にIBを案内する</a:t>
            </a:r>
            <a:endParaRPr lang="en-US" sz="1150" dirty="0"/>
          </a:p>
          <a:p>
            <a:pPr marL="342900" indent="-342900">
              <a:lnSpc>
                <a:spcPts val="1600"/>
              </a:lnSpc>
              <a:spcAft>
                <a:spcPts val="600"/>
              </a:spcAft>
              <a:buSzPct val="100000"/>
              <a:buChar char="•"/>
            </a:pPr>
            <a:r>
              <a:rPr lang="en-US" sz="1150" dirty="0">
                <a:solidFill>
                  <a:srgbClr val="0F5A6B"/>
                </a:solidFill>
                <a:latin typeface="Meiryo" pitchFamily="34" charset="0"/>
                <a:ea typeface="Meiryo" pitchFamily="34" charset="-122"/>
                <a:cs typeface="Meiryo" pitchFamily="34" charset="-120"/>
              </a:rPr>
              <a:t>すでに伸びている年代には、扱える手続きの幅を広げる</a:t>
            </a:r>
            <a:endParaRPr lang="en-US" sz="1150" dirty="0"/>
          </a:p>
        </p:txBody>
      </p:sp>
      <p:sp>
        <p:nvSpPr>
          <p:cNvPr id="32" name="Shape 30"/>
          <p:cNvSpPr/>
          <p:nvPr/>
        </p:nvSpPr>
        <p:spPr>
          <a:xfrm>
            <a:off x="640080" y="5394960"/>
            <a:ext cx="10911535" cy="603504"/>
          </a:xfrm>
          <a:prstGeom prst="roundRect">
            <a:avLst>
              <a:gd name="adj" fmla="val 7576"/>
            </a:avLst>
          </a:prstGeom>
          <a:solidFill>
            <a:srgbClr val="F3F6F7"/>
          </a:solidFill>
          <a:ln w="12700">
            <a:solidFill>
              <a:srgbClr val="F3F6F7"/>
            </a:solidFill>
            <a:prstDash val="solid"/>
          </a:ln>
        </p:spPr>
      </p:sp>
      <p:sp>
        <p:nvSpPr>
          <p:cNvPr id="33" name="Text 31"/>
          <p:cNvSpPr txBox="1"/>
          <p:nvPr/>
        </p:nvSpPr>
        <p:spPr>
          <a:xfrm>
            <a:off x="914400" y="5394960"/>
            <a:ext cx="10362895" cy="603504"/>
          </a:xfrm>
          <a:prstGeom prst="rect">
            <a:avLst/>
          </a:prstGeom>
          <a:noFill/>
          <a:ln/>
        </p:spPr>
        <p:txBody>
          <a:bodyPr wrap="square" lIns="0" tIns="0" rIns="0" bIns="0" rtlCol="0" anchor="ctr"/>
          <a:lstStyle/>
          <a:p>
            <a:pPr algn="ctr" indent="0" marL="0">
              <a:buNone/>
            </a:pPr>
            <a:r>
              <a:rPr lang="en-US" sz="1400" b="1" dirty="0">
                <a:solidFill>
                  <a:srgbClr val="1A2B33"/>
                </a:solidFill>
                <a:latin typeface="Meiryo" pitchFamily="34" charset="0"/>
                <a:ea typeface="Meiryo" pitchFamily="34" charset="-122"/>
                <a:cs typeface="Meiryo" pitchFamily="34" charset="-120"/>
              </a:rPr>
              <a:t>年代まで分かると、「誰に、どう案内するか」という具体的な打ち手まで考えられる</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402336" cy="402336"/>
          </a:xfrm>
          <a:prstGeom prst="ellipse">
            <a:avLst/>
          </a:prstGeom>
          <a:solidFill>
            <a:srgbClr val="0F5A6B"/>
          </a:solidFill>
          <a:ln w="12700">
            <a:solidFill>
              <a:srgbClr val="0F5A6B"/>
            </a:solidFill>
            <a:prstDash val="solid"/>
          </a:ln>
        </p:spPr>
      </p:sp>
      <p:sp>
        <p:nvSpPr>
          <p:cNvPr id="3" name="Text 1"/>
          <p:cNvSpPr txBox="1"/>
          <p:nvPr/>
        </p:nvSpPr>
        <p:spPr>
          <a:xfrm>
            <a:off x="640080" y="56692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08</a:t>
            </a:r>
            <a:endParaRPr lang="en-US" sz="1150" dirty="0"/>
          </a:p>
        </p:txBody>
      </p:sp>
      <p:sp>
        <p:nvSpPr>
          <p:cNvPr id="4" name="Text 2"/>
          <p:cNvSpPr txBox="1"/>
          <p:nvPr/>
        </p:nvSpPr>
        <p:spPr>
          <a:xfrm>
            <a:off x="1225296" y="402336"/>
            <a:ext cx="6400800" cy="228600"/>
          </a:xfrm>
          <a:prstGeom prst="rect">
            <a:avLst/>
          </a:prstGeom>
          <a:noFill/>
          <a:ln/>
        </p:spPr>
        <p:txBody>
          <a:bodyPr wrap="square" lIns="0" tIns="0" rIns="0" bIns="0" rtlCol="0" anchor="ctr"/>
          <a:lstStyle/>
          <a:p>
            <a:pPr indent="0" marL="0">
              <a:buNone/>
            </a:pPr>
            <a:r>
              <a:rPr lang="en-US" sz="1050" b="1" spc="150" kern="0" dirty="0">
                <a:solidFill>
                  <a:srgbClr val="0F5A6B"/>
                </a:solidFill>
                <a:latin typeface="Meiryo" pitchFamily="34" charset="0"/>
                <a:ea typeface="Meiryo" pitchFamily="34" charset="-122"/>
                <a:cs typeface="Meiryo" pitchFamily="34" charset="-120"/>
              </a:rPr>
              <a:t>ま と め</a:t>
            </a:r>
            <a:endParaRPr lang="en-US" sz="1050" dirty="0"/>
          </a:p>
        </p:txBody>
      </p:sp>
      <p:sp>
        <p:nvSpPr>
          <p:cNvPr id="5" name="Text 3"/>
          <p:cNvSpPr txBox="1"/>
          <p:nvPr/>
        </p:nvSpPr>
        <p:spPr>
          <a:xfrm>
            <a:off x="1225296" y="603504"/>
            <a:ext cx="10326319" cy="548640"/>
          </a:xfrm>
          <a:prstGeom prst="rect">
            <a:avLst/>
          </a:prstGeom>
          <a:noFill/>
          <a:ln/>
        </p:spPr>
        <p:txBody>
          <a:bodyPr wrap="square" lIns="0" tIns="0" rIns="0" bIns="0" rtlCol="0" anchor="ctr"/>
          <a:lstStyle/>
          <a:p>
            <a:pPr indent="0" marL="0">
              <a:buNone/>
            </a:pPr>
            <a:r>
              <a:rPr lang="en-US" sz="2600" b="1" dirty="0">
                <a:solidFill>
                  <a:srgbClr val="1A2B33"/>
                </a:solidFill>
                <a:latin typeface="Meiryo" pitchFamily="34" charset="0"/>
                <a:ea typeface="Meiryo" pitchFamily="34" charset="-122"/>
                <a:cs typeface="Meiryo" pitchFamily="34" charset="-120"/>
              </a:rPr>
              <a:t>データを「次の一手」に変えるまで</a:t>
            </a:r>
            <a:endParaRPr lang="en-US" sz="2600" dirty="0"/>
          </a:p>
        </p:txBody>
      </p:sp>
      <p:sp>
        <p:nvSpPr>
          <p:cNvPr id="6" name="Text 4"/>
          <p:cNvSpPr txBox="1"/>
          <p:nvPr/>
        </p:nvSpPr>
        <p:spPr>
          <a:xfrm>
            <a:off x="1225296" y="1170432"/>
            <a:ext cx="10326319" cy="347472"/>
          </a:xfrm>
          <a:prstGeom prst="rect">
            <a:avLst/>
          </a:prstGeom>
          <a:noFill/>
          <a:ln/>
        </p:spPr>
        <p:txBody>
          <a:bodyPr wrap="square" lIns="0" tIns="0" rIns="0" bIns="0" rtlCol="0" anchor="ctr"/>
          <a:lstStyle/>
          <a:p>
            <a:pPr indent="0" marL="0">
              <a:buNone/>
            </a:pPr>
            <a:r>
              <a:rPr lang="en-US" sz="1250" dirty="0">
                <a:solidFill>
                  <a:srgbClr val="8497A0"/>
                </a:solidFill>
                <a:latin typeface="Meiryo" pitchFamily="34" charset="0"/>
                <a:ea typeface="Meiryo" pitchFamily="34" charset="-122"/>
                <a:cs typeface="Meiryo" pitchFamily="34" charset="-120"/>
              </a:rPr>
              <a:t>今回のワークで行ったことを、ひとつの流れにまとめる</a:t>
            </a:r>
            <a:endParaRPr lang="en-US" sz="1250" dirty="0"/>
          </a:p>
        </p:txBody>
      </p:sp>
      <p:sp>
        <p:nvSpPr>
          <p:cNvPr id="7" name="Text 5"/>
          <p:cNvSpPr txBox="1"/>
          <p:nvPr/>
        </p:nvSpPr>
        <p:spPr>
          <a:xfrm>
            <a:off x="11130991" y="6217920"/>
            <a:ext cx="548640" cy="256032"/>
          </a:xfrm>
          <a:prstGeom prst="rect">
            <a:avLst/>
          </a:prstGeom>
          <a:noFill/>
          <a:ln/>
        </p:spPr>
        <p:txBody>
          <a:bodyPr wrap="square" lIns="0" tIns="0" rIns="0" bIns="0" rtlCol="0" anchor="ctr"/>
          <a:lstStyle/>
          <a:p>
            <a:pPr algn="r" indent="0" marL="0">
              <a:buNone/>
            </a:pPr>
            <a:r>
              <a:rPr lang="en-US" sz="1000" spc="100" kern="0" dirty="0">
                <a:solidFill>
                  <a:srgbClr val="8497A0"/>
                </a:solidFill>
                <a:latin typeface="Meiryo" pitchFamily="34" charset="0"/>
                <a:ea typeface="Meiryo" pitchFamily="34" charset="-122"/>
                <a:cs typeface="Meiryo" pitchFamily="34" charset="-120"/>
              </a:rPr>
              <a:t>08</a:t>
            </a:r>
            <a:endParaRPr lang="en-US" sz="1000" dirty="0"/>
          </a:p>
        </p:txBody>
      </p:sp>
      <p:sp>
        <p:nvSpPr>
          <p:cNvPr id="8" name="Shape 6"/>
          <p:cNvSpPr/>
          <p:nvPr/>
        </p:nvSpPr>
        <p:spPr>
          <a:xfrm>
            <a:off x="640080" y="1965960"/>
            <a:ext cx="1929384" cy="2240280"/>
          </a:xfrm>
          <a:prstGeom prst="roundRect">
            <a:avLst>
              <a:gd name="adj" fmla="val 2370"/>
            </a:avLst>
          </a:prstGeom>
          <a:solidFill>
            <a:srgbClr val="F3F6F7"/>
          </a:solidFill>
          <a:ln w="9525">
            <a:solidFill>
              <a:srgbClr val="F3F6F7"/>
            </a:solidFill>
            <a:prstDash val="solid"/>
          </a:ln>
        </p:spPr>
      </p:sp>
      <p:sp>
        <p:nvSpPr>
          <p:cNvPr id="9" name="Text 7"/>
          <p:cNvSpPr txBox="1"/>
          <p:nvPr/>
        </p:nvSpPr>
        <p:spPr>
          <a:xfrm>
            <a:off x="640080" y="2221992"/>
            <a:ext cx="1929384" cy="310896"/>
          </a:xfrm>
          <a:prstGeom prst="rect">
            <a:avLst/>
          </a:prstGeom>
          <a:noFill/>
          <a:ln/>
        </p:spPr>
        <p:txBody>
          <a:bodyPr wrap="square" lIns="0" tIns="0" rIns="0" bIns="0" rtlCol="0" anchor="ctr"/>
          <a:lstStyle/>
          <a:p>
            <a:pPr algn="ctr" indent="0" marL="0">
              <a:buNone/>
            </a:pPr>
            <a:r>
              <a:rPr lang="en-US" sz="1600" b="1" dirty="0">
                <a:solidFill>
                  <a:srgbClr val="B9C7CC"/>
                </a:solidFill>
                <a:latin typeface="Meiryo" pitchFamily="34" charset="0"/>
                <a:ea typeface="Meiryo" pitchFamily="34" charset="-122"/>
                <a:cs typeface="Meiryo" pitchFamily="34" charset="-120"/>
              </a:rPr>
              <a:t>1</a:t>
            </a:r>
            <a:endParaRPr lang="en-US" sz="1600" dirty="0"/>
          </a:p>
        </p:txBody>
      </p:sp>
      <p:sp>
        <p:nvSpPr>
          <p:cNvPr id="10" name="Text 8"/>
          <p:cNvSpPr txBox="1"/>
          <p:nvPr/>
        </p:nvSpPr>
        <p:spPr>
          <a:xfrm>
            <a:off x="640080" y="2679192"/>
            <a:ext cx="1929384" cy="274320"/>
          </a:xfrm>
          <a:prstGeom prst="rect">
            <a:avLst/>
          </a:prstGeom>
          <a:noFill/>
          <a:ln/>
        </p:spPr>
        <p:txBody>
          <a:bodyPr wrap="square" lIns="0" tIns="0" rIns="0" bIns="0" rtlCol="0" anchor="ctr"/>
          <a:lstStyle/>
          <a:p>
            <a:pPr algn="ctr" indent="0" marL="0">
              <a:buNone/>
            </a:pPr>
            <a:r>
              <a:rPr lang="en-US" sz="1300" b="1" spc="80" kern="0" dirty="0">
                <a:solidFill>
                  <a:srgbClr val="1A2B33"/>
                </a:solidFill>
                <a:latin typeface="Meiryo" pitchFamily="34" charset="0"/>
                <a:ea typeface="Meiryo" pitchFamily="34" charset="-122"/>
                <a:cs typeface="Meiryo" pitchFamily="34" charset="-120"/>
              </a:rPr>
              <a:t>問 う</a:t>
            </a:r>
            <a:endParaRPr lang="en-US" sz="1300" dirty="0"/>
          </a:p>
        </p:txBody>
      </p:sp>
      <p:sp>
        <p:nvSpPr>
          <p:cNvPr id="11" name="Text 9"/>
          <p:cNvSpPr txBox="1"/>
          <p:nvPr/>
        </p:nvSpPr>
        <p:spPr>
          <a:xfrm>
            <a:off x="749808" y="3081528"/>
            <a:ext cx="1709928" cy="822960"/>
          </a:xfrm>
          <a:prstGeom prst="rect">
            <a:avLst/>
          </a:prstGeom>
          <a:noFill/>
          <a:ln/>
        </p:spPr>
        <p:txBody>
          <a:bodyPr wrap="square" lIns="0" tIns="0" rIns="0" bIns="0" rtlCol="0" anchor="ctr"/>
          <a:lstStyle/>
          <a:p>
            <a:pPr algn="ctr" indent="0" marL="0">
              <a:lnSpc>
                <a:spcPts val="1700"/>
              </a:lnSpc>
              <a:buNone/>
            </a:pPr>
            <a:r>
              <a:rPr lang="en-US" sz="1150" dirty="0">
                <a:solidFill>
                  <a:srgbClr val="465A63"/>
                </a:solidFill>
                <a:latin typeface="Meiryo" pitchFamily="34" charset="0"/>
                <a:ea typeface="Meiryo" pitchFamily="34" charset="-122"/>
                <a:cs typeface="Meiryo" pitchFamily="34" charset="-120"/>
              </a:rPr>
              <a:t>「預金の増減を</a:t>
            </a:r>
            <a:endParaRPr lang="en-US" sz="1150" dirty="0"/>
          </a:p>
          <a:p>
            <a:pPr algn="ctr" indent="0" marL="0">
              <a:lnSpc>
                <a:spcPts val="1700"/>
              </a:lnSpc>
              <a:buNone/>
            </a:pPr>
            <a:r>
              <a:rPr lang="en-US" sz="1150" dirty="0">
                <a:solidFill>
                  <a:srgbClr val="465A63"/>
                </a:solidFill>
                <a:latin typeface="Meiryo" pitchFamily="34" charset="0"/>
                <a:ea typeface="Meiryo" pitchFamily="34" charset="-122"/>
                <a:cs typeface="Meiryo" pitchFamily="34" charset="-120"/>
              </a:rPr>
              <a:t>知りたい」と想定</a:t>
            </a:r>
            <a:endParaRPr lang="en-US" sz="1150" dirty="0"/>
          </a:p>
        </p:txBody>
      </p:sp>
      <p:sp>
        <p:nvSpPr>
          <p:cNvPr id="12" name="Shape 10"/>
          <p:cNvSpPr/>
          <p:nvPr/>
        </p:nvSpPr>
        <p:spPr>
          <a:xfrm>
            <a:off x="2615184" y="2976372"/>
            <a:ext cx="219456" cy="219456"/>
          </a:xfrm>
          <a:prstGeom prst="rightArrow">
            <a:avLst/>
          </a:prstGeom>
          <a:solidFill>
            <a:srgbClr val="C2CFD3"/>
          </a:solidFill>
          <a:ln w="12700">
            <a:solidFill>
              <a:srgbClr val="C2CFD3"/>
            </a:solidFill>
            <a:prstDash val="solid"/>
          </a:ln>
        </p:spPr>
      </p:sp>
      <p:sp>
        <p:nvSpPr>
          <p:cNvPr id="13" name="Shape 11"/>
          <p:cNvSpPr/>
          <p:nvPr/>
        </p:nvSpPr>
        <p:spPr>
          <a:xfrm>
            <a:off x="2880360" y="1965960"/>
            <a:ext cx="1929384" cy="2240280"/>
          </a:xfrm>
          <a:prstGeom prst="roundRect">
            <a:avLst>
              <a:gd name="adj" fmla="val 2370"/>
            </a:avLst>
          </a:prstGeom>
          <a:solidFill>
            <a:srgbClr val="F3F6F7"/>
          </a:solidFill>
          <a:ln w="9525">
            <a:solidFill>
              <a:srgbClr val="F3F6F7"/>
            </a:solidFill>
            <a:prstDash val="solid"/>
          </a:ln>
        </p:spPr>
      </p:sp>
      <p:sp>
        <p:nvSpPr>
          <p:cNvPr id="14" name="Text 12"/>
          <p:cNvSpPr txBox="1"/>
          <p:nvPr/>
        </p:nvSpPr>
        <p:spPr>
          <a:xfrm>
            <a:off x="2880360" y="2221992"/>
            <a:ext cx="1929384" cy="310896"/>
          </a:xfrm>
          <a:prstGeom prst="rect">
            <a:avLst/>
          </a:prstGeom>
          <a:noFill/>
          <a:ln/>
        </p:spPr>
        <p:txBody>
          <a:bodyPr wrap="square" lIns="0" tIns="0" rIns="0" bIns="0" rtlCol="0" anchor="ctr"/>
          <a:lstStyle/>
          <a:p>
            <a:pPr algn="ctr" indent="0" marL="0">
              <a:buNone/>
            </a:pPr>
            <a:r>
              <a:rPr lang="en-US" sz="1600" b="1" dirty="0">
                <a:solidFill>
                  <a:srgbClr val="B9C7CC"/>
                </a:solidFill>
                <a:latin typeface="Meiryo" pitchFamily="34" charset="0"/>
                <a:ea typeface="Meiryo" pitchFamily="34" charset="-122"/>
                <a:cs typeface="Meiryo" pitchFamily="34" charset="-120"/>
              </a:rPr>
              <a:t>2</a:t>
            </a:r>
            <a:endParaRPr lang="en-US" sz="1600" dirty="0"/>
          </a:p>
        </p:txBody>
      </p:sp>
      <p:sp>
        <p:nvSpPr>
          <p:cNvPr id="15" name="Text 13"/>
          <p:cNvSpPr txBox="1"/>
          <p:nvPr/>
        </p:nvSpPr>
        <p:spPr>
          <a:xfrm>
            <a:off x="2880360" y="2679192"/>
            <a:ext cx="1929384" cy="274320"/>
          </a:xfrm>
          <a:prstGeom prst="rect">
            <a:avLst/>
          </a:prstGeom>
          <a:noFill/>
          <a:ln/>
        </p:spPr>
        <p:txBody>
          <a:bodyPr wrap="square" lIns="0" tIns="0" rIns="0" bIns="0" rtlCol="0" anchor="ctr"/>
          <a:lstStyle/>
          <a:p>
            <a:pPr algn="ctr" indent="0" marL="0">
              <a:buNone/>
            </a:pPr>
            <a:r>
              <a:rPr lang="en-US" sz="1300" b="1" spc="80" kern="0" dirty="0">
                <a:solidFill>
                  <a:srgbClr val="1A2B33"/>
                </a:solidFill>
                <a:latin typeface="Meiryo" pitchFamily="34" charset="0"/>
                <a:ea typeface="Meiryo" pitchFamily="34" charset="-122"/>
                <a:cs typeface="Meiryo" pitchFamily="34" charset="-120"/>
              </a:rPr>
              <a:t>整 え る</a:t>
            </a:r>
            <a:endParaRPr lang="en-US" sz="1300" dirty="0"/>
          </a:p>
        </p:txBody>
      </p:sp>
      <p:sp>
        <p:nvSpPr>
          <p:cNvPr id="16" name="Text 14"/>
          <p:cNvSpPr txBox="1"/>
          <p:nvPr/>
        </p:nvSpPr>
        <p:spPr>
          <a:xfrm>
            <a:off x="2990088" y="3081528"/>
            <a:ext cx="1709928" cy="822960"/>
          </a:xfrm>
          <a:prstGeom prst="rect">
            <a:avLst/>
          </a:prstGeom>
          <a:noFill/>
          <a:ln/>
        </p:spPr>
        <p:txBody>
          <a:bodyPr wrap="square" lIns="0" tIns="0" rIns="0" bIns="0" rtlCol="0" anchor="ctr"/>
          <a:lstStyle/>
          <a:p>
            <a:pPr algn="ctr" indent="0" marL="0">
              <a:lnSpc>
                <a:spcPts val="1700"/>
              </a:lnSpc>
              <a:buNone/>
            </a:pPr>
            <a:r>
              <a:rPr lang="en-US" sz="1150" dirty="0">
                <a:solidFill>
                  <a:srgbClr val="465A63"/>
                </a:solidFill>
                <a:latin typeface="Meiryo" pitchFamily="34" charset="0"/>
                <a:ea typeface="Meiryo" pitchFamily="34" charset="-122"/>
                <a:cs typeface="Meiryo" pitchFamily="34" charset="-120"/>
              </a:rPr>
              <a:t>取引履歴（流動）から</a:t>
            </a:r>
            <a:endParaRPr lang="en-US" sz="1150" dirty="0"/>
          </a:p>
          <a:p>
            <a:pPr algn="ctr" indent="0" marL="0">
              <a:lnSpc>
                <a:spcPts val="1700"/>
              </a:lnSpc>
              <a:buNone/>
            </a:pPr>
            <a:r>
              <a:rPr lang="en-US" sz="1150" dirty="0">
                <a:solidFill>
                  <a:srgbClr val="465A63"/>
                </a:solidFill>
                <a:latin typeface="Meiryo" pitchFamily="34" charset="0"/>
                <a:ea typeface="Meiryo" pitchFamily="34" charset="-122"/>
                <a:cs typeface="Meiryo" pitchFamily="34" charset="-120"/>
              </a:rPr>
              <a:t>入出金テーブルを作成</a:t>
            </a:r>
            <a:endParaRPr lang="en-US" sz="1150" dirty="0"/>
          </a:p>
        </p:txBody>
      </p:sp>
      <p:sp>
        <p:nvSpPr>
          <p:cNvPr id="17" name="Shape 15"/>
          <p:cNvSpPr/>
          <p:nvPr/>
        </p:nvSpPr>
        <p:spPr>
          <a:xfrm>
            <a:off x="4855464" y="2976372"/>
            <a:ext cx="219456" cy="219456"/>
          </a:xfrm>
          <a:prstGeom prst="rightArrow">
            <a:avLst/>
          </a:prstGeom>
          <a:solidFill>
            <a:srgbClr val="C2CFD3"/>
          </a:solidFill>
          <a:ln w="12700">
            <a:solidFill>
              <a:srgbClr val="C2CFD3"/>
            </a:solidFill>
            <a:prstDash val="solid"/>
          </a:ln>
        </p:spPr>
      </p:sp>
      <p:sp>
        <p:nvSpPr>
          <p:cNvPr id="18" name="Shape 16"/>
          <p:cNvSpPr/>
          <p:nvPr/>
        </p:nvSpPr>
        <p:spPr>
          <a:xfrm>
            <a:off x="5120640" y="1965960"/>
            <a:ext cx="1929384" cy="2240280"/>
          </a:xfrm>
          <a:prstGeom prst="roundRect">
            <a:avLst>
              <a:gd name="adj" fmla="val 2370"/>
            </a:avLst>
          </a:prstGeom>
          <a:solidFill>
            <a:srgbClr val="F3F6F7"/>
          </a:solidFill>
          <a:ln w="9525">
            <a:solidFill>
              <a:srgbClr val="F3F6F7"/>
            </a:solidFill>
            <a:prstDash val="solid"/>
          </a:ln>
        </p:spPr>
      </p:sp>
      <p:sp>
        <p:nvSpPr>
          <p:cNvPr id="19" name="Text 17"/>
          <p:cNvSpPr txBox="1"/>
          <p:nvPr/>
        </p:nvSpPr>
        <p:spPr>
          <a:xfrm>
            <a:off x="5120640" y="2221992"/>
            <a:ext cx="1929384" cy="310896"/>
          </a:xfrm>
          <a:prstGeom prst="rect">
            <a:avLst/>
          </a:prstGeom>
          <a:noFill/>
          <a:ln/>
        </p:spPr>
        <p:txBody>
          <a:bodyPr wrap="square" lIns="0" tIns="0" rIns="0" bIns="0" rtlCol="0" anchor="ctr"/>
          <a:lstStyle/>
          <a:p>
            <a:pPr algn="ctr" indent="0" marL="0">
              <a:buNone/>
            </a:pPr>
            <a:r>
              <a:rPr lang="en-US" sz="1600" b="1" dirty="0">
                <a:solidFill>
                  <a:srgbClr val="B9C7CC"/>
                </a:solidFill>
                <a:latin typeface="Meiryo" pitchFamily="34" charset="0"/>
                <a:ea typeface="Meiryo" pitchFamily="34" charset="-122"/>
                <a:cs typeface="Meiryo" pitchFamily="34" charset="-120"/>
              </a:rPr>
              <a:t>3</a:t>
            </a:r>
            <a:endParaRPr lang="en-US" sz="1600" dirty="0"/>
          </a:p>
        </p:txBody>
      </p:sp>
      <p:sp>
        <p:nvSpPr>
          <p:cNvPr id="20" name="Text 18"/>
          <p:cNvSpPr txBox="1"/>
          <p:nvPr/>
        </p:nvSpPr>
        <p:spPr>
          <a:xfrm>
            <a:off x="5120640" y="2679192"/>
            <a:ext cx="1929384" cy="274320"/>
          </a:xfrm>
          <a:prstGeom prst="rect">
            <a:avLst/>
          </a:prstGeom>
          <a:noFill/>
          <a:ln/>
        </p:spPr>
        <p:txBody>
          <a:bodyPr wrap="square" lIns="0" tIns="0" rIns="0" bIns="0" rtlCol="0" anchor="ctr"/>
          <a:lstStyle/>
          <a:p>
            <a:pPr algn="ctr" indent="0" marL="0">
              <a:buNone/>
            </a:pPr>
            <a:r>
              <a:rPr lang="en-US" sz="1300" b="1" spc="80" kern="0" dirty="0">
                <a:solidFill>
                  <a:srgbClr val="1A2B33"/>
                </a:solidFill>
                <a:latin typeface="Meiryo" pitchFamily="34" charset="0"/>
                <a:ea typeface="Meiryo" pitchFamily="34" charset="-122"/>
                <a:cs typeface="Meiryo" pitchFamily="34" charset="-120"/>
              </a:rPr>
              <a:t>確 か め る</a:t>
            </a:r>
            <a:endParaRPr lang="en-US" sz="1300" dirty="0"/>
          </a:p>
        </p:txBody>
      </p:sp>
      <p:sp>
        <p:nvSpPr>
          <p:cNvPr id="21" name="Text 19"/>
          <p:cNvSpPr txBox="1"/>
          <p:nvPr/>
        </p:nvSpPr>
        <p:spPr>
          <a:xfrm>
            <a:off x="5230368" y="3081528"/>
            <a:ext cx="1709928" cy="822960"/>
          </a:xfrm>
          <a:prstGeom prst="rect">
            <a:avLst/>
          </a:prstGeom>
          <a:noFill/>
          <a:ln/>
        </p:spPr>
        <p:txBody>
          <a:bodyPr wrap="square" lIns="0" tIns="0" rIns="0" bIns="0" rtlCol="0" anchor="ctr"/>
          <a:lstStyle/>
          <a:p>
            <a:pPr algn="ctr" indent="0" marL="0">
              <a:lnSpc>
                <a:spcPts val="1700"/>
              </a:lnSpc>
              <a:buNone/>
            </a:pPr>
            <a:r>
              <a:rPr lang="en-US" sz="1150" dirty="0">
                <a:solidFill>
                  <a:srgbClr val="465A63"/>
                </a:solidFill>
                <a:latin typeface="Meiryo" pitchFamily="34" charset="0"/>
                <a:ea typeface="Meiryo" pitchFamily="34" charset="-122"/>
                <a:cs typeface="Meiryo" pitchFamily="34" charset="-120"/>
              </a:rPr>
              <a:t>IBは増加</a:t>
            </a:r>
            <a:endParaRPr lang="en-US" sz="1150" dirty="0"/>
          </a:p>
          <a:p>
            <a:pPr algn="ctr" indent="0" marL="0">
              <a:lnSpc>
                <a:spcPts val="1700"/>
              </a:lnSpc>
              <a:buNone/>
            </a:pPr>
            <a:r>
              <a:rPr lang="en-US" sz="1150" dirty="0">
                <a:solidFill>
                  <a:srgbClr val="465A63"/>
                </a:solidFill>
                <a:latin typeface="Meiryo" pitchFamily="34" charset="0"/>
                <a:ea typeface="Meiryo" pitchFamily="34" charset="-122"/>
                <a:cs typeface="Meiryo" pitchFamily="34" charset="-120"/>
              </a:rPr>
              <a:t>ATM側は減少</a:t>
            </a:r>
            <a:endParaRPr lang="en-US" sz="1150" dirty="0"/>
          </a:p>
        </p:txBody>
      </p:sp>
      <p:sp>
        <p:nvSpPr>
          <p:cNvPr id="22" name="Shape 20"/>
          <p:cNvSpPr/>
          <p:nvPr/>
        </p:nvSpPr>
        <p:spPr>
          <a:xfrm>
            <a:off x="7095744" y="2976372"/>
            <a:ext cx="219456" cy="219456"/>
          </a:xfrm>
          <a:prstGeom prst="rightArrow">
            <a:avLst/>
          </a:prstGeom>
          <a:solidFill>
            <a:srgbClr val="C2CFD3"/>
          </a:solidFill>
          <a:ln w="12700">
            <a:solidFill>
              <a:srgbClr val="C2CFD3"/>
            </a:solidFill>
            <a:prstDash val="solid"/>
          </a:ln>
        </p:spPr>
      </p:sp>
      <p:sp>
        <p:nvSpPr>
          <p:cNvPr id="23" name="Shape 21"/>
          <p:cNvSpPr/>
          <p:nvPr/>
        </p:nvSpPr>
        <p:spPr>
          <a:xfrm>
            <a:off x="7360920" y="1965960"/>
            <a:ext cx="1929384" cy="2240280"/>
          </a:xfrm>
          <a:prstGeom prst="roundRect">
            <a:avLst>
              <a:gd name="adj" fmla="val 2370"/>
            </a:avLst>
          </a:prstGeom>
          <a:solidFill>
            <a:srgbClr val="F3F6F7"/>
          </a:solidFill>
          <a:ln w="9525">
            <a:solidFill>
              <a:srgbClr val="F3F6F7"/>
            </a:solidFill>
            <a:prstDash val="solid"/>
          </a:ln>
        </p:spPr>
      </p:sp>
      <p:sp>
        <p:nvSpPr>
          <p:cNvPr id="24" name="Text 22"/>
          <p:cNvSpPr txBox="1"/>
          <p:nvPr/>
        </p:nvSpPr>
        <p:spPr>
          <a:xfrm>
            <a:off x="7360920" y="2221992"/>
            <a:ext cx="1929384" cy="310896"/>
          </a:xfrm>
          <a:prstGeom prst="rect">
            <a:avLst/>
          </a:prstGeom>
          <a:noFill/>
          <a:ln/>
        </p:spPr>
        <p:txBody>
          <a:bodyPr wrap="square" lIns="0" tIns="0" rIns="0" bIns="0" rtlCol="0" anchor="ctr"/>
          <a:lstStyle/>
          <a:p>
            <a:pPr algn="ctr" indent="0" marL="0">
              <a:buNone/>
            </a:pPr>
            <a:r>
              <a:rPr lang="en-US" sz="1600" b="1" dirty="0">
                <a:solidFill>
                  <a:srgbClr val="B9C7CC"/>
                </a:solidFill>
                <a:latin typeface="Meiryo" pitchFamily="34" charset="0"/>
                <a:ea typeface="Meiryo" pitchFamily="34" charset="-122"/>
                <a:cs typeface="Meiryo" pitchFamily="34" charset="-120"/>
              </a:rPr>
              <a:t>4</a:t>
            </a:r>
            <a:endParaRPr lang="en-US" sz="1600" dirty="0"/>
          </a:p>
        </p:txBody>
      </p:sp>
      <p:sp>
        <p:nvSpPr>
          <p:cNvPr id="25" name="Text 23"/>
          <p:cNvSpPr txBox="1"/>
          <p:nvPr/>
        </p:nvSpPr>
        <p:spPr>
          <a:xfrm>
            <a:off x="7360920" y="2679192"/>
            <a:ext cx="1929384" cy="274320"/>
          </a:xfrm>
          <a:prstGeom prst="rect">
            <a:avLst/>
          </a:prstGeom>
          <a:noFill/>
          <a:ln/>
        </p:spPr>
        <p:txBody>
          <a:bodyPr wrap="square" lIns="0" tIns="0" rIns="0" bIns="0" rtlCol="0" anchor="ctr"/>
          <a:lstStyle/>
          <a:p>
            <a:pPr algn="ctr" indent="0" marL="0">
              <a:buNone/>
            </a:pPr>
            <a:r>
              <a:rPr lang="en-US" sz="1300" b="1" spc="80" kern="0" dirty="0">
                <a:solidFill>
                  <a:srgbClr val="1A2B33"/>
                </a:solidFill>
                <a:latin typeface="Meiryo" pitchFamily="34" charset="0"/>
                <a:ea typeface="Meiryo" pitchFamily="34" charset="-122"/>
                <a:cs typeface="Meiryo" pitchFamily="34" charset="-120"/>
              </a:rPr>
              <a:t>深 掘 る</a:t>
            </a:r>
            <a:endParaRPr lang="en-US" sz="1300" dirty="0"/>
          </a:p>
        </p:txBody>
      </p:sp>
      <p:sp>
        <p:nvSpPr>
          <p:cNvPr id="26" name="Text 24"/>
          <p:cNvSpPr txBox="1"/>
          <p:nvPr/>
        </p:nvSpPr>
        <p:spPr>
          <a:xfrm>
            <a:off x="7470648" y="3081528"/>
            <a:ext cx="1709928" cy="822960"/>
          </a:xfrm>
          <a:prstGeom prst="rect">
            <a:avLst/>
          </a:prstGeom>
          <a:noFill/>
          <a:ln/>
        </p:spPr>
        <p:txBody>
          <a:bodyPr wrap="square" lIns="0" tIns="0" rIns="0" bIns="0" rtlCol="0" anchor="ctr"/>
          <a:lstStyle/>
          <a:p>
            <a:pPr algn="ctr" indent="0" marL="0">
              <a:lnSpc>
                <a:spcPts val="1700"/>
              </a:lnSpc>
              <a:buNone/>
            </a:pPr>
            <a:r>
              <a:rPr lang="en-US" sz="1150" dirty="0">
                <a:solidFill>
                  <a:srgbClr val="465A63"/>
                </a:solidFill>
                <a:latin typeface="Meiryo" pitchFamily="34" charset="0"/>
                <a:ea typeface="Meiryo" pitchFamily="34" charset="-122"/>
                <a:cs typeface="Meiryo" pitchFamily="34" charset="-120"/>
              </a:rPr>
              <a:t>年代別に</a:t>
            </a:r>
            <a:endParaRPr lang="en-US" sz="1150" dirty="0"/>
          </a:p>
          <a:p>
            <a:pPr algn="ctr" indent="0" marL="0">
              <a:lnSpc>
                <a:spcPts val="1700"/>
              </a:lnSpc>
              <a:buNone/>
            </a:pPr>
            <a:r>
              <a:rPr lang="en-US" sz="1150" dirty="0">
                <a:solidFill>
                  <a:srgbClr val="465A63"/>
                </a:solidFill>
                <a:latin typeface="Meiryo" pitchFamily="34" charset="0"/>
                <a:ea typeface="Meiryo" pitchFamily="34" charset="-122"/>
                <a:cs typeface="Meiryo" pitchFamily="34" charset="-120"/>
              </a:rPr>
              <a:t>増加率を確認</a:t>
            </a:r>
            <a:endParaRPr lang="en-US" sz="1150" dirty="0"/>
          </a:p>
        </p:txBody>
      </p:sp>
      <p:sp>
        <p:nvSpPr>
          <p:cNvPr id="27" name="Shape 25"/>
          <p:cNvSpPr/>
          <p:nvPr/>
        </p:nvSpPr>
        <p:spPr>
          <a:xfrm>
            <a:off x="9336024" y="2976372"/>
            <a:ext cx="219456" cy="219456"/>
          </a:xfrm>
          <a:prstGeom prst="rightArrow">
            <a:avLst/>
          </a:prstGeom>
          <a:solidFill>
            <a:srgbClr val="C2CFD3"/>
          </a:solidFill>
          <a:ln w="12700">
            <a:solidFill>
              <a:srgbClr val="C2CFD3"/>
            </a:solidFill>
            <a:prstDash val="solid"/>
          </a:ln>
        </p:spPr>
      </p:sp>
      <p:sp>
        <p:nvSpPr>
          <p:cNvPr id="28" name="Shape 26"/>
          <p:cNvSpPr/>
          <p:nvPr/>
        </p:nvSpPr>
        <p:spPr>
          <a:xfrm>
            <a:off x="9601200" y="1965960"/>
            <a:ext cx="1929384" cy="2240280"/>
          </a:xfrm>
          <a:prstGeom prst="roundRect">
            <a:avLst>
              <a:gd name="adj" fmla="val 2370"/>
            </a:avLst>
          </a:prstGeom>
          <a:solidFill>
            <a:srgbClr val="0F5A6B"/>
          </a:solidFill>
          <a:ln w="9525">
            <a:solidFill>
              <a:srgbClr val="0F5A6B"/>
            </a:solidFill>
            <a:prstDash val="solid"/>
          </a:ln>
        </p:spPr>
      </p:sp>
      <p:sp>
        <p:nvSpPr>
          <p:cNvPr id="29" name="Text 27"/>
          <p:cNvSpPr txBox="1"/>
          <p:nvPr/>
        </p:nvSpPr>
        <p:spPr>
          <a:xfrm>
            <a:off x="9601200" y="2221992"/>
            <a:ext cx="1929384" cy="310896"/>
          </a:xfrm>
          <a:prstGeom prst="rect">
            <a:avLst/>
          </a:prstGeom>
          <a:noFill/>
          <a:ln/>
        </p:spPr>
        <p:txBody>
          <a:bodyPr wrap="square" lIns="0" tIns="0" rIns="0" bIns="0" rtlCol="0" anchor="ctr"/>
          <a:lstStyle/>
          <a:p>
            <a:pPr algn="ctr" indent="0" marL="0">
              <a:buNone/>
            </a:pPr>
            <a:r>
              <a:rPr lang="en-US" sz="1600" b="1" dirty="0">
                <a:solidFill>
                  <a:srgbClr val="9CC8CF"/>
                </a:solidFill>
                <a:latin typeface="Meiryo" pitchFamily="34" charset="0"/>
                <a:ea typeface="Meiryo" pitchFamily="34" charset="-122"/>
                <a:cs typeface="Meiryo" pitchFamily="34" charset="-120"/>
              </a:rPr>
              <a:t>5</a:t>
            </a:r>
            <a:endParaRPr lang="en-US" sz="1600" dirty="0"/>
          </a:p>
        </p:txBody>
      </p:sp>
      <p:sp>
        <p:nvSpPr>
          <p:cNvPr id="30" name="Text 28"/>
          <p:cNvSpPr txBox="1"/>
          <p:nvPr/>
        </p:nvSpPr>
        <p:spPr>
          <a:xfrm>
            <a:off x="9601200" y="2679192"/>
            <a:ext cx="1929384" cy="274320"/>
          </a:xfrm>
          <a:prstGeom prst="rect">
            <a:avLst/>
          </a:prstGeom>
          <a:noFill/>
          <a:ln/>
        </p:spPr>
        <p:txBody>
          <a:bodyPr wrap="square" lIns="0" tIns="0" rIns="0" bIns="0" rtlCol="0" anchor="ctr"/>
          <a:lstStyle/>
          <a:p>
            <a:pPr algn="ctr" indent="0" marL="0">
              <a:buNone/>
            </a:pPr>
            <a:r>
              <a:rPr lang="en-US" sz="1300" b="1" spc="80" kern="0" dirty="0">
                <a:solidFill>
                  <a:srgbClr val="FFFFFF"/>
                </a:solidFill>
                <a:latin typeface="Meiryo" pitchFamily="34" charset="0"/>
                <a:ea typeface="Meiryo" pitchFamily="34" charset="-122"/>
                <a:cs typeface="Meiryo" pitchFamily="34" charset="-120"/>
              </a:rPr>
              <a:t>次 の 一 手</a:t>
            </a:r>
            <a:endParaRPr lang="en-US" sz="1300" dirty="0"/>
          </a:p>
        </p:txBody>
      </p:sp>
      <p:sp>
        <p:nvSpPr>
          <p:cNvPr id="31" name="Text 29"/>
          <p:cNvSpPr txBox="1"/>
          <p:nvPr/>
        </p:nvSpPr>
        <p:spPr>
          <a:xfrm>
            <a:off x="9710928" y="3081528"/>
            <a:ext cx="1709928" cy="822960"/>
          </a:xfrm>
          <a:prstGeom prst="rect">
            <a:avLst/>
          </a:prstGeom>
          <a:noFill/>
          <a:ln/>
        </p:spPr>
        <p:txBody>
          <a:bodyPr wrap="square" lIns="0" tIns="0" rIns="0" bIns="0" rtlCol="0" anchor="ctr"/>
          <a:lstStyle/>
          <a:p>
            <a:pPr algn="ctr" indent="0" marL="0">
              <a:lnSpc>
                <a:spcPts val="1700"/>
              </a:lnSpc>
              <a:buNone/>
            </a:pPr>
            <a:r>
              <a:rPr lang="en-US" sz="1150" dirty="0">
                <a:solidFill>
                  <a:srgbClr val="D6E8EB"/>
                </a:solidFill>
                <a:latin typeface="Meiryo" pitchFamily="34" charset="0"/>
                <a:ea typeface="Meiryo" pitchFamily="34" charset="-122"/>
                <a:cs typeface="Meiryo" pitchFamily="34" charset="-120"/>
              </a:rPr>
              <a:t>案内すべき年代と</a:t>
            </a:r>
            <a:endParaRPr lang="en-US" sz="1150" dirty="0"/>
          </a:p>
          <a:p>
            <a:pPr algn="ctr" indent="0" marL="0">
              <a:lnSpc>
                <a:spcPts val="1700"/>
              </a:lnSpc>
              <a:buNone/>
            </a:pPr>
            <a:r>
              <a:rPr lang="en-US" sz="1150" dirty="0">
                <a:solidFill>
                  <a:srgbClr val="D6E8EB"/>
                </a:solidFill>
                <a:latin typeface="Meiryo" pitchFamily="34" charset="0"/>
                <a:ea typeface="Meiryo" pitchFamily="34" charset="-122"/>
                <a:cs typeface="Meiryo" pitchFamily="34" charset="-120"/>
              </a:rPr>
              <a:t>方法を検討</a:t>
            </a:r>
            <a:endParaRPr lang="en-US" sz="1150" dirty="0"/>
          </a:p>
        </p:txBody>
      </p:sp>
      <p:sp>
        <p:nvSpPr>
          <p:cNvPr id="32" name="Shape 30"/>
          <p:cNvSpPr/>
          <p:nvPr/>
        </p:nvSpPr>
        <p:spPr>
          <a:xfrm>
            <a:off x="640080" y="4617720"/>
            <a:ext cx="10911535" cy="868680"/>
          </a:xfrm>
          <a:prstGeom prst="roundRect">
            <a:avLst>
              <a:gd name="adj" fmla="val 5263"/>
            </a:avLst>
          </a:prstGeom>
          <a:solidFill>
            <a:srgbClr val="E2EEF0"/>
          </a:solidFill>
          <a:ln w="12700">
            <a:solidFill>
              <a:srgbClr val="E2EEF0"/>
            </a:solidFill>
            <a:prstDash val="solid"/>
          </a:ln>
        </p:spPr>
      </p:sp>
      <p:sp>
        <p:nvSpPr>
          <p:cNvPr id="33" name="Text 31"/>
          <p:cNvSpPr txBox="1"/>
          <p:nvPr/>
        </p:nvSpPr>
        <p:spPr>
          <a:xfrm>
            <a:off x="914400" y="4617720"/>
            <a:ext cx="10362895" cy="868680"/>
          </a:xfrm>
          <a:prstGeom prst="rect">
            <a:avLst/>
          </a:prstGeom>
          <a:noFill/>
          <a:ln/>
        </p:spPr>
        <p:txBody>
          <a:bodyPr wrap="square" lIns="0" tIns="0" rIns="0" bIns="0" rtlCol="0" anchor="ctr"/>
          <a:lstStyle/>
          <a:p>
            <a:pPr algn="ctr" indent="0" marL="0">
              <a:buNone/>
            </a:pPr>
            <a:r>
              <a:rPr lang="en-US" sz="1500" b="1" dirty="0">
                <a:solidFill>
                  <a:srgbClr val="0F5A6B"/>
                </a:solidFill>
                <a:latin typeface="Meiryo" pitchFamily="34" charset="0"/>
                <a:ea typeface="Meiryo" pitchFamily="34" charset="-122"/>
                <a:cs typeface="Meiryo" pitchFamily="34" charset="-120"/>
              </a:rPr>
              <a:t>行内にあるデータも、条件を指定して見られる形に整えれば、業務上の問いに答え、次の施策を考える材料になる</a:t>
            </a:r>
            <a:endParaRPr lang="en-US" sz="1500" dirty="0"/>
          </a:p>
        </p:txBody>
      </p:sp>
      <p:sp>
        <p:nvSpPr>
          <p:cNvPr id="34" name="Text 32"/>
          <p:cNvSpPr txBox="1"/>
          <p:nvPr/>
        </p:nvSpPr>
        <p:spPr>
          <a:xfrm>
            <a:off x="640080" y="5687568"/>
            <a:ext cx="10911535" cy="292608"/>
          </a:xfrm>
          <a:prstGeom prst="rect">
            <a:avLst/>
          </a:prstGeom>
          <a:noFill/>
          <a:ln/>
        </p:spPr>
        <p:txBody>
          <a:bodyPr wrap="square" lIns="0" tIns="0" rIns="0" bIns="0" rtlCol="0" anchor="ctr"/>
          <a:lstStyle/>
          <a:p>
            <a:pPr algn="ctr" indent="0" marL="0">
              <a:buNone/>
            </a:pPr>
            <a:r>
              <a:rPr lang="en-US" sz="1250" dirty="0">
                <a:solidFill>
                  <a:srgbClr val="8497A0"/>
                </a:solidFill>
                <a:latin typeface="Meiryo" pitchFamily="34" charset="0"/>
                <a:ea typeface="Meiryo" pitchFamily="34" charset="-122"/>
                <a:cs typeface="Meiryo" pitchFamily="34" charset="-120"/>
              </a:rPr>
              <a:t>今回のワークで学んだのは、この一連のプロセス</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銀行データを価値に変えるプロセス</dc:title>
  <dc:subject>PptxGenJS Presentation</dc:subject>
  <dc:creator>PptxGenJS</dc:creator>
  <cp:lastModifiedBy>PptxGenJS</cp:lastModifiedBy>
  <cp:revision>1</cp:revision>
  <dcterms:created xsi:type="dcterms:W3CDTF">2026-09-01T08:00:34Z</dcterms:created>
  <dcterms:modified xsi:type="dcterms:W3CDTF">2026-09-01T08:00:34Z</dcterms:modified>
</cp:coreProperties>
</file>