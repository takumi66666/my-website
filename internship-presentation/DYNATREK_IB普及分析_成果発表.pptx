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本日は、2週間のインターンシップで取り組んだ内容についてご報告します。
タイトルにあるとおり、今回私が扱ったのは「愛知銀行のインターネットバンキング、IBがどれくらい広がっているのか」という疑問です。
ただ、本日一番お伝えしたいのは分析結果そのものではありません。
今日お伝えしたいのは、DYNATREKを使えば、データ分析の専門知識や経験がない人でも、業務データを集計して傾向をつかめる、ということです。そして今回は、その一例として、私が実際にやってみた分析をご紹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まず、今回のテーマと背景です。愛知銀行ではIBの普及に向けた施策やキャンペーンが行われていて、では実際にどれくらい使われるようになったのか、を確かめたい、というのが出発点でした。
ここで、今日の主張をはっきりさせておきます。分析の専門知識や経験がなくても、業務データから傾向はつかめる、ということです。
というのも、業務上の疑問をデータで確かめようとすると、壁が2つあるからです。
壁①は「そもそも何を見れば答えになるのか」を決めること。これは人が考えるしかありません。
壁②は「そのデータを業務DBから取り出す」こと。業務DBには分析に使わない項目も大量にあるので、専門知識がないとここでつまずきます。
DYNATREKは条件を指定して必要なデータだけを表示・集計できるので、この壁②を引き受けてくれます。だから壁①を考えることに時間を使える。ここが一番のポイントです。
そして今回は、その一例として、私が実際に行った分析をご紹介します。どう考えて、どう集計したのかを見ていただければと思います。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壁①、つまり「何を見れば答えになるのか」を考えた部分です。今回、時間を一番使ったのはここでした。
最初に思いついたのは、単純にIBの利用件数を数えることでした。ただ、取引全体が増えれば件数も増えるので、件数が増えたことだけでは「普及した」とは言い切れません。
そこで、IBの普及とは「IBでも行える取引が、IBで行われるようになること」ではないか、と考え直しました。
この考え方に立つと、比べるべきものが決まります。右の図のとおり、振込・振替のようにIBでも行える取引を、IBで実施されたものと、ATMで実施されたものに分けて見る、ということです。
ATMでしか行えない現金の入出金などは、IBに移りようがないので今回は対象から外しました。
対象期間は、使えるデータの範囲である2025年と2026年の4〜6月、計6か月です。
ここまでが「何を見るか」を決めるところで、ここから先が実際の集計になります。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実際にDYNATREKで行ったことは、左に書いた3つだけです。期間を指定し、取引の種類を指定し、チャネル別に件数を集計して並べる。統計モデルや機械学習は使っていません。
結果ですが、IBの利用件数は1か月あたり、2025年が約15万から16万件、2026年が約18万から20万件でした。前年の同じ4〜6月と比べると増えています。
グラフ①が月ごとの推移、グラフ②が同じ月のIBとATMのIB代替可能取引を並べたものです。（※グラフ②の見え方については、実際の数字を見ながら説明する）
ここで強調したいのは、この集計自体は、条件を指定して数えただけだということです。特別な分析の知識は使っていません。
ただ、この数字をどう読むかは、また別の話になります。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結果をどう読むかです。ここは意識して3つに分けました。
まず言えることは、前年の同じ4〜6月と比べてIBの利用件数は増えている、という事実です。
一方で、言えないこともあります。今回使えたデータは4〜6月の3か月分が2年分だけで、連続した推移が追えません。また、口座数の変化や取引全体の増減、季節性、社会全体でIB利用が広がっていること、といった施策以外の要因を切り分けることもできません。
ですので、「IB普及施策によって増えた」という因果関係は、このデータだけでは判断できない、というのが今回の結論です。ここは断定しないようにしました。
ただ、言えないことがはっきりしたことで、次に何を見ればよいかも具体的になりました。連続した月次推移で施策の前後を比べる、ATM側のIB代替可能取引が減っているかを対応させて見る、支店や年代などの属性別に見る、といったことです。
これらは、データが蓄積されれば、今回と同じやり方で確かめられると考えています。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最後にまとめです。
今回、DYNATREKに感じた価値は、機能の多さではなく、目的のデータを取り出すところの負担を下げてくれることでした。業務DBには分析に使わない項目も多く、そこが難しいのですが、DYNATREKは条件を指定して必要なデータだけを見られるので、専門的な分析知識がなくても、疑問をその場でデータに当てられます。
一方で、今回いちばん難しかったのは分析手法ではありませんでした。私は大学の研究でPOSデータを扱ってきたので、分析そのものの経験はあります。それでも、目的に対して何を見るべきか、何と比べるべきか、どこまで条件を絞るかを決めることが難しかったです。
DYNATREKは条件を細かく設定できるので、仮説はいくらでも立てられます。ただ実際の分析時間には限りがあるので、「分析できること」ではなく「目的の達成に必要な分析」を選ぶことが重要だと感じました。これが今回いちばんの学びです。
また、複数の打ち合わせにも参加させていただき、社員の方々が意見を出し合いながら進めていく様子を見られたことも、実際の業務を知るうえで貴重な経験でした。
専門的なデータ分析の知識がなくても、DYNATREKを使えば業務上の疑問にデータで向き合っていける。今回の分析を通して、それを実感しました。ありがとうございました。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4B"/>
        </a:solidFill>
      </p:bgPr>
    </p:bg>
    <p:spTree>
      <p:nvGrpSpPr>
        <p:cNvPr id="1" name=""/>
        <p:cNvGrpSpPr/>
        <p:nvPr/>
      </p:nvGrpSpPr>
      <p:grpSpPr>
        <a:xfrm>
          <a:off x="0" y="0"/>
          <a:ext cx="0" cy="0"/>
          <a:chOff x="0" y="0"/>
          <a:chExt cx="0" cy="0"/>
        </a:xfrm>
      </p:grpSpPr>
      <p:sp>
        <p:nvSpPr>
          <p:cNvPr id="2" name="Shape 0"/>
          <p:cNvSpPr/>
          <p:nvPr/>
        </p:nvSpPr>
        <p:spPr>
          <a:xfrm>
            <a:off x="8641080" y="1051560"/>
            <a:ext cx="2743200" cy="2743200"/>
          </a:xfrm>
          <a:prstGeom prst="ellipse">
            <a:avLst/>
          </a:prstGeom>
          <a:solidFill>
            <a:srgbClr val="1C3A66"/>
          </a:solidFill>
          <a:ln w="6350">
            <a:solidFill>
              <a:srgbClr val="1C3A66"/>
            </a:solidFill>
            <a:prstDash val="solid"/>
          </a:ln>
        </p:spPr>
      </p:sp>
      <p:sp>
        <p:nvSpPr>
          <p:cNvPr id="3" name="Shape 1"/>
          <p:cNvSpPr/>
          <p:nvPr/>
        </p:nvSpPr>
        <p:spPr>
          <a:xfrm>
            <a:off x="9281160" y="2395728"/>
            <a:ext cx="2651760" cy="2651760"/>
          </a:xfrm>
          <a:prstGeom prst="ellipse">
            <a:avLst/>
          </a:prstGeom>
          <a:solidFill>
            <a:srgbClr val="2A4A7A"/>
          </a:solidFill>
          <a:ln w="6350">
            <a:solidFill>
              <a:srgbClr val="2A4A7A"/>
            </a:solidFill>
            <a:prstDash val="solid"/>
          </a:ln>
        </p:spPr>
      </p:sp>
      <p:sp>
        <p:nvSpPr>
          <p:cNvPr id="4" name="Text 2"/>
          <p:cNvSpPr txBox="1"/>
          <p:nvPr/>
        </p:nvSpPr>
        <p:spPr>
          <a:xfrm>
            <a:off x="502920" y="777240"/>
            <a:ext cx="7680960" cy="320040"/>
          </a:xfrm>
          <a:prstGeom prst="rect">
            <a:avLst/>
          </a:prstGeom>
          <a:noFill/>
          <a:ln/>
        </p:spPr>
        <p:txBody>
          <a:bodyPr wrap="square" lIns="0" tIns="0" rIns="0" bIns="0" rtlCol="0" anchor="ctr"/>
          <a:lstStyle/>
          <a:p>
            <a:pPr indent="0" marL="0">
              <a:buNone/>
            </a:pPr>
            <a:r>
              <a:rPr lang="en-US" sz="1200" spc="100" kern="0" dirty="0">
                <a:solidFill>
                  <a:srgbClr val="CADCFC"/>
                </a:solidFill>
                <a:latin typeface="Meiryo" pitchFamily="34" charset="0"/>
                <a:ea typeface="Meiryo" pitchFamily="34" charset="-122"/>
                <a:cs typeface="Meiryo" pitchFamily="34" charset="-120"/>
              </a:rPr>
              <a:t>日立製作所　インターンシップ　成果発表</a:t>
            </a:r>
            <a:endParaRPr lang="en-US" sz="1200" dirty="0"/>
          </a:p>
        </p:txBody>
      </p:sp>
      <p:sp>
        <p:nvSpPr>
          <p:cNvPr id="5" name="Text 3"/>
          <p:cNvSpPr txBox="1"/>
          <p:nvPr/>
        </p:nvSpPr>
        <p:spPr>
          <a:xfrm>
            <a:off x="502920" y="1463040"/>
            <a:ext cx="8138160" cy="1737360"/>
          </a:xfrm>
          <a:prstGeom prst="rect">
            <a:avLst/>
          </a:prstGeom>
          <a:noFill/>
          <a:ln/>
        </p:spPr>
        <p:txBody>
          <a:bodyPr wrap="square" lIns="0" tIns="0" rIns="0" bIns="0" rtlCol="0" anchor="ctr"/>
          <a:lstStyle/>
          <a:p>
            <a:pPr indent="0" marL="0">
              <a:lnSpc>
                <a:spcPct val="125000"/>
              </a:lnSpc>
              <a:buNone/>
            </a:pPr>
            <a:r>
              <a:rPr lang="en-US" sz="3300" b="1" dirty="0">
                <a:solidFill>
                  <a:srgbClr val="FFFFFF"/>
                </a:solidFill>
                <a:latin typeface="Meiryo" pitchFamily="34" charset="0"/>
                <a:ea typeface="Meiryo" pitchFamily="34" charset="-122"/>
                <a:cs typeface="Meiryo" pitchFamily="34" charset="-120"/>
              </a:rPr>
              <a:t>「IBはどれくらい広がったのか」に</a:t>
            </a:r>
            <a:endParaRPr lang="en-US" sz="3300" dirty="0"/>
          </a:p>
          <a:p>
            <a:pPr indent="0" marL="0">
              <a:lnSpc>
                <a:spcPct val="125000"/>
              </a:lnSpc>
              <a:buNone/>
            </a:pPr>
            <a:r>
              <a:rPr lang="en-US" sz="3300" b="1" dirty="0">
                <a:solidFill>
                  <a:srgbClr val="FFFFFF"/>
                </a:solidFill>
                <a:latin typeface="Meiryo" pitchFamily="34" charset="0"/>
                <a:ea typeface="Meiryo" pitchFamily="34" charset="-122"/>
                <a:cs typeface="Meiryo" pitchFamily="34" charset="-120"/>
              </a:rPr>
              <a:t>データで答える</a:t>
            </a:r>
            <a:endParaRPr lang="en-US" sz="3300" dirty="0"/>
          </a:p>
        </p:txBody>
      </p:sp>
      <p:sp>
        <p:nvSpPr>
          <p:cNvPr id="6" name="Text 4"/>
          <p:cNvSpPr txBox="1"/>
          <p:nvPr/>
        </p:nvSpPr>
        <p:spPr>
          <a:xfrm>
            <a:off x="502920" y="3401568"/>
            <a:ext cx="8229600" cy="384048"/>
          </a:xfrm>
          <a:prstGeom prst="rect">
            <a:avLst/>
          </a:prstGeom>
          <a:noFill/>
          <a:ln/>
        </p:spPr>
        <p:txBody>
          <a:bodyPr wrap="square" lIns="0" tIns="0" rIns="0" bIns="0" rtlCol="0" anchor="ctr"/>
          <a:lstStyle/>
          <a:p>
            <a:pPr indent="0" marL="0">
              <a:buNone/>
            </a:pPr>
            <a:r>
              <a:rPr lang="en-US" sz="1550" dirty="0">
                <a:solidFill>
                  <a:srgbClr val="CADCFC"/>
                </a:solidFill>
                <a:latin typeface="Meiryo" pitchFamily="34" charset="0"/>
                <a:ea typeface="Meiryo" pitchFamily="34" charset="-122"/>
                <a:cs typeface="Meiryo" pitchFamily="34" charset="-120"/>
              </a:rPr>
              <a:t>分析の専門知識や経験がなくても、DYNATREKなら業務データから傾向をつかめる</a:t>
            </a:r>
            <a:endParaRPr lang="en-US" sz="1550" dirty="0"/>
          </a:p>
        </p:txBody>
      </p:sp>
      <p:sp>
        <p:nvSpPr>
          <p:cNvPr id="7" name="Shape 5"/>
          <p:cNvSpPr/>
          <p:nvPr/>
        </p:nvSpPr>
        <p:spPr>
          <a:xfrm>
            <a:off x="502920" y="3977640"/>
            <a:ext cx="6675120" cy="566928"/>
          </a:xfrm>
          <a:prstGeom prst="roundRect">
            <a:avLst>
              <a:gd name="adj" fmla="val 12903"/>
            </a:avLst>
          </a:prstGeom>
          <a:solidFill>
            <a:srgbClr val="1C3A66"/>
          </a:solidFill>
          <a:ln w="12700">
            <a:solidFill>
              <a:srgbClr val="2A4A7A"/>
            </a:solidFill>
            <a:prstDash val="solid"/>
          </a:ln>
        </p:spPr>
      </p:sp>
      <p:sp>
        <p:nvSpPr>
          <p:cNvPr id="8" name="Text 6"/>
          <p:cNvSpPr txBox="1"/>
          <p:nvPr/>
        </p:nvSpPr>
        <p:spPr>
          <a:xfrm>
            <a:off x="704088" y="3977640"/>
            <a:ext cx="6309360" cy="566928"/>
          </a:xfrm>
          <a:prstGeom prst="rect">
            <a:avLst/>
          </a:prstGeom>
          <a:noFill/>
          <a:ln/>
        </p:spPr>
        <p:txBody>
          <a:bodyPr wrap="square" lIns="0" tIns="0" rIns="0" bIns="0" rtlCol="0" anchor="ctr"/>
          <a:lstStyle/>
          <a:p>
            <a:pPr indent="0" marL="0">
              <a:buNone/>
            </a:pPr>
            <a:r>
              <a:rPr lang="en-US" sz="1300" dirty="0">
                <a:solidFill>
                  <a:srgbClr val="FFFFFF"/>
                </a:solidFill>
                <a:latin typeface="Meiryo" pitchFamily="34" charset="0"/>
                <a:ea typeface="Meiryo" pitchFamily="34" charset="-122"/>
                <a:cs typeface="Meiryo" pitchFamily="34" charset="-120"/>
              </a:rPr>
              <a:t>事例：愛知銀行　インターネットバンキング（IB）普及状況の分析</a:t>
            </a:r>
            <a:endParaRPr lang="en-US" sz="1300" dirty="0"/>
          </a:p>
        </p:txBody>
      </p:sp>
      <p:sp>
        <p:nvSpPr>
          <p:cNvPr id="9" name="Text 7"/>
          <p:cNvSpPr txBox="1"/>
          <p:nvPr/>
        </p:nvSpPr>
        <p:spPr>
          <a:xfrm>
            <a:off x="502920" y="5806440"/>
            <a:ext cx="6400800" cy="320040"/>
          </a:xfrm>
          <a:prstGeom prst="rect">
            <a:avLst/>
          </a:prstGeom>
          <a:noFill/>
          <a:ln/>
        </p:spPr>
        <p:txBody>
          <a:bodyPr wrap="square" lIns="0" tIns="0" rIns="0" bIns="0" rtlCol="0" anchor="ctr"/>
          <a:lstStyle/>
          <a:p>
            <a:pPr indent="0" marL="0">
              <a:buNone/>
            </a:pPr>
            <a:r>
              <a:rPr lang="en-US" sz="1200" dirty="0">
                <a:solidFill>
                  <a:srgbClr val="CADCFC"/>
                </a:solidFill>
                <a:latin typeface="Meiryo" pitchFamily="34" charset="0"/>
                <a:ea typeface="Meiryo" pitchFamily="34" charset="-122"/>
                <a:cs typeface="Meiryo" pitchFamily="34" charset="-120"/>
              </a:rPr>
              <a:t>発表者：（氏名）　／　2026年●月●日</a:t>
            </a:r>
            <a:endParaRPr lang="en-US" sz="1200" dirty="0"/>
          </a:p>
        </p:txBody>
      </p:sp>
      <p:sp>
        <p:nvSpPr>
          <p:cNvPr id="11" name="Text 8"/>
          <p:cNvSpPr txBox="1"/>
          <p:nvPr/>
        </p:nvSpPr>
        <p:spPr>
          <a:xfrm>
            <a:off x="11411712" y="6382512"/>
            <a:ext cx="365760" cy="274320"/>
          </a:xfrm>
          <a:prstGeom prst="rect">
            <a:avLst/>
          </a:prstGeom>
          <a:noFill/>
          <a:ln/>
        </p:spPr>
        <p:txBody>
          <a:bodyPr wrap="square" lIns="0" tIns="0" rIns="0" bIns="0" rtlCol="0" anchor="ctr"/>
          <a:lstStyle/>
          <a:p>
            <a:pPr algn="r" indent="0" marL="0">
              <a:buNone/>
            </a:pPr>
            <a:r>
              <a:rPr lang="en-US" sz="1000" dirty="0">
                <a:solidFill>
                  <a:srgbClr val="2A4A7A"/>
                </a:solidFill>
                <a:latin typeface="Meiryo" pitchFamily="34" charset="0"/>
                <a:ea typeface="Meiryo" pitchFamily="34" charset="-122"/>
                <a:cs typeface="Meiryo"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47472"/>
            <a:ext cx="11183112" cy="566928"/>
          </a:xfrm>
          <a:prstGeom prst="rect">
            <a:avLst/>
          </a:prstGeom>
          <a:noFill/>
          <a:ln/>
        </p:spPr>
        <p:txBody>
          <a:bodyPr wrap="square" lIns="0" tIns="0" rIns="0" bIns="0" rtlCol="0" anchor="ctr"/>
          <a:lstStyle/>
          <a:p>
            <a:pPr algn="l" indent="0" marL="0">
              <a:buNone/>
            </a:pPr>
            <a:r>
              <a:rPr lang="en-US" sz="2600" b="1" dirty="0">
                <a:solidFill>
                  <a:srgbClr val="13294B"/>
                </a:solidFill>
                <a:latin typeface="Meiryo" pitchFamily="34" charset="0"/>
                <a:ea typeface="Meiryo" pitchFamily="34" charset="-122"/>
                <a:cs typeface="Meiryo" pitchFamily="34" charset="-120"/>
              </a:rPr>
              <a:t>分析の専門知識や経験がなくても、データから傾向はつかめる</a:t>
            </a:r>
            <a:endParaRPr lang="en-US" sz="2600" dirty="0"/>
          </a:p>
        </p:txBody>
      </p:sp>
      <p:sp>
        <p:nvSpPr>
          <p:cNvPr id="3" name="Text 1"/>
          <p:cNvSpPr txBox="1"/>
          <p:nvPr/>
        </p:nvSpPr>
        <p:spPr>
          <a:xfrm>
            <a:off x="502920" y="950976"/>
            <a:ext cx="11183112" cy="384048"/>
          </a:xfrm>
          <a:prstGeom prst="rect">
            <a:avLst/>
          </a:prstGeom>
          <a:noFill/>
          <a:ln/>
        </p:spPr>
        <p:txBody>
          <a:bodyPr wrap="square" lIns="0" tIns="0" rIns="0" bIns="0" rtlCol="0" anchor="ctr"/>
          <a:lstStyle/>
          <a:p>
            <a:pPr algn="l" indent="0" marL="0">
              <a:buNone/>
            </a:pPr>
            <a:r>
              <a:rPr lang="en-US" sz="1350" b="1" dirty="0">
                <a:solidFill>
                  <a:srgbClr val="D9482F"/>
                </a:solidFill>
                <a:latin typeface="Meiryo" pitchFamily="34" charset="0"/>
                <a:ea typeface="Meiryo" pitchFamily="34" charset="-122"/>
                <a:cs typeface="Meiryo" pitchFamily="34" charset="-120"/>
              </a:rPr>
              <a:t>ネックになるのは「必要なデータを取り出す」ところ。DYNATREKがそこを引き受けるので、「何を見るか」に時間を使える。</a:t>
            </a:r>
            <a:endParaRPr lang="en-US" sz="1350" dirty="0"/>
          </a:p>
        </p:txBody>
      </p:sp>
      <p:sp>
        <p:nvSpPr>
          <p:cNvPr id="4" name="Shape 2"/>
          <p:cNvSpPr/>
          <p:nvPr/>
        </p:nvSpPr>
        <p:spPr>
          <a:xfrm>
            <a:off x="502920" y="1572768"/>
            <a:ext cx="5212080" cy="2651760"/>
          </a:xfrm>
          <a:prstGeom prst="roundRect">
            <a:avLst>
              <a:gd name="adj" fmla="val 2069"/>
            </a:avLst>
          </a:prstGeom>
          <a:solidFill>
            <a:srgbClr val="EEF2F8"/>
          </a:solidFill>
          <a:ln w="6350">
            <a:solidFill>
              <a:srgbClr val="EEF2F8"/>
            </a:solidFill>
            <a:prstDash val="solid"/>
          </a:ln>
        </p:spPr>
      </p:sp>
      <p:sp>
        <p:nvSpPr>
          <p:cNvPr id="5" name="Text 3"/>
          <p:cNvSpPr txBox="1"/>
          <p:nvPr/>
        </p:nvSpPr>
        <p:spPr>
          <a:xfrm>
            <a:off x="758952" y="1737360"/>
            <a:ext cx="4754880" cy="310896"/>
          </a:xfrm>
          <a:prstGeom prst="rect">
            <a:avLst/>
          </a:prstGeom>
          <a:noFill/>
          <a:ln/>
        </p:spPr>
        <p:txBody>
          <a:bodyPr wrap="square" lIns="0" tIns="0" rIns="0" bIns="0" rtlCol="0" anchor="ctr"/>
          <a:lstStyle/>
          <a:p>
            <a:pPr indent="0" marL="0">
              <a:buNone/>
            </a:pPr>
            <a:r>
              <a:rPr lang="en-US" sz="1500" b="1" dirty="0">
                <a:solidFill>
                  <a:srgbClr val="13294B"/>
                </a:solidFill>
                <a:latin typeface="Meiryo" pitchFamily="34" charset="0"/>
                <a:ea typeface="Meiryo" pitchFamily="34" charset="-122"/>
                <a:cs typeface="Meiryo" pitchFamily="34" charset="-120"/>
              </a:rPr>
              <a:t>今回のテーマと背景</a:t>
            </a:r>
            <a:endParaRPr lang="en-US" sz="1500" dirty="0"/>
          </a:p>
        </p:txBody>
      </p:sp>
      <p:sp>
        <p:nvSpPr>
          <p:cNvPr id="6" name="Text 4"/>
          <p:cNvSpPr txBox="1"/>
          <p:nvPr/>
        </p:nvSpPr>
        <p:spPr>
          <a:xfrm>
            <a:off x="758952" y="2103120"/>
            <a:ext cx="4718304" cy="2011680"/>
          </a:xfrm>
          <a:prstGeom prst="rect">
            <a:avLst/>
          </a:prstGeom>
          <a:noFill/>
          <a:ln/>
        </p:spPr>
        <p:txBody>
          <a:bodyPr wrap="square" lIns="0" tIns="0" rIns="0" bIns="0" rtlCol="0" anchor="t"/>
          <a:lstStyle/>
          <a:p>
            <a:pPr marL="342900" indent="-342900">
              <a:lnSpc>
                <a:spcPct val="130000"/>
              </a:lnSpc>
              <a:spcAft>
                <a:spcPts val="900"/>
              </a:spcAft>
              <a:buSzPct val="100000"/>
              <a:buChar char="▪"/>
            </a:pPr>
            <a:r>
              <a:rPr lang="en-US" sz="1250" dirty="0">
                <a:solidFill>
                  <a:srgbClr val="1E2A38"/>
                </a:solidFill>
                <a:latin typeface="Meiryo" pitchFamily="34" charset="0"/>
                <a:ea typeface="Meiryo" pitchFamily="34" charset="-122"/>
                <a:cs typeface="Meiryo" pitchFamily="34" charset="-120"/>
              </a:rPr>
              <a:t>愛知銀行では、インターネットバンキング（IB）の普及に向けた施策やキャンペーンが行われている。</a:t>
            </a:r>
            <a:endParaRPr lang="en-US" sz="1250" dirty="0"/>
          </a:p>
          <a:p>
            <a:pPr marL="342900" indent="-342900">
              <a:lnSpc>
                <a:spcPct val="130000"/>
              </a:lnSpc>
              <a:spcAft>
                <a:spcPts val="900"/>
              </a:spcAft>
              <a:buSzPct val="100000"/>
              <a:buChar char="▪"/>
            </a:pPr>
            <a:r>
              <a:rPr lang="en-US" sz="1250" dirty="0">
                <a:solidFill>
                  <a:srgbClr val="1E2A38"/>
                </a:solidFill>
                <a:latin typeface="Meiryo" pitchFamily="34" charset="0"/>
                <a:ea typeface="Meiryo" pitchFamily="34" charset="-122"/>
                <a:cs typeface="Meiryo" pitchFamily="34" charset="-120"/>
              </a:rPr>
              <a:t>現場の疑問は「IBは、実際にどれくらい使われるようになったのか」。</a:t>
            </a:r>
            <a:endParaRPr lang="en-US" sz="1250" dirty="0"/>
          </a:p>
          <a:p>
            <a:pPr marL="342900" indent="-342900">
              <a:lnSpc>
                <a:spcPct val="130000"/>
              </a:lnSpc>
              <a:spcAft>
                <a:spcPts val="900"/>
              </a:spcAft>
              <a:buSzPct val="100000"/>
              <a:buChar char="▪"/>
            </a:pPr>
            <a:r>
              <a:rPr lang="en-US" sz="1250" dirty="0">
                <a:solidFill>
                  <a:srgbClr val="1E2A38"/>
                </a:solidFill>
                <a:latin typeface="Meiryo" pitchFamily="34" charset="0"/>
                <a:ea typeface="Meiryo" pitchFamily="34" charset="-122"/>
                <a:cs typeface="Meiryo" pitchFamily="34" charset="-120"/>
              </a:rPr>
              <a:t>この疑問に答えるため、銀行の業務データをDYNATREKで分析した。</a:t>
            </a:r>
            <a:endParaRPr lang="en-US" sz="1250" dirty="0"/>
          </a:p>
        </p:txBody>
      </p:sp>
      <p:sp>
        <p:nvSpPr>
          <p:cNvPr id="7" name="Shape 5"/>
          <p:cNvSpPr/>
          <p:nvPr/>
        </p:nvSpPr>
        <p:spPr>
          <a:xfrm>
            <a:off x="502920" y="4462272"/>
            <a:ext cx="5212080" cy="1481328"/>
          </a:xfrm>
          <a:prstGeom prst="roundRect">
            <a:avLst>
              <a:gd name="adj" fmla="val 3704"/>
            </a:avLst>
          </a:prstGeom>
          <a:solidFill>
            <a:srgbClr val="FFFFFF"/>
          </a:solidFill>
          <a:ln w="12700">
            <a:solidFill>
              <a:srgbClr val="D3DCE8"/>
            </a:solidFill>
            <a:prstDash val="solid"/>
          </a:ln>
        </p:spPr>
      </p:sp>
      <p:sp>
        <p:nvSpPr>
          <p:cNvPr id="8" name="Text 6"/>
          <p:cNvSpPr txBox="1"/>
          <p:nvPr/>
        </p:nvSpPr>
        <p:spPr>
          <a:xfrm>
            <a:off x="758952" y="4608576"/>
            <a:ext cx="4754880" cy="292608"/>
          </a:xfrm>
          <a:prstGeom prst="rect">
            <a:avLst/>
          </a:prstGeom>
          <a:noFill/>
          <a:ln/>
        </p:spPr>
        <p:txBody>
          <a:bodyPr wrap="square" lIns="0" tIns="0" rIns="0" bIns="0" rtlCol="0" anchor="ctr"/>
          <a:lstStyle/>
          <a:p>
            <a:pPr indent="0" marL="0">
              <a:buNone/>
            </a:pPr>
            <a:r>
              <a:rPr lang="en-US" sz="1400" b="1" dirty="0">
                <a:solidFill>
                  <a:srgbClr val="D9482F"/>
                </a:solidFill>
                <a:latin typeface="Meiryo" pitchFamily="34" charset="0"/>
                <a:ea typeface="Meiryo" pitchFamily="34" charset="-122"/>
                <a:cs typeface="Meiryo" pitchFamily="34" charset="-120"/>
              </a:rPr>
              <a:t>DYNATREKとは</a:t>
            </a:r>
            <a:endParaRPr lang="en-US" sz="1400" dirty="0"/>
          </a:p>
        </p:txBody>
      </p:sp>
      <p:sp>
        <p:nvSpPr>
          <p:cNvPr id="9" name="Text 7"/>
          <p:cNvSpPr txBox="1"/>
          <p:nvPr/>
        </p:nvSpPr>
        <p:spPr>
          <a:xfrm>
            <a:off x="758952" y="4974336"/>
            <a:ext cx="4718304" cy="868680"/>
          </a:xfrm>
          <a:prstGeom prst="rect">
            <a:avLst/>
          </a:prstGeom>
          <a:noFill/>
          <a:ln/>
        </p:spPr>
        <p:txBody>
          <a:bodyPr wrap="square" lIns="0" tIns="0" rIns="0" bIns="0" rtlCol="0" anchor="t"/>
          <a:lstStyle/>
          <a:p>
            <a:pPr indent="0" marL="0">
              <a:lnSpc>
                <a:spcPct val="130000"/>
              </a:lnSpc>
              <a:buNone/>
            </a:pPr>
            <a:r>
              <a:rPr lang="en-US" sz="1200" dirty="0">
                <a:solidFill>
                  <a:srgbClr val="1E2A38"/>
                </a:solidFill>
                <a:latin typeface="Meiryo" pitchFamily="34" charset="0"/>
                <a:ea typeface="Meiryo" pitchFamily="34" charset="-122"/>
                <a:cs typeface="Meiryo" pitchFamily="34" charset="-120"/>
              </a:rPr>
              <a:t>業務データベースに対して、期間・取引の種類・チャネルなどの条件を指定し、必要なデータだけを表示・集計・比較できるツール。</a:t>
            </a:r>
            <a:endParaRPr lang="en-US" sz="1200" dirty="0"/>
          </a:p>
        </p:txBody>
      </p:sp>
      <p:sp>
        <p:nvSpPr>
          <p:cNvPr id="10" name="Shape 8"/>
          <p:cNvSpPr/>
          <p:nvPr/>
        </p:nvSpPr>
        <p:spPr>
          <a:xfrm>
            <a:off x="6080760" y="1572768"/>
            <a:ext cx="5605272" cy="1737360"/>
          </a:xfrm>
          <a:prstGeom prst="roundRect">
            <a:avLst>
              <a:gd name="adj" fmla="val 3158"/>
            </a:avLst>
          </a:prstGeom>
          <a:solidFill>
            <a:srgbClr val="FFFFFF"/>
          </a:solidFill>
          <a:ln w="12700">
            <a:solidFill>
              <a:srgbClr val="D3DCE8"/>
            </a:solidFill>
            <a:prstDash val="solid"/>
          </a:ln>
        </p:spPr>
      </p:sp>
      <p:sp>
        <p:nvSpPr>
          <p:cNvPr id="11" name="Shape 9"/>
          <p:cNvSpPr/>
          <p:nvPr/>
        </p:nvSpPr>
        <p:spPr>
          <a:xfrm>
            <a:off x="6336792" y="1810512"/>
            <a:ext cx="329184" cy="329184"/>
          </a:xfrm>
          <a:prstGeom prst="ellipse">
            <a:avLst/>
          </a:prstGeom>
          <a:solidFill>
            <a:srgbClr val="13294B"/>
          </a:solidFill>
          <a:ln w="6350">
            <a:solidFill>
              <a:srgbClr val="13294B"/>
            </a:solidFill>
            <a:prstDash val="solid"/>
          </a:ln>
        </p:spPr>
      </p:sp>
      <p:sp>
        <p:nvSpPr>
          <p:cNvPr id="12" name="Text 10"/>
          <p:cNvSpPr txBox="1"/>
          <p:nvPr/>
        </p:nvSpPr>
        <p:spPr>
          <a:xfrm>
            <a:off x="6336792" y="18105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13" name="Text 11"/>
          <p:cNvSpPr txBox="1"/>
          <p:nvPr/>
        </p:nvSpPr>
        <p:spPr>
          <a:xfrm>
            <a:off x="6793992" y="1792224"/>
            <a:ext cx="4645152" cy="365760"/>
          </a:xfrm>
          <a:prstGeom prst="rect">
            <a:avLst/>
          </a:prstGeom>
          <a:noFill/>
          <a:ln/>
        </p:spPr>
        <p:txBody>
          <a:bodyPr wrap="square" lIns="0" tIns="0" rIns="0" bIns="0" rtlCol="0" anchor="ctr"/>
          <a:lstStyle/>
          <a:p>
            <a:pPr indent="0" marL="0">
              <a:buNone/>
            </a:pPr>
            <a:r>
              <a:rPr lang="en-US" sz="1500" b="1" dirty="0">
                <a:solidFill>
                  <a:srgbClr val="13294B"/>
                </a:solidFill>
                <a:latin typeface="Meiryo" pitchFamily="34" charset="0"/>
                <a:ea typeface="Meiryo" pitchFamily="34" charset="-122"/>
                <a:cs typeface="Meiryo" pitchFamily="34" charset="-120"/>
              </a:rPr>
              <a:t>壁①　何を見れば答えになるのかを決める</a:t>
            </a:r>
            <a:endParaRPr lang="en-US" sz="1500" dirty="0"/>
          </a:p>
        </p:txBody>
      </p:sp>
      <p:sp>
        <p:nvSpPr>
          <p:cNvPr id="14" name="Text 12"/>
          <p:cNvSpPr txBox="1"/>
          <p:nvPr/>
        </p:nvSpPr>
        <p:spPr>
          <a:xfrm>
            <a:off x="6793992" y="2212848"/>
            <a:ext cx="4645152" cy="914400"/>
          </a:xfrm>
          <a:prstGeom prst="rect">
            <a:avLst/>
          </a:prstGeom>
          <a:noFill/>
          <a:ln/>
        </p:spPr>
        <p:txBody>
          <a:bodyPr wrap="square" lIns="0" tIns="0" rIns="0" bIns="0" rtlCol="0" anchor="t"/>
          <a:lstStyle/>
          <a:p>
            <a:pPr indent="0" marL="0">
              <a:lnSpc>
                <a:spcPct val="130000"/>
              </a:lnSpc>
              <a:buNone/>
            </a:pPr>
            <a:r>
              <a:rPr lang="en-US" sz="1250" dirty="0">
                <a:solidFill>
                  <a:srgbClr val="1E2A38"/>
                </a:solidFill>
                <a:latin typeface="Meiryo" pitchFamily="34" charset="0"/>
                <a:ea typeface="Meiryo" pitchFamily="34" charset="-122"/>
                <a:cs typeface="Meiryo" pitchFamily="34" charset="-120"/>
              </a:rPr>
              <a:t>「IBの普及」を、どの数字で見れば確かめたことになるのか。ここは人が考えるところで、ツールでは代われない。</a:t>
            </a:r>
            <a:endParaRPr lang="en-US" sz="1250" dirty="0"/>
          </a:p>
        </p:txBody>
      </p:sp>
      <p:sp>
        <p:nvSpPr>
          <p:cNvPr id="15" name="Shape 13"/>
          <p:cNvSpPr/>
          <p:nvPr/>
        </p:nvSpPr>
        <p:spPr>
          <a:xfrm>
            <a:off x="6080760" y="3456432"/>
            <a:ext cx="5605272" cy="1737360"/>
          </a:xfrm>
          <a:prstGeom prst="roundRect">
            <a:avLst>
              <a:gd name="adj" fmla="val 3158"/>
            </a:avLst>
          </a:prstGeom>
          <a:solidFill>
            <a:srgbClr val="FBEAE4"/>
          </a:solidFill>
          <a:ln w="6350">
            <a:solidFill>
              <a:srgbClr val="FBEAE4"/>
            </a:solidFill>
            <a:prstDash val="solid"/>
          </a:ln>
        </p:spPr>
      </p:sp>
      <p:sp>
        <p:nvSpPr>
          <p:cNvPr id="16" name="Shape 14"/>
          <p:cNvSpPr/>
          <p:nvPr/>
        </p:nvSpPr>
        <p:spPr>
          <a:xfrm>
            <a:off x="6336792" y="3694176"/>
            <a:ext cx="329184" cy="329184"/>
          </a:xfrm>
          <a:prstGeom prst="ellipse">
            <a:avLst/>
          </a:prstGeom>
          <a:solidFill>
            <a:srgbClr val="D9482F"/>
          </a:solidFill>
          <a:ln w="6350">
            <a:solidFill>
              <a:srgbClr val="D9482F"/>
            </a:solidFill>
            <a:prstDash val="solid"/>
          </a:ln>
        </p:spPr>
      </p:sp>
      <p:sp>
        <p:nvSpPr>
          <p:cNvPr id="17" name="Text 15"/>
          <p:cNvSpPr txBox="1"/>
          <p:nvPr/>
        </p:nvSpPr>
        <p:spPr>
          <a:xfrm>
            <a:off x="6336792" y="36941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8" name="Text 16"/>
          <p:cNvSpPr txBox="1"/>
          <p:nvPr/>
        </p:nvSpPr>
        <p:spPr>
          <a:xfrm>
            <a:off x="6793992" y="3675888"/>
            <a:ext cx="4645152" cy="365760"/>
          </a:xfrm>
          <a:prstGeom prst="rect">
            <a:avLst/>
          </a:prstGeom>
          <a:noFill/>
          <a:ln/>
        </p:spPr>
        <p:txBody>
          <a:bodyPr wrap="square" lIns="0" tIns="0" rIns="0" bIns="0" rtlCol="0" anchor="ctr"/>
          <a:lstStyle/>
          <a:p>
            <a:pPr indent="0" marL="0">
              <a:buNone/>
            </a:pPr>
            <a:r>
              <a:rPr lang="en-US" sz="1500" b="1" dirty="0">
                <a:solidFill>
                  <a:srgbClr val="D9482F"/>
                </a:solidFill>
                <a:latin typeface="Meiryo" pitchFamily="34" charset="0"/>
                <a:ea typeface="Meiryo" pitchFamily="34" charset="-122"/>
                <a:cs typeface="Meiryo" pitchFamily="34" charset="-120"/>
              </a:rPr>
              <a:t>壁②　必要なデータを業務DBから取り出す</a:t>
            </a:r>
            <a:endParaRPr lang="en-US" sz="1500" dirty="0"/>
          </a:p>
        </p:txBody>
      </p:sp>
      <p:sp>
        <p:nvSpPr>
          <p:cNvPr id="19" name="Text 17"/>
          <p:cNvSpPr txBox="1"/>
          <p:nvPr/>
        </p:nvSpPr>
        <p:spPr>
          <a:xfrm>
            <a:off x="6793992" y="4096512"/>
            <a:ext cx="4645152" cy="914400"/>
          </a:xfrm>
          <a:prstGeom prst="rect">
            <a:avLst/>
          </a:prstGeom>
          <a:noFill/>
          <a:ln/>
        </p:spPr>
        <p:txBody>
          <a:bodyPr wrap="square" lIns="0" tIns="0" rIns="0" bIns="0" rtlCol="0" anchor="t"/>
          <a:lstStyle/>
          <a:p>
            <a:pPr indent="0" marL="0">
              <a:lnSpc>
                <a:spcPct val="130000"/>
              </a:lnSpc>
              <a:buNone/>
            </a:pPr>
            <a:r>
              <a:rPr lang="en-US" sz="1250" dirty="0">
                <a:solidFill>
                  <a:srgbClr val="1E2A38"/>
                </a:solidFill>
                <a:latin typeface="Meiryo" pitchFamily="34" charset="0"/>
                <a:ea typeface="Meiryo" pitchFamily="34" charset="-122"/>
                <a:cs typeface="Meiryo" pitchFamily="34" charset="-120"/>
              </a:rPr>
              <a:t>業務DBには分析に使わない項目も数多く含まれ、目的のデータを抜き出すこと自体が難しい。ここをDYNATREKが引き受ける。</a:t>
            </a:r>
            <a:endParaRPr lang="en-US" sz="1250" dirty="0"/>
          </a:p>
        </p:txBody>
      </p:sp>
      <p:sp>
        <p:nvSpPr>
          <p:cNvPr id="20" name="Shape 18"/>
          <p:cNvSpPr/>
          <p:nvPr/>
        </p:nvSpPr>
        <p:spPr>
          <a:xfrm>
            <a:off x="6080760" y="5340096"/>
            <a:ext cx="5605272" cy="603504"/>
          </a:xfrm>
          <a:prstGeom prst="roundRect">
            <a:avLst>
              <a:gd name="adj" fmla="val 9091"/>
            </a:avLst>
          </a:prstGeom>
          <a:solidFill>
            <a:srgbClr val="13294B"/>
          </a:solidFill>
          <a:ln w="6350">
            <a:solidFill>
              <a:srgbClr val="13294B"/>
            </a:solidFill>
            <a:prstDash val="solid"/>
          </a:ln>
        </p:spPr>
      </p:sp>
      <p:sp>
        <p:nvSpPr>
          <p:cNvPr id="21" name="Text 19"/>
          <p:cNvSpPr txBox="1"/>
          <p:nvPr/>
        </p:nvSpPr>
        <p:spPr>
          <a:xfrm>
            <a:off x="6336792" y="5340096"/>
            <a:ext cx="5093208" cy="603504"/>
          </a:xfrm>
          <a:prstGeom prst="rect">
            <a:avLst/>
          </a:prstGeom>
          <a:noFill/>
          <a:ln/>
        </p:spPr>
        <p:txBody>
          <a:bodyPr wrap="square" lIns="0" tIns="0" rIns="0" bIns="0" rtlCol="0" anchor="ctr"/>
          <a:lstStyle/>
          <a:p>
            <a:pPr algn="ctr" indent="0" marL="0">
              <a:buNone/>
            </a:pPr>
            <a:r>
              <a:rPr lang="en-US" sz="1350" b="1" dirty="0">
                <a:solidFill>
                  <a:srgbClr val="FFFFFF"/>
                </a:solidFill>
                <a:latin typeface="Meiryo" pitchFamily="34" charset="0"/>
                <a:ea typeface="Meiryo" pitchFamily="34" charset="-122"/>
                <a:cs typeface="Meiryo" pitchFamily="34" charset="-120"/>
              </a:rPr>
              <a:t>今回は、その一例として行った分析を紹介します。</a:t>
            </a:r>
            <a:endParaRPr lang="en-US" sz="1350" dirty="0"/>
          </a:p>
        </p:txBody>
      </p:sp>
      <p:sp>
        <p:nvSpPr>
          <p:cNvPr id="23" name="Text 20"/>
          <p:cNvSpPr txBox="1"/>
          <p:nvPr/>
        </p:nvSpPr>
        <p:spPr>
          <a:xfrm>
            <a:off x="11411712" y="6382512"/>
            <a:ext cx="365760" cy="274320"/>
          </a:xfrm>
          <a:prstGeom prst="rect">
            <a:avLst/>
          </a:prstGeom>
          <a:noFill/>
          <a:ln/>
        </p:spPr>
        <p:txBody>
          <a:bodyPr wrap="square" lIns="0" tIns="0" rIns="0" bIns="0" rtlCol="0" anchor="ctr"/>
          <a:lstStyle/>
          <a:p>
            <a:pPr algn="r" indent="0" marL="0">
              <a:buNone/>
            </a:pPr>
            <a:r>
              <a:rPr lang="en-US" sz="1000" dirty="0">
                <a:solidFill>
                  <a:srgbClr val="9AA9BA"/>
                </a:solidFill>
                <a:latin typeface="Meiryo" pitchFamily="34" charset="0"/>
                <a:ea typeface="Meiryo" pitchFamily="34" charset="-122"/>
                <a:cs typeface="Meiryo"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47472"/>
            <a:ext cx="11183112" cy="566928"/>
          </a:xfrm>
          <a:prstGeom prst="rect">
            <a:avLst/>
          </a:prstGeom>
          <a:noFill/>
          <a:ln/>
        </p:spPr>
        <p:txBody>
          <a:bodyPr wrap="square" lIns="0" tIns="0" rIns="0" bIns="0" rtlCol="0" anchor="ctr"/>
          <a:lstStyle/>
          <a:p>
            <a:pPr algn="l" indent="0" marL="0">
              <a:buNone/>
            </a:pPr>
            <a:r>
              <a:rPr lang="en-US" sz="2600" b="1" dirty="0">
                <a:solidFill>
                  <a:srgbClr val="13294B"/>
                </a:solidFill>
                <a:latin typeface="Meiryo" pitchFamily="34" charset="0"/>
                <a:ea typeface="Meiryo" pitchFamily="34" charset="-122"/>
                <a:cs typeface="Meiryo" pitchFamily="34" charset="-120"/>
              </a:rPr>
              <a:t>IBの件数を数えるだけでは、普及は測れない</a:t>
            </a:r>
            <a:endParaRPr lang="en-US" sz="2600" dirty="0"/>
          </a:p>
        </p:txBody>
      </p:sp>
      <p:sp>
        <p:nvSpPr>
          <p:cNvPr id="3" name="Text 1"/>
          <p:cNvSpPr txBox="1"/>
          <p:nvPr/>
        </p:nvSpPr>
        <p:spPr>
          <a:xfrm>
            <a:off x="502920" y="950976"/>
            <a:ext cx="11183112" cy="384048"/>
          </a:xfrm>
          <a:prstGeom prst="rect">
            <a:avLst/>
          </a:prstGeom>
          <a:noFill/>
          <a:ln/>
        </p:spPr>
        <p:txBody>
          <a:bodyPr wrap="square" lIns="0" tIns="0" rIns="0" bIns="0" rtlCol="0" anchor="ctr"/>
          <a:lstStyle/>
          <a:p>
            <a:pPr algn="l" indent="0" marL="0">
              <a:buNone/>
            </a:pPr>
            <a:r>
              <a:rPr lang="en-US" sz="1350" b="1" dirty="0">
                <a:solidFill>
                  <a:srgbClr val="D9482F"/>
                </a:solidFill>
                <a:latin typeface="Meiryo" pitchFamily="34" charset="0"/>
                <a:ea typeface="Meiryo" pitchFamily="34" charset="-122"/>
                <a:cs typeface="Meiryo" pitchFamily="34" charset="-120"/>
              </a:rPr>
              <a:t>「IBでも行える取引が、どれだけIBで行われているか」という見方に置き換えた。</a:t>
            </a:r>
            <a:endParaRPr lang="en-US" sz="1350" dirty="0"/>
          </a:p>
        </p:txBody>
      </p:sp>
      <p:sp>
        <p:nvSpPr>
          <p:cNvPr id="4" name="Shape 2"/>
          <p:cNvSpPr/>
          <p:nvPr/>
        </p:nvSpPr>
        <p:spPr>
          <a:xfrm>
            <a:off x="502920" y="1627632"/>
            <a:ext cx="5486400" cy="1481328"/>
          </a:xfrm>
          <a:prstGeom prst="roundRect">
            <a:avLst>
              <a:gd name="adj" fmla="val 3704"/>
            </a:avLst>
          </a:prstGeom>
          <a:solidFill>
            <a:srgbClr val="EEF2F8"/>
          </a:solidFill>
          <a:ln w="6350">
            <a:solidFill>
              <a:srgbClr val="EEF2F8"/>
            </a:solidFill>
            <a:prstDash val="solid"/>
          </a:ln>
        </p:spPr>
      </p:sp>
      <p:sp>
        <p:nvSpPr>
          <p:cNvPr id="5" name="Shape 3"/>
          <p:cNvSpPr/>
          <p:nvPr/>
        </p:nvSpPr>
        <p:spPr>
          <a:xfrm>
            <a:off x="740664" y="1865376"/>
            <a:ext cx="329184" cy="329184"/>
          </a:xfrm>
          <a:prstGeom prst="ellipse">
            <a:avLst/>
          </a:prstGeom>
          <a:solidFill>
            <a:srgbClr val="13294B"/>
          </a:solidFill>
          <a:ln w="6350">
            <a:solidFill>
              <a:srgbClr val="13294B"/>
            </a:solidFill>
            <a:prstDash val="solid"/>
          </a:ln>
        </p:spPr>
      </p:sp>
      <p:sp>
        <p:nvSpPr>
          <p:cNvPr id="6" name="Text 4"/>
          <p:cNvSpPr txBox="1"/>
          <p:nvPr/>
        </p:nvSpPr>
        <p:spPr>
          <a:xfrm>
            <a:off x="740664" y="18653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7" name="Text 5"/>
          <p:cNvSpPr txBox="1"/>
          <p:nvPr/>
        </p:nvSpPr>
        <p:spPr>
          <a:xfrm>
            <a:off x="1197864" y="1810512"/>
            <a:ext cx="4526280" cy="1115568"/>
          </a:xfrm>
          <a:prstGeom prst="rect">
            <a:avLst/>
          </a:prstGeom>
          <a:noFill/>
          <a:ln/>
        </p:spPr>
        <p:txBody>
          <a:bodyPr wrap="square" lIns="0" tIns="0" rIns="0" bIns="0" rtlCol="0" anchor="ctr"/>
          <a:lstStyle/>
          <a:p>
            <a:pPr indent="0" marL="0">
              <a:lnSpc>
                <a:spcPct val="132000"/>
              </a:lnSpc>
              <a:buNone/>
            </a:pPr>
            <a:r>
              <a:rPr lang="en-US" sz="1250" dirty="0">
                <a:solidFill>
                  <a:srgbClr val="1E2A38"/>
                </a:solidFill>
                <a:latin typeface="Meiryo" pitchFamily="34" charset="0"/>
                <a:ea typeface="Meiryo" pitchFamily="34" charset="-122"/>
                <a:cs typeface="Meiryo" pitchFamily="34" charset="-120"/>
              </a:rPr>
              <a:t>まず思いついたのは「IBの利用件数を数える」こと。</a:t>
            </a:r>
            <a:endParaRPr lang="en-US" sz="1250" dirty="0"/>
          </a:p>
          <a:p>
            <a:pPr indent="0" marL="0">
              <a:lnSpc>
                <a:spcPct val="132000"/>
              </a:lnSpc>
              <a:buNone/>
            </a:pPr>
            <a:r>
              <a:rPr lang="en-US" sz="1250" dirty="0">
                <a:solidFill>
                  <a:srgbClr val="1E2A38"/>
                </a:solidFill>
                <a:latin typeface="Meiryo" pitchFamily="34" charset="0"/>
                <a:ea typeface="Meiryo" pitchFamily="34" charset="-122"/>
                <a:cs typeface="Meiryo" pitchFamily="34" charset="-120"/>
              </a:rPr>
              <a:t>しかし取引全体が増えれば件数も増えるため、それだけでは「普及した」とは言い切れない。</a:t>
            </a:r>
            <a:endParaRPr lang="en-US" sz="1250" dirty="0"/>
          </a:p>
        </p:txBody>
      </p:sp>
      <p:sp>
        <p:nvSpPr>
          <p:cNvPr id="8" name="Shape 6"/>
          <p:cNvSpPr/>
          <p:nvPr/>
        </p:nvSpPr>
        <p:spPr>
          <a:xfrm>
            <a:off x="502920" y="3291840"/>
            <a:ext cx="5486400" cy="1207008"/>
          </a:xfrm>
          <a:prstGeom prst="roundRect">
            <a:avLst>
              <a:gd name="adj" fmla="val 4545"/>
            </a:avLst>
          </a:prstGeom>
          <a:solidFill>
            <a:srgbClr val="EEF2F8"/>
          </a:solidFill>
          <a:ln w="6350">
            <a:solidFill>
              <a:srgbClr val="EEF2F8"/>
            </a:solidFill>
            <a:prstDash val="solid"/>
          </a:ln>
        </p:spPr>
      </p:sp>
      <p:sp>
        <p:nvSpPr>
          <p:cNvPr id="9" name="Shape 7"/>
          <p:cNvSpPr/>
          <p:nvPr/>
        </p:nvSpPr>
        <p:spPr>
          <a:xfrm>
            <a:off x="740664" y="3529584"/>
            <a:ext cx="329184" cy="329184"/>
          </a:xfrm>
          <a:prstGeom prst="ellipse">
            <a:avLst/>
          </a:prstGeom>
          <a:solidFill>
            <a:srgbClr val="13294B"/>
          </a:solidFill>
          <a:ln w="6350">
            <a:solidFill>
              <a:srgbClr val="13294B"/>
            </a:solidFill>
            <a:prstDash val="solid"/>
          </a:ln>
        </p:spPr>
      </p:sp>
      <p:sp>
        <p:nvSpPr>
          <p:cNvPr id="10" name="Text 8"/>
          <p:cNvSpPr txBox="1"/>
          <p:nvPr/>
        </p:nvSpPr>
        <p:spPr>
          <a:xfrm>
            <a:off x="740664" y="35295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1" name="Text 9"/>
          <p:cNvSpPr txBox="1"/>
          <p:nvPr/>
        </p:nvSpPr>
        <p:spPr>
          <a:xfrm>
            <a:off x="1197864" y="3474720"/>
            <a:ext cx="4526280" cy="841248"/>
          </a:xfrm>
          <a:prstGeom prst="rect">
            <a:avLst/>
          </a:prstGeom>
          <a:noFill/>
          <a:ln/>
        </p:spPr>
        <p:txBody>
          <a:bodyPr wrap="square" lIns="0" tIns="0" rIns="0" bIns="0" rtlCol="0" anchor="ctr"/>
          <a:lstStyle/>
          <a:p>
            <a:pPr indent="0" marL="0">
              <a:lnSpc>
                <a:spcPct val="132000"/>
              </a:lnSpc>
              <a:buNone/>
            </a:pPr>
            <a:r>
              <a:rPr lang="en-US" sz="1250" dirty="0">
                <a:solidFill>
                  <a:srgbClr val="1E2A38"/>
                </a:solidFill>
                <a:latin typeface="Meiryo" pitchFamily="34" charset="0"/>
                <a:ea typeface="Meiryo" pitchFamily="34" charset="-122"/>
                <a:cs typeface="Meiryo" pitchFamily="34" charset="-120"/>
              </a:rPr>
              <a:t>IBの普及とは「IBでも行える取引が、IBで行われるようになること」ではないか。</a:t>
            </a:r>
            <a:endParaRPr lang="en-US" sz="1250" dirty="0"/>
          </a:p>
        </p:txBody>
      </p:sp>
      <p:sp>
        <p:nvSpPr>
          <p:cNvPr id="12" name="Shape 10"/>
          <p:cNvSpPr/>
          <p:nvPr/>
        </p:nvSpPr>
        <p:spPr>
          <a:xfrm>
            <a:off x="502920" y="4681728"/>
            <a:ext cx="5486400" cy="1207008"/>
          </a:xfrm>
          <a:prstGeom prst="roundRect">
            <a:avLst>
              <a:gd name="adj" fmla="val 4545"/>
            </a:avLst>
          </a:prstGeom>
          <a:solidFill>
            <a:srgbClr val="FBEAE4"/>
          </a:solidFill>
          <a:ln w="6350">
            <a:solidFill>
              <a:srgbClr val="FBEAE4"/>
            </a:solidFill>
            <a:prstDash val="solid"/>
          </a:ln>
        </p:spPr>
      </p:sp>
      <p:sp>
        <p:nvSpPr>
          <p:cNvPr id="13" name="Shape 11"/>
          <p:cNvSpPr/>
          <p:nvPr/>
        </p:nvSpPr>
        <p:spPr>
          <a:xfrm>
            <a:off x="740664" y="4919472"/>
            <a:ext cx="329184" cy="329184"/>
          </a:xfrm>
          <a:prstGeom prst="ellipse">
            <a:avLst/>
          </a:prstGeom>
          <a:solidFill>
            <a:srgbClr val="D9482F"/>
          </a:solidFill>
          <a:ln w="6350">
            <a:solidFill>
              <a:srgbClr val="D9482F"/>
            </a:solidFill>
            <a:prstDash val="solid"/>
          </a:ln>
        </p:spPr>
      </p:sp>
      <p:sp>
        <p:nvSpPr>
          <p:cNvPr id="14" name="Text 12"/>
          <p:cNvSpPr txBox="1"/>
          <p:nvPr/>
        </p:nvSpPr>
        <p:spPr>
          <a:xfrm>
            <a:off x="740664" y="4919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5" name="Text 13"/>
          <p:cNvSpPr txBox="1"/>
          <p:nvPr/>
        </p:nvSpPr>
        <p:spPr>
          <a:xfrm>
            <a:off x="1197864" y="4864608"/>
            <a:ext cx="4526280" cy="841248"/>
          </a:xfrm>
          <a:prstGeom prst="rect">
            <a:avLst/>
          </a:prstGeom>
          <a:noFill/>
          <a:ln/>
        </p:spPr>
        <p:txBody>
          <a:bodyPr wrap="square" lIns="0" tIns="0" rIns="0" bIns="0" rtlCol="0" anchor="ctr"/>
          <a:lstStyle/>
          <a:p>
            <a:pPr indent="0" marL="0">
              <a:lnSpc>
                <a:spcPct val="132000"/>
              </a:lnSpc>
              <a:buNone/>
            </a:pPr>
            <a:r>
              <a:rPr lang="en-US" sz="1250" dirty="0">
                <a:solidFill>
                  <a:srgbClr val="1E2A38"/>
                </a:solidFill>
                <a:latin typeface="Meiryo" pitchFamily="34" charset="0"/>
                <a:ea typeface="Meiryo" pitchFamily="34" charset="-122"/>
                <a:cs typeface="Meiryo" pitchFamily="34" charset="-120"/>
              </a:rPr>
              <a:t>そこで、IBで行われた取引と、ATMで行われた取引のうちIBでも代替できるもの（振込・振替など）を比較することにした。</a:t>
            </a:r>
            <a:endParaRPr lang="en-US" sz="1250" dirty="0"/>
          </a:p>
        </p:txBody>
      </p:sp>
      <p:sp>
        <p:nvSpPr>
          <p:cNvPr id="16" name="Text 14"/>
          <p:cNvSpPr txBox="1"/>
          <p:nvPr/>
        </p:nvSpPr>
        <p:spPr>
          <a:xfrm>
            <a:off x="6355080" y="1591056"/>
            <a:ext cx="5330952" cy="292608"/>
          </a:xfrm>
          <a:prstGeom prst="rect">
            <a:avLst/>
          </a:prstGeom>
          <a:noFill/>
          <a:ln/>
        </p:spPr>
        <p:txBody>
          <a:bodyPr wrap="square" lIns="0" tIns="0" rIns="0" bIns="0" rtlCol="0" anchor="ctr"/>
          <a:lstStyle/>
          <a:p>
            <a:pPr indent="0" marL="0">
              <a:buNone/>
            </a:pPr>
            <a:r>
              <a:rPr lang="en-US" sz="1400" b="1" dirty="0">
                <a:solidFill>
                  <a:srgbClr val="13294B"/>
                </a:solidFill>
                <a:latin typeface="Meiryo" pitchFamily="34" charset="0"/>
                <a:ea typeface="Meiryo" pitchFamily="34" charset="-122"/>
                <a:cs typeface="Meiryo" pitchFamily="34" charset="-120"/>
              </a:rPr>
              <a:t>比較の考え方</a:t>
            </a:r>
            <a:endParaRPr lang="en-US" sz="1400" dirty="0"/>
          </a:p>
        </p:txBody>
      </p:sp>
      <p:sp>
        <p:nvSpPr>
          <p:cNvPr id="17" name="Shape 15"/>
          <p:cNvSpPr/>
          <p:nvPr/>
        </p:nvSpPr>
        <p:spPr>
          <a:xfrm>
            <a:off x="6355080" y="1956816"/>
            <a:ext cx="5330952" cy="2487168"/>
          </a:xfrm>
          <a:prstGeom prst="roundRect">
            <a:avLst>
              <a:gd name="adj" fmla="val 2206"/>
            </a:avLst>
          </a:prstGeom>
          <a:solidFill>
            <a:srgbClr val="FFFFFF"/>
          </a:solidFill>
          <a:ln w="12700">
            <a:solidFill>
              <a:srgbClr val="13294B"/>
            </a:solidFill>
            <a:prstDash val="solid"/>
          </a:ln>
        </p:spPr>
      </p:sp>
      <p:sp>
        <p:nvSpPr>
          <p:cNvPr id="18" name="Text 16"/>
          <p:cNvSpPr txBox="1"/>
          <p:nvPr/>
        </p:nvSpPr>
        <p:spPr>
          <a:xfrm>
            <a:off x="6537960" y="2066544"/>
            <a:ext cx="4965192" cy="329184"/>
          </a:xfrm>
          <a:prstGeom prst="rect">
            <a:avLst/>
          </a:prstGeom>
          <a:noFill/>
          <a:ln/>
        </p:spPr>
        <p:txBody>
          <a:bodyPr wrap="square" lIns="0" tIns="0" rIns="0" bIns="0" rtlCol="0" anchor="ctr"/>
          <a:lstStyle/>
          <a:p>
            <a:pPr algn="ctr" indent="0" marL="0">
              <a:buNone/>
            </a:pPr>
            <a:r>
              <a:rPr lang="en-US" sz="1250" b="1" dirty="0">
                <a:solidFill>
                  <a:srgbClr val="13294B"/>
                </a:solidFill>
                <a:latin typeface="Meiryo" pitchFamily="34" charset="0"/>
                <a:ea typeface="Meiryo" pitchFamily="34" charset="-122"/>
                <a:cs typeface="Meiryo" pitchFamily="34" charset="-120"/>
              </a:rPr>
              <a:t>IBでも行える取引（振込・振替 など）</a:t>
            </a:r>
            <a:endParaRPr lang="en-US" sz="1250" dirty="0"/>
          </a:p>
        </p:txBody>
      </p:sp>
      <p:sp>
        <p:nvSpPr>
          <p:cNvPr id="19" name="Shape 17"/>
          <p:cNvSpPr/>
          <p:nvPr/>
        </p:nvSpPr>
        <p:spPr>
          <a:xfrm>
            <a:off x="6611112" y="2487168"/>
            <a:ext cx="4818888" cy="841248"/>
          </a:xfrm>
          <a:prstGeom prst="roundRect">
            <a:avLst>
              <a:gd name="adj" fmla="val 6522"/>
            </a:avLst>
          </a:prstGeom>
          <a:solidFill>
            <a:srgbClr val="D9482F"/>
          </a:solidFill>
          <a:ln w="6350">
            <a:solidFill>
              <a:srgbClr val="D9482F"/>
            </a:solidFill>
            <a:prstDash val="solid"/>
          </a:ln>
        </p:spPr>
      </p:sp>
      <p:sp>
        <p:nvSpPr>
          <p:cNvPr id="20" name="Text 18"/>
          <p:cNvSpPr txBox="1"/>
          <p:nvPr/>
        </p:nvSpPr>
        <p:spPr>
          <a:xfrm>
            <a:off x="6611112" y="2487168"/>
            <a:ext cx="4818888" cy="841248"/>
          </a:xfrm>
          <a:prstGeom prst="rect">
            <a:avLst/>
          </a:prstGeom>
          <a:noFill/>
          <a:ln/>
        </p:spPr>
        <p:txBody>
          <a:bodyPr wrap="square" lIns="0" tIns="0" rIns="0" bIns="0" rtlCol="0" anchor="ctr"/>
          <a:lstStyle/>
          <a:p>
            <a:pPr algn="ctr" indent="0" marL="0">
              <a:buNone/>
            </a:pPr>
            <a:r>
              <a:rPr lang="en-US" sz="1350" b="1" dirty="0">
                <a:solidFill>
                  <a:srgbClr val="FFFFFF"/>
                </a:solidFill>
                <a:latin typeface="Meiryo" pitchFamily="34" charset="0"/>
                <a:ea typeface="Meiryo" pitchFamily="34" charset="-122"/>
                <a:cs typeface="Meiryo" pitchFamily="34" charset="-120"/>
              </a:rPr>
              <a:t>A　IBで実施された取引</a:t>
            </a:r>
            <a:endParaRPr lang="en-US" sz="1350" dirty="0"/>
          </a:p>
        </p:txBody>
      </p:sp>
      <p:sp>
        <p:nvSpPr>
          <p:cNvPr id="21" name="Shape 19"/>
          <p:cNvSpPr/>
          <p:nvPr/>
        </p:nvSpPr>
        <p:spPr>
          <a:xfrm>
            <a:off x="6611112" y="3456432"/>
            <a:ext cx="4818888" cy="841248"/>
          </a:xfrm>
          <a:prstGeom prst="roundRect">
            <a:avLst>
              <a:gd name="adj" fmla="val 6522"/>
            </a:avLst>
          </a:prstGeom>
          <a:solidFill>
            <a:srgbClr val="2A4A7A"/>
          </a:solidFill>
          <a:ln w="6350">
            <a:solidFill>
              <a:srgbClr val="2A4A7A"/>
            </a:solidFill>
            <a:prstDash val="solid"/>
          </a:ln>
        </p:spPr>
      </p:sp>
      <p:sp>
        <p:nvSpPr>
          <p:cNvPr id="22" name="Text 20"/>
          <p:cNvSpPr txBox="1"/>
          <p:nvPr/>
        </p:nvSpPr>
        <p:spPr>
          <a:xfrm>
            <a:off x="6611112" y="3456432"/>
            <a:ext cx="4818888" cy="841248"/>
          </a:xfrm>
          <a:prstGeom prst="rect">
            <a:avLst/>
          </a:prstGeom>
          <a:noFill/>
          <a:ln/>
        </p:spPr>
        <p:txBody>
          <a:bodyPr wrap="square" lIns="0" tIns="0" rIns="0" bIns="0" rtlCol="0" anchor="ctr"/>
          <a:lstStyle/>
          <a:p>
            <a:pPr algn="ctr" indent="0" marL="0">
              <a:lnSpc>
                <a:spcPct val="115000"/>
              </a:lnSpc>
              <a:buNone/>
            </a:pPr>
            <a:r>
              <a:rPr lang="en-US" sz="1350" b="1" dirty="0">
                <a:solidFill>
                  <a:srgbClr val="FFFFFF"/>
                </a:solidFill>
                <a:latin typeface="Meiryo" pitchFamily="34" charset="0"/>
                <a:ea typeface="Meiryo" pitchFamily="34" charset="-122"/>
                <a:cs typeface="Meiryo" pitchFamily="34" charset="-120"/>
              </a:rPr>
              <a:t>B　ATMで実施された取引</a:t>
            </a:r>
            <a:endParaRPr lang="en-US" sz="1350" dirty="0"/>
          </a:p>
          <a:p>
            <a:pPr algn="ctr" indent="0" marL="0">
              <a:lnSpc>
                <a:spcPct val="115000"/>
              </a:lnSpc>
              <a:buNone/>
            </a:pPr>
            <a:r>
              <a:rPr lang="en-US" sz="1350" b="1" dirty="0">
                <a:solidFill>
                  <a:srgbClr val="FFFFFF"/>
                </a:solidFill>
                <a:latin typeface="Meiryo" pitchFamily="34" charset="0"/>
                <a:ea typeface="Meiryo" pitchFamily="34" charset="-122"/>
                <a:cs typeface="Meiryo" pitchFamily="34" charset="-120"/>
              </a:rPr>
              <a:t>（IBに移りうる部分）</a:t>
            </a:r>
            <a:endParaRPr lang="en-US" sz="1350" dirty="0"/>
          </a:p>
        </p:txBody>
      </p:sp>
      <p:sp>
        <p:nvSpPr>
          <p:cNvPr id="23" name="Shape 21"/>
          <p:cNvSpPr/>
          <p:nvPr/>
        </p:nvSpPr>
        <p:spPr>
          <a:xfrm>
            <a:off x="6355080" y="4572000"/>
            <a:ext cx="5330952" cy="658368"/>
          </a:xfrm>
          <a:prstGeom prst="roundRect">
            <a:avLst>
              <a:gd name="adj" fmla="val 8333"/>
            </a:avLst>
          </a:prstGeom>
          <a:solidFill>
            <a:srgbClr val="F0F2F5"/>
          </a:solidFill>
          <a:ln w="12700">
            <a:solidFill>
              <a:srgbClr val="D3DCE8"/>
            </a:solidFill>
            <a:prstDash val="solid"/>
          </a:ln>
        </p:spPr>
      </p:sp>
      <p:sp>
        <p:nvSpPr>
          <p:cNvPr id="24" name="Text 22"/>
          <p:cNvSpPr txBox="1"/>
          <p:nvPr/>
        </p:nvSpPr>
        <p:spPr>
          <a:xfrm>
            <a:off x="6537960" y="4572000"/>
            <a:ext cx="4965192" cy="658368"/>
          </a:xfrm>
          <a:prstGeom prst="rect">
            <a:avLst/>
          </a:prstGeom>
          <a:noFill/>
          <a:ln/>
        </p:spPr>
        <p:txBody>
          <a:bodyPr wrap="square" lIns="0" tIns="0" rIns="0" bIns="0" rtlCol="0" anchor="ctr"/>
          <a:lstStyle/>
          <a:p>
            <a:pPr algn="ctr" indent="0" marL="0">
              <a:buNone/>
            </a:pPr>
            <a:r>
              <a:rPr lang="en-US" sz="1150" dirty="0">
                <a:solidFill>
                  <a:srgbClr val="5D6E82"/>
                </a:solidFill>
                <a:latin typeface="Meiryo" pitchFamily="34" charset="0"/>
                <a:ea typeface="Meiryo" pitchFamily="34" charset="-122"/>
                <a:cs typeface="Meiryo" pitchFamily="34" charset="-120"/>
              </a:rPr>
              <a:t>ATMでしか行えない取引（現金の入出金 など）　→　今回は対象外</a:t>
            </a:r>
            <a:endParaRPr lang="en-US" sz="1150" dirty="0"/>
          </a:p>
        </p:txBody>
      </p:sp>
      <p:sp>
        <p:nvSpPr>
          <p:cNvPr id="25" name="Text 23"/>
          <p:cNvSpPr txBox="1"/>
          <p:nvPr/>
        </p:nvSpPr>
        <p:spPr>
          <a:xfrm>
            <a:off x="6355080" y="5376672"/>
            <a:ext cx="5330952" cy="365760"/>
          </a:xfrm>
          <a:prstGeom prst="rect">
            <a:avLst/>
          </a:prstGeom>
          <a:noFill/>
          <a:ln/>
        </p:spPr>
        <p:txBody>
          <a:bodyPr wrap="square" lIns="0" tIns="0" rIns="0" bIns="0" rtlCol="0" anchor="ctr"/>
          <a:lstStyle/>
          <a:p>
            <a:pPr indent="0" marL="0">
              <a:buNone/>
            </a:pPr>
            <a:r>
              <a:rPr lang="en-US" sz="1150" dirty="0">
                <a:solidFill>
                  <a:srgbClr val="5D6E82"/>
                </a:solidFill>
                <a:latin typeface="Meiryo" pitchFamily="34" charset="0"/>
                <a:ea typeface="Meiryo" pitchFamily="34" charset="-122"/>
                <a:cs typeface="Meiryo" pitchFamily="34" charset="-120"/>
              </a:rPr>
              <a:t>対象期間：2025年4〜6月／2026年4〜6月（利用できたデータの範囲、計6か月）</a:t>
            </a:r>
            <a:endParaRPr lang="en-US" sz="1150" dirty="0"/>
          </a:p>
        </p:txBody>
      </p:sp>
      <p:sp>
        <p:nvSpPr>
          <p:cNvPr id="27" name="Text 24"/>
          <p:cNvSpPr txBox="1"/>
          <p:nvPr/>
        </p:nvSpPr>
        <p:spPr>
          <a:xfrm>
            <a:off x="11411712" y="6382512"/>
            <a:ext cx="365760" cy="274320"/>
          </a:xfrm>
          <a:prstGeom prst="rect">
            <a:avLst/>
          </a:prstGeom>
          <a:noFill/>
          <a:ln/>
        </p:spPr>
        <p:txBody>
          <a:bodyPr wrap="square" lIns="0" tIns="0" rIns="0" bIns="0" rtlCol="0" anchor="ctr"/>
          <a:lstStyle/>
          <a:p>
            <a:pPr algn="r" indent="0" marL="0">
              <a:buNone/>
            </a:pPr>
            <a:r>
              <a:rPr lang="en-US" sz="1000" dirty="0">
                <a:solidFill>
                  <a:srgbClr val="9AA9BA"/>
                </a:solidFill>
                <a:latin typeface="Meiryo" pitchFamily="34" charset="0"/>
                <a:ea typeface="Meiryo" pitchFamily="34" charset="-122"/>
                <a:cs typeface="Meiryo"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47472"/>
            <a:ext cx="11183112" cy="566928"/>
          </a:xfrm>
          <a:prstGeom prst="rect">
            <a:avLst/>
          </a:prstGeom>
          <a:noFill/>
          <a:ln/>
        </p:spPr>
        <p:txBody>
          <a:bodyPr wrap="square" lIns="0" tIns="0" rIns="0" bIns="0" rtlCol="0" anchor="ctr"/>
          <a:lstStyle/>
          <a:p>
            <a:pPr algn="l" indent="0" marL="0">
              <a:buNone/>
            </a:pPr>
            <a:r>
              <a:rPr lang="en-US" sz="2600" b="1" dirty="0">
                <a:solidFill>
                  <a:srgbClr val="13294B"/>
                </a:solidFill>
                <a:latin typeface="Meiryo" pitchFamily="34" charset="0"/>
                <a:ea typeface="Meiryo" pitchFamily="34" charset="-122"/>
                <a:cs typeface="Meiryo" pitchFamily="34" charset="-120"/>
              </a:rPr>
              <a:t>条件を指定して集計しただけ ── IB利用件数は2026年に増加</a:t>
            </a:r>
            <a:endParaRPr lang="en-US" sz="2600" dirty="0"/>
          </a:p>
        </p:txBody>
      </p:sp>
      <p:sp>
        <p:nvSpPr>
          <p:cNvPr id="3" name="Text 1"/>
          <p:cNvSpPr txBox="1"/>
          <p:nvPr/>
        </p:nvSpPr>
        <p:spPr>
          <a:xfrm>
            <a:off x="502920" y="950976"/>
            <a:ext cx="11183112" cy="384048"/>
          </a:xfrm>
          <a:prstGeom prst="rect">
            <a:avLst/>
          </a:prstGeom>
          <a:noFill/>
          <a:ln/>
        </p:spPr>
        <p:txBody>
          <a:bodyPr wrap="square" lIns="0" tIns="0" rIns="0" bIns="0" rtlCol="0" anchor="ctr"/>
          <a:lstStyle/>
          <a:p>
            <a:pPr algn="l" indent="0" marL="0">
              <a:buNone/>
            </a:pPr>
            <a:r>
              <a:rPr lang="en-US" sz="1350" b="1" dirty="0">
                <a:solidFill>
                  <a:srgbClr val="D9482F"/>
                </a:solidFill>
                <a:latin typeface="Meiryo" pitchFamily="34" charset="0"/>
                <a:ea typeface="Meiryo" pitchFamily="34" charset="-122"/>
                <a:cs typeface="Meiryo" pitchFamily="34" charset="-120"/>
              </a:rPr>
              <a:t>統計モデルや機械学習は使っていない。見たい条件を指定して数え、並べただけ。</a:t>
            </a:r>
            <a:endParaRPr lang="en-US" sz="1350" dirty="0"/>
          </a:p>
        </p:txBody>
      </p:sp>
      <p:sp>
        <p:nvSpPr>
          <p:cNvPr id="4" name="Text 2"/>
          <p:cNvSpPr txBox="1"/>
          <p:nvPr/>
        </p:nvSpPr>
        <p:spPr>
          <a:xfrm>
            <a:off x="502920" y="1591056"/>
            <a:ext cx="4160520" cy="292608"/>
          </a:xfrm>
          <a:prstGeom prst="rect">
            <a:avLst/>
          </a:prstGeom>
          <a:noFill/>
          <a:ln/>
        </p:spPr>
        <p:txBody>
          <a:bodyPr wrap="square" lIns="0" tIns="0" rIns="0" bIns="0" rtlCol="0" anchor="ctr"/>
          <a:lstStyle/>
          <a:p>
            <a:pPr indent="0" marL="0">
              <a:buNone/>
            </a:pPr>
            <a:r>
              <a:rPr lang="en-US" sz="1400" b="1" dirty="0">
                <a:solidFill>
                  <a:srgbClr val="13294B"/>
                </a:solidFill>
                <a:latin typeface="Meiryo" pitchFamily="34" charset="0"/>
                <a:ea typeface="Meiryo" pitchFamily="34" charset="-122"/>
                <a:cs typeface="Meiryo" pitchFamily="34" charset="-120"/>
              </a:rPr>
              <a:t>DYNATREKで行ったこと</a:t>
            </a:r>
            <a:endParaRPr lang="en-US" sz="1400" dirty="0"/>
          </a:p>
        </p:txBody>
      </p:sp>
      <p:sp>
        <p:nvSpPr>
          <p:cNvPr id="5" name="Shape 3"/>
          <p:cNvSpPr/>
          <p:nvPr/>
        </p:nvSpPr>
        <p:spPr>
          <a:xfrm>
            <a:off x="502920" y="1975104"/>
            <a:ext cx="4160520" cy="804672"/>
          </a:xfrm>
          <a:prstGeom prst="roundRect">
            <a:avLst>
              <a:gd name="adj" fmla="val 6818"/>
            </a:avLst>
          </a:prstGeom>
          <a:solidFill>
            <a:srgbClr val="EEF2F8"/>
          </a:solidFill>
          <a:ln w="6350">
            <a:solidFill>
              <a:srgbClr val="EEF2F8"/>
            </a:solidFill>
            <a:prstDash val="solid"/>
          </a:ln>
        </p:spPr>
      </p:sp>
      <p:sp>
        <p:nvSpPr>
          <p:cNvPr id="6" name="Shape 4"/>
          <p:cNvSpPr/>
          <p:nvPr/>
        </p:nvSpPr>
        <p:spPr>
          <a:xfrm>
            <a:off x="704088" y="2212848"/>
            <a:ext cx="329184" cy="329184"/>
          </a:xfrm>
          <a:prstGeom prst="ellipse">
            <a:avLst/>
          </a:prstGeom>
          <a:solidFill>
            <a:srgbClr val="13294B"/>
          </a:solidFill>
          <a:ln w="6350">
            <a:solidFill>
              <a:srgbClr val="13294B"/>
            </a:solidFill>
            <a:prstDash val="solid"/>
          </a:ln>
        </p:spPr>
      </p:sp>
      <p:sp>
        <p:nvSpPr>
          <p:cNvPr id="7" name="Text 5"/>
          <p:cNvSpPr txBox="1"/>
          <p:nvPr/>
        </p:nvSpPr>
        <p:spPr>
          <a:xfrm>
            <a:off x="704088" y="22128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8" name="Text 6"/>
          <p:cNvSpPr txBox="1"/>
          <p:nvPr/>
        </p:nvSpPr>
        <p:spPr>
          <a:xfrm>
            <a:off x="1143000" y="2048256"/>
            <a:ext cx="3319272" cy="658368"/>
          </a:xfrm>
          <a:prstGeom prst="rect">
            <a:avLst/>
          </a:prstGeom>
          <a:noFill/>
          <a:ln/>
        </p:spPr>
        <p:txBody>
          <a:bodyPr wrap="square" lIns="0" tIns="0" rIns="0" bIns="0" rtlCol="0" anchor="ctr"/>
          <a:lstStyle/>
          <a:p>
            <a:pPr indent="0" marL="0">
              <a:lnSpc>
                <a:spcPct val="125000"/>
              </a:lnSpc>
              <a:buNone/>
            </a:pPr>
            <a:r>
              <a:rPr lang="en-US" sz="1150" dirty="0">
                <a:solidFill>
                  <a:srgbClr val="1E2A38"/>
                </a:solidFill>
                <a:latin typeface="Meiryo" pitchFamily="34" charset="0"/>
                <a:ea typeface="Meiryo" pitchFamily="34" charset="-122"/>
                <a:cs typeface="Meiryo" pitchFamily="34" charset="-120"/>
              </a:rPr>
              <a:t>期間を指定する</a:t>
            </a:r>
            <a:endParaRPr lang="en-US" sz="1150" dirty="0"/>
          </a:p>
          <a:p>
            <a:pPr indent="0" marL="0">
              <a:lnSpc>
                <a:spcPct val="125000"/>
              </a:lnSpc>
              <a:buNone/>
            </a:pPr>
            <a:r>
              <a:rPr lang="en-US" sz="1150" dirty="0">
                <a:solidFill>
                  <a:srgbClr val="1E2A38"/>
                </a:solidFill>
                <a:latin typeface="Meiryo" pitchFamily="34" charset="0"/>
                <a:ea typeface="Meiryo" pitchFamily="34" charset="-122"/>
                <a:cs typeface="Meiryo" pitchFamily="34" charset="-120"/>
              </a:rPr>
              <a:t>2025年4〜6月／2026年4〜6月</a:t>
            </a:r>
            <a:endParaRPr lang="en-US" sz="1150" dirty="0"/>
          </a:p>
        </p:txBody>
      </p:sp>
      <p:sp>
        <p:nvSpPr>
          <p:cNvPr id="9" name="Shape 7"/>
          <p:cNvSpPr/>
          <p:nvPr/>
        </p:nvSpPr>
        <p:spPr>
          <a:xfrm>
            <a:off x="502920" y="2907792"/>
            <a:ext cx="4160520" cy="804672"/>
          </a:xfrm>
          <a:prstGeom prst="roundRect">
            <a:avLst>
              <a:gd name="adj" fmla="val 6818"/>
            </a:avLst>
          </a:prstGeom>
          <a:solidFill>
            <a:srgbClr val="EEF2F8"/>
          </a:solidFill>
          <a:ln w="6350">
            <a:solidFill>
              <a:srgbClr val="EEF2F8"/>
            </a:solidFill>
            <a:prstDash val="solid"/>
          </a:ln>
        </p:spPr>
      </p:sp>
      <p:sp>
        <p:nvSpPr>
          <p:cNvPr id="10" name="Shape 8"/>
          <p:cNvSpPr/>
          <p:nvPr/>
        </p:nvSpPr>
        <p:spPr>
          <a:xfrm>
            <a:off x="704088" y="3145536"/>
            <a:ext cx="329184" cy="329184"/>
          </a:xfrm>
          <a:prstGeom prst="ellipse">
            <a:avLst/>
          </a:prstGeom>
          <a:solidFill>
            <a:srgbClr val="13294B"/>
          </a:solidFill>
          <a:ln w="6350">
            <a:solidFill>
              <a:srgbClr val="13294B"/>
            </a:solidFill>
            <a:prstDash val="solid"/>
          </a:ln>
        </p:spPr>
      </p:sp>
      <p:sp>
        <p:nvSpPr>
          <p:cNvPr id="11" name="Text 9"/>
          <p:cNvSpPr txBox="1"/>
          <p:nvPr/>
        </p:nvSpPr>
        <p:spPr>
          <a:xfrm>
            <a:off x="704088" y="31455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2" name="Text 10"/>
          <p:cNvSpPr txBox="1"/>
          <p:nvPr/>
        </p:nvSpPr>
        <p:spPr>
          <a:xfrm>
            <a:off x="1143000" y="2980944"/>
            <a:ext cx="3319272" cy="658368"/>
          </a:xfrm>
          <a:prstGeom prst="rect">
            <a:avLst/>
          </a:prstGeom>
          <a:noFill/>
          <a:ln/>
        </p:spPr>
        <p:txBody>
          <a:bodyPr wrap="square" lIns="0" tIns="0" rIns="0" bIns="0" rtlCol="0" anchor="ctr"/>
          <a:lstStyle/>
          <a:p>
            <a:pPr indent="0" marL="0">
              <a:lnSpc>
                <a:spcPct val="125000"/>
              </a:lnSpc>
              <a:buNone/>
            </a:pPr>
            <a:r>
              <a:rPr lang="en-US" sz="1150" dirty="0">
                <a:solidFill>
                  <a:srgbClr val="1E2A38"/>
                </a:solidFill>
                <a:latin typeface="Meiryo" pitchFamily="34" charset="0"/>
                <a:ea typeface="Meiryo" pitchFamily="34" charset="-122"/>
                <a:cs typeface="Meiryo" pitchFamily="34" charset="-120"/>
              </a:rPr>
              <a:t>取引の種類を指定する</a:t>
            </a:r>
            <a:endParaRPr lang="en-US" sz="1150" dirty="0"/>
          </a:p>
          <a:p>
            <a:pPr indent="0" marL="0">
              <a:lnSpc>
                <a:spcPct val="125000"/>
              </a:lnSpc>
              <a:buNone/>
            </a:pPr>
            <a:r>
              <a:rPr lang="en-US" sz="1150" dirty="0">
                <a:solidFill>
                  <a:srgbClr val="1E2A38"/>
                </a:solidFill>
                <a:latin typeface="Meiryo" pitchFamily="34" charset="0"/>
                <a:ea typeface="Meiryo" pitchFamily="34" charset="-122"/>
                <a:cs typeface="Meiryo" pitchFamily="34" charset="-120"/>
              </a:rPr>
              <a:t>振込・振替など、IBでも行える取引</a:t>
            </a:r>
            <a:endParaRPr lang="en-US" sz="1150" dirty="0"/>
          </a:p>
        </p:txBody>
      </p:sp>
      <p:sp>
        <p:nvSpPr>
          <p:cNvPr id="13" name="Shape 11"/>
          <p:cNvSpPr/>
          <p:nvPr/>
        </p:nvSpPr>
        <p:spPr>
          <a:xfrm>
            <a:off x="502920" y="3840480"/>
            <a:ext cx="4160520" cy="804672"/>
          </a:xfrm>
          <a:prstGeom prst="roundRect">
            <a:avLst>
              <a:gd name="adj" fmla="val 6818"/>
            </a:avLst>
          </a:prstGeom>
          <a:solidFill>
            <a:srgbClr val="EEF2F8"/>
          </a:solidFill>
          <a:ln w="6350">
            <a:solidFill>
              <a:srgbClr val="EEF2F8"/>
            </a:solidFill>
            <a:prstDash val="solid"/>
          </a:ln>
        </p:spPr>
      </p:sp>
      <p:sp>
        <p:nvSpPr>
          <p:cNvPr id="14" name="Shape 12"/>
          <p:cNvSpPr/>
          <p:nvPr/>
        </p:nvSpPr>
        <p:spPr>
          <a:xfrm>
            <a:off x="704088" y="4078224"/>
            <a:ext cx="329184" cy="329184"/>
          </a:xfrm>
          <a:prstGeom prst="ellipse">
            <a:avLst/>
          </a:prstGeom>
          <a:solidFill>
            <a:srgbClr val="13294B"/>
          </a:solidFill>
          <a:ln w="6350">
            <a:solidFill>
              <a:srgbClr val="13294B"/>
            </a:solidFill>
            <a:prstDash val="solid"/>
          </a:ln>
        </p:spPr>
      </p:sp>
      <p:sp>
        <p:nvSpPr>
          <p:cNvPr id="15" name="Text 13"/>
          <p:cNvSpPr txBox="1"/>
          <p:nvPr/>
        </p:nvSpPr>
        <p:spPr>
          <a:xfrm>
            <a:off x="704088"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6" name="Text 14"/>
          <p:cNvSpPr txBox="1"/>
          <p:nvPr/>
        </p:nvSpPr>
        <p:spPr>
          <a:xfrm>
            <a:off x="1143000" y="3913632"/>
            <a:ext cx="3319272" cy="658368"/>
          </a:xfrm>
          <a:prstGeom prst="rect">
            <a:avLst/>
          </a:prstGeom>
          <a:noFill/>
          <a:ln/>
        </p:spPr>
        <p:txBody>
          <a:bodyPr wrap="square" lIns="0" tIns="0" rIns="0" bIns="0" rtlCol="0" anchor="ctr"/>
          <a:lstStyle/>
          <a:p>
            <a:pPr indent="0" marL="0">
              <a:lnSpc>
                <a:spcPct val="125000"/>
              </a:lnSpc>
              <a:buNone/>
            </a:pPr>
            <a:r>
              <a:rPr lang="en-US" sz="1150" dirty="0">
                <a:solidFill>
                  <a:srgbClr val="1E2A38"/>
                </a:solidFill>
                <a:latin typeface="Meiryo" pitchFamily="34" charset="0"/>
                <a:ea typeface="Meiryo" pitchFamily="34" charset="-122"/>
                <a:cs typeface="Meiryo" pitchFamily="34" charset="-120"/>
              </a:rPr>
              <a:t>チャネル別（IB／ATM）に</a:t>
            </a:r>
            <a:endParaRPr lang="en-US" sz="1150" dirty="0"/>
          </a:p>
          <a:p>
            <a:pPr indent="0" marL="0">
              <a:lnSpc>
                <a:spcPct val="125000"/>
              </a:lnSpc>
              <a:buNone/>
            </a:pPr>
            <a:r>
              <a:rPr lang="en-US" sz="1150" dirty="0">
                <a:solidFill>
                  <a:srgbClr val="1E2A38"/>
                </a:solidFill>
                <a:latin typeface="Meiryo" pitchFamily="34" charset="0"/>
                <a:ea typeface="Meiryo" pitchFamily="34" charset="-122"/>
                <a:cs typeface="Meiryo" pitchFamily="34" charset="-120"/>
              </a:rPr>
              <a:t>件数を集計して並べる</a:t>
            </a:r>
            <a:endParaRPr lang="en-US" sz="1150" dirty="0"/>
          </a:p>
        </p:txBody>
      </p:sp>
      <p:sp>
        <p:nvSpPr>
          <p:cNvPr id="17" name="Shape 15"/>
          <p:cNvSpPr/>
          <p:nvPr/>
        </p:nvSpPr>
        <p:spPr>
          <a:xfrm>
            <a:off x="502920" y="4937760"/>
            <a:ext cx="4160520" cy="1417320"/>
          </a:xfrm>
          <a:prstGeom prst="roundRect">
            <a:avLst>
              <a:gd name="adj" fmla="val 3871"/>
            </a:avLst>
          </a:prstGeom>
          <a:solidFill>
            <a:srgbClr val="13294B"/>
          </a:solidFill>
          <a:ln w="6350">
            <a:solidFill>
              <a:srgbClr val="13294B"/>
            </a:solidFill>
            <a:prstDash val="solid"/>
          </a:ln>
        </p:spPr>
      </p:sp>
      <p:sp>
        <p:nvSpPr>
          <p:cNvPr id="18" name="Text 16"/>
          <p:cNvSpPr txBox="1"/>
          <p:nvPr/>
        </p:nvSpPr>
        <p:spPr>
          <a:xfrm>
            <a:off x="722376" y="5047488"/>
            <a:ext cx="3721608" cy="256032"/>
          </a:xfrm>
          <a:prstGeom prst="rect">
            <a:avLst/>
          </a:prstGeom>
          <a:noFill/>
          <a:ln/>
        </p:spPr>
        <p:txBody>
          <a:bodyPr wrap="square" lIns="0" tIns="0" rIns="0" bIns="0" rtlCol="0" anchor="ctr"/>
          <a:lstStyle/>
          <a:p>
            <a:pPr indent="0" marL="0">
              <a:buNone/>
            </a:pPr>
            <a:r>
              <a:rPr lang="en-US" sz="1100" dirty="0">
                <a:solidFill>
                  <a:srgbClr val="CADCFC"/>
                </a:solidFill>
                <a:latin typeface="Meiryo" pitchFamily="34" charset="0"/>
                <a:ea typeface="Meiryo" pitchFamily="34" charset="-122"/>
                <a:cs typeface="Meiryo" pitchFamily="34" charset="-120"/>
              </a:rPr>
              <a:t>IB利用件数（1か月あたり）</a:t>
            </a:r>
            <a:endParaRPr lang="en-US" sz="1100" dirty="0"/>
          </a:p>
        </p:txBody>
      </p:sp>
      <p:sp>
        <p:nvSpPr>
          <p:cNvPr id="19" name="Text 17"/>
          <p:cNvSpPr txBox="1"/>
          <p:nvPr/>
        </p:nvSpPr>
        <p:spPr>
          <a:xfrm>
            <a:off x="722376" y="5358384"/>
            <a:ext cx="3721608" cy="402336"/>
          </a:xfrm>
          <a:prstGeom prst="rect">
            <a:avLst/>
          </a:prstGeom>
          <a:noFill/>
          <a:ln/>
        </p:spPr>
        <p:txBody>
          <a:bodyPr wrap="square" lIns="0" tIns="0" rIns="0" bIns="0" rtlCol="0" anchor="ctr"/>
          <a:lstStyle/>
          <a:p>
            <a:pPr indent="0" marL="0">
              <a:buNone/>
            </a:pPr>
            <a:r>
              <a:rPr lang="en-US" sz="1100" dirty="0">
                <a:solidFill>
                  <a:srgbClr val="CADCFC"/>
                </a:solidFill>
                <a:latin typeface="Meiryo" pitchFamily="34" charset="0"/>
                <a:ea typeface="Meiryo" pitchFamily="34" charset="-122"/>
                <a:cs typeface="Meiryo" pitchFamily="34" charset="-120"/>
              </a:rPr>
              <a:t>2025年 4〜6月　</a:t>
            </a:r>
            <a:pPr indent="0" marL="0">
              <a:buNone/>
            </a:pPr>
            <a:r>
              <a:rPr lang="en-US" sz="1900" b="1" dirty="0">
                <a:solidFill>
                  <a:srgbClr val="FFFFFF"/>
                </a:solidFill>
                <a:latin typeface="Meiryo" pitchFamily="34" charset="0"/>
                <a:ea typeface="Meiryo" pitchFamily="34" charset="-122"/>
                <a:cs typeface="Meiryo" pitchFamily="34" charset="-120"/>
              </a:rPr>
              <a:t>約15〜16</a:t>
            </a:r>
            <a:pPr indent="0" marL="0">
              <a:buNone/>
            </a:pPr>
            <a:r>
              <a:rPr lang="en-US" sz="1200" dirty="0">
                <a:solidFill>
                  <a:srgbClr val="CADCFC"/>
                </a:solidFill>
                <a:latin typeface="Meiryo" pitchFamily="34" charset="0"/>
                <a:ea typeface="Meiryo" pitchFamily="34" charset="-122"/>
                <a:cs typeface="Meiryo" pitchFamily="34" charset="-120"/>
              </a:rPr>
              <a:t>万件</a:t>
            </a:r>
            <a:endParaRPr lang="en-US" sz="1100" dirty="0"/>
          </a:p>
        </p:txBody>
      </p:sp>
      <p:sp>
        <p:nvSpPr>
          <p:cNvPr id="20" name="Text 18"/>
          <p:cNvSpPr txBox="1"/>
          <p:nvPr/>
        </p:nvSpPr>
        <p:spPr>
          <a:xfrm>
            <a:off x="722376" y="5797296"/>
            <a:ext cx="3721608" cy="438912"/>
          </a:xfrm>
          <a:prstGeom prst="rect">
            <a:avLst/>
          </a:prstGeom>
          <a:noFill/>
          <a:ln/>
        </p:spPr>
        <p:txBody>
          <a:bodyPr wrap="square" lIns="0" tIns="0" rIns="0" bIns="0" rtlCol="0" anchor="ctr"/>
          <a:lstStyle/>
          <a:p>
            <a:pPr indent="0" marL="0">
              <a:buNone/>
            </a:pPr>
            <a:r>
              <a:rPr lang="en-US" sz="1100" dirty="0">
                <a:solidFill>
                  <a:srgbClr val="CADCFC"/>
                </a:solidFill>
                <a:latin typeface="Meiryo" pitchFamily="34" charset="0"/>
                <a:ea typeface="Meiryo" pitchFamily="34" charset="-122"/>
                <a:cs typeface="Meiryo" pitchFamily="34" charset="-120"/>
              </a:rPr>
              <a:t>2026年 4〜6月　</a:t>
            </a:r>
            <a:pPr indent="0" marL="0">
              <a:buNone/>
            </a:pPr>
            <a:r>
              <a:rPr lang="en-US" sz="2100" b="1" dirty="0">
                <a:solidFill>
                  <a:srgbClr val="FFC9BC"/>
                </a:solidFill>
                <a:latin typeface="Meiryo" pitchFamily="34" charset="0"/>
                <a:ea typeface="Meiryo" pitchFamily="34" charset="-122"/>
                <a:cs typeface="Meiryo" pitchFamily="34" charset="-120"/>
              </a:rPr>
              <a:t>約18〜20</a:t>
            </a:r>
            <a:pPr indent="0" marL="0">
              <a:buNone/>
            </a:pPr>
            <a:r>
              <a:rPr lang="en-US" sz="1200" dirty="0">
                <a:solidFill>
                  <a:srgbClr val="CADCFC"/>
                </a:solidFill>
                <a:latin typeface="Meiryo" pitchFamily="34" charset="0"/>
                <a:ea typeface="Meiryo" pitchFamily="34" charset="-122"/>
                <a:cs typeface="Meiryo" pitchFamily="34" charset="-120"/>
              </a:rPr>
              <a:t>万件</a:t>
            </a:r>
            <a:endParaRPr lang="en-US" sz="1100" dirty="0"/>
          </a:p>
        </p:txBody>
      </p:sp>
      <p:sp>
        <p:nvSpPr>
          <p:cNvPr id="21" name="Shape 19"/>
          <p:cNvSpPr/>
          <p:nvPr/>
        </p:nvSpPr>
        <p:spPr>
          <a:xfrm>
            <a:off x="5029200" y="1591056"/>
            <a:ext cx="6656832" cy="2148840"/>
          </a:xfrm>
          <a:prstGeom prst="roundRect">
            <a:avLst>
              <a:gd name="adj" fmla="val 2128"/>
            </a:avLst>
          </a:prstGeom>
          <a:solidFill>
            <a:srgbClr val="FAFBFD"/>
          </a:solidFill>
          <a:ln w="15875">
            <a:solidFill>
              <a:srgbClr val="2A4A7A"/>
            </a:solidFill>
            <a:prstDash val="dash"/>
          </a:ln>
        </p:spPr>
      </p:sp>
      <p:sp>
        <p:nvSpPr>
          <p:cNvPr id="22" name="Text 20"/>
          <p:cNvSpPr txBox="1"/>
          <p:nvPr/>
        </p:nvSpPr>
        <p:spPr>
          <a:xfrm>
            <a:off x="5303520" y="2194560"/>
            <a:ext cx="6108192" cy="365760"/>
          </a:xfrm>
          <a:prstGeom prst="rect">
            <a:avLst/>
          </a:prstGeom>
          <a:noFill/>
          <a:ln/>
        </p:spPr>
        <p:txBody>
          <a:bodyPr wrap="square" lIns="0" tIns="0" rIns="0" bIns="0" rtlCol="0" anchor="ctr"/>
          <a:lstStyle/>
          <a:p>
            <a:pPr algn="ctr" indent="0" marL="0">
              <a:buNone/>
            </a:pPr>
            <a:r>
              <a:rPr lang="en-US" sz="1200" b="1" dirty="0">
                <a:solidFill>
                  <a:srgbClr val="D9482F"/>
                </a:solidFill>
                <a:latin typeface="Meiryo" pitchFamily="34" charset="0"/>
                <a:ea typeface="Meiryo" pitchFamily="34" charset="-122"/>
                <a:cs typeface="Meiryo" pitchFamily="34" charset="-120"/>
              </a:rPr>
              <a:t>グラフ①　</a:t>
            </a:r>
            <a:pPr algn="ctr" indent="0" marL="0">
              <a:buNone/>
            </a:pPr>
            <a:r>
              <a:rPr lang="en-US" sz="1300" b="1" dirty="0">
                <a:solidFill>
                  <a:srgbClr val="13294B"/>
                </a:solidFill>
                <a:latin typeface="Meiryo" pitchFamily="34" charset="0"/>
                <a:ea typeface="Meiryo" pitchFamily="34" charset="-122"/>
                <a:cs typeface="Meiryo" pitchFamily="34" charset="-120"/>
              </a:rPr>
              <a:t>IB利用件数の月次推移</a:t>
            </a:r>
            <a:endParaRPr lang="en-US" sz="1200" dirty="0"/>
          </a:p>
        </p:txBody>
      </p:sp>
      <p:sp>
        <p:nvSpPr>
          <p:cNvPr id="23" name="Text 21"/>
          <p:cNvSpPr txBox="1"/>
          <p:nvPr/>
        </p:nvSpPr>
        <p:spPr>
          <a:xfrm>
            <a:off x="5486400" y="2596896"/>
            <a:ext cx="5742432" cy="548640"/>
          </a:xfrm>
          <a:prstGeom prst="rect">
            <a:avLst/>
          </a:prstGeom>
          <a:noFill/>
          <a:ln/>
        </p:spPr>
        <p:txBody>
          <a:bodyPr wrap="square" lIns="0" tIns="0" rIns="0" bIns="0" rtlCol="0" anchor="t"/>
          <a:lstStyle/>
          <a:p>
            <a:pPr algn="ctr" indent="0" marL="0">
              <a:lnSpc>
                <a:spcPct val="125000"/>
              </a:lnSpc>
              <a:buNone/>
            </a:pPr>
            <a:r>
              <a:rPr lang="en-US" sz="1150" dirty="0">
                <a:solidFill>
                  <a:srgbClr val="5D6E82"/>
                </a:solidFill>
                <a:latin typeface="Meiryo" pitchFamily="34" charset="0"/>
                <a:ea typeface="Meiryo" pitchFamily="34" charset="-122"/>
                <a:cs typeface="Meiryo" pitchFamily="34" charset="-120"/>
              </a:rPr>
              <a:t>2025年4・5・6月 と 2026年4・5・6月 を並べた棒グラフ（縦軸：件数）</a:t>
            </a:r>
            <a:endParaRPr lang="en-US" sz="1150" dirty="0"/>
          </a:p>
        </p:txBody>
      </p:sp>
      <p:sp>
        <p:nvSpPr>
          <p:cNvPr id="24" name="Shape 22"/>
          <p:cNvSpPr/>
          <p:nvPr/>
        </p:nvSpPr>
        <p:spPr>
          <a:xfrm>
            <a:off x="5029200" y="3977640"/>
            <a:ext cx="6656832" cy="2148840"/>
          </a:xfrm>
          <a:prstGeom prst="roundRect">
            <a:avLst>
              <a:gd name="adj" fmla="val 2128"/>
            </a:avLst>
          </a:prstGeom>
          <a:solidFill>
            <a:srgbClr val="FAFBFD"/>
          </a:solidFill>
          <a:ln w="15875">
            <a:solidFill>
              <a:srgbClr val="2A4A7A"/>
            </a:solidFill>
            <a:prstDash val="dash"/>
          </a:ln>
        </p:spPr>
      </p:sp>
      <p:sp>
        <p:nvSpPr>
          <p:cNvPr id="25" name="Text 23"/>
          <p:cNvSpPr txBox="1"/>
          <p:nvPr/>
        </p:nvSpPr>
        <p:spPr>
          <a:xfrm>
            <a:off x="5303520" y="4581144"/>
            <a:ext cx="6108192" cy="365760"/>
          </a:xfrm>
          <a:prstGeom prst="rect">
            <a:avLst/>
          </a:prstGeom>
          <a:noFill/>
          <a:ln/>
        </p:spPr>
        <p:txBody>
          <a:bodyPr wrap="square" lIns="0" tIns="0" rIns="0" bIns="0" rtlCol="0" anchor="ctr"/>
          <a:lstStyle/>
          <a:p>
            <a:pPr algn="ctr" indent="0" marL="0">
              <a:buNone/>
            </a:pPr>
            <a:r>
              <a:rPr lang="en-US" sz="1200" b="1" dirty="0">
                <a:solidFill>
                  <a:srgbClr val="D9482F"/>
                </a:solidFill>
                <a:latin typeface="Meiryo" pitchFamily="34" charset="0"/>
                <a:ea typeface="Meiryo" pitchFamily="34" charset="-122"/>
                <a:cs typeface="Meiryo" pitchFamily="34" charset="-120"/>
              </a:rPr>
              <a:t>グラフ②　</a:t>
            </a:r>
            <a:pPr algn="ctr" indent="0" marL="0">
              <a:buNone/>
            </a:pPr>
            <a:r>
              <a:rPr lang="en-US" sz="1300" b="1" dirty="0">
                <a:solidFill>
                  <a:srgbClr val="13294B"/>
                </a:solidFill>
                <a:latin typeface="Meiryo" pitchFamily="34" charset="0"/>
                <a:ea typeface="Meiryo" pitchFamily="34" charset="-122"/>
                <a:cs typeface="Meiryo" pitchFamily="34" charset="-120"/>
              </a:rPr>
              <a:t>IB と ATM（IB代替可能取引）の比較</a:t>
            </a:r>
            <a:endParaRPr lang="en-US" sz="1200" dirty="0"/>
          </a:p>
        </p:txBody>
      </p:sp>
      <p:sp>
        <p:nvSpPr>
          <p:cNvPr id="26" name="Text 24"/>
          <p:cNvSpPr txBox="1"/>
          <p:nvPr/>
        </p:nvSpPr>
        <p:spPr>
          <a:xfrm>
            <a:off x="5486400" y="4983480"/>
            <a:ext cx="5742432" cy="548640"/>
          </a:xfrm>
          <a:prstGeom prst="rect">
            <a:avLst/>
          </a:prstGeom>
          <a:noFill/>
          <a:ln/>
        </p:spPr>
        <p:txBody>
          <a:bodyPr wrap="square" lIns="0" tIns="0" rIns="0" bIns="0" rtlCol="0" anchor="t"/>
          <a:lstStyle/>
          <a:p>
            <a:pPr algn="ctr" indent="0" marL="0">
              <a:lnSpc>
                <a:spcPct val="125000"/>
              </a:lnSpc>
              <a:buNone/>
            </a:pPr>
            <a:r>
              <a:rPr lang="en-US" sz="1150" dirty="0">
                <a:solidFill>
                  <a:srgbClr val="5D6E82"/>
                </a:solidFill>
                <a:latin typeface="Meiryo" pitchFamily="34" charset="0"/>
                <a:ea typeface="Meiryo" pitchFamily="34" charset="-122"/>
                <a:cs typeface="Meiryo" pitchFamily="34" charset="-120"/>
              </a:rPr>
              <a:t>同じ月について、IBで行われた件数とATMで行われたIB代替可能取引の件数を横並びにした棒グラフ</a:t>
            </a:r>
            <a:endParaRPr lang="en-US" sz="1150" dirty="0"/>
          </a:p>
        </p:txBody>
      </p:sp>
      <p:sp>
        <p:nvSpPr>
          <p:cNvPr id="27" name="Text 25"/>
          <p:cNvSpPr txBox="1"/>
          <p:nvPr/>
        </p:nvSpPr>
        <p:spPr>
          <a:xfrm>
            <a:off x="5029200" y="6199632"/>
            <a:ext cx="5760720" cy="256032"/>
          </a:xfrm>
          <a:prstGeom prst="rect">
            <a:avLst/>
          </a:prstGeom>
          <a:noFill/>
          <a:ln/>
        </p:spPr>
        <p:txBody>
          <a:bodyPr wrap="square" lIns="0" tIns="0" rIns="0" bIns="0" rtlCol="0" anchor="ctr"/>
          <a:lstStyle/>
          <a:p>
            <a:pPr indent="0" marL="0">
              <a:buNone/>
            </a:pPr>
            <a:r>
              <a:rPr lang="en-US" sz="1000" dirty="0">
                <a:solidFill>
                  <a:srgbClr val="9AA9BA"/>
                </a:solidFill>
                <a:latin typeface="Meiryo" pitchFamily="34" charset="0"/>
                <a:ea typeface="Meiryo" pitchFamily="34" charset="-122"/>
                <a:cs typeface="Meiryo" pitchFamily="34" charset="-120"/>
              </a:rPr>
              <a:t>※ グラフはDYNATREKの集計結果を貼り付ける（上の枠内）</a:t>
            </a:r>
            <a:endParaRPr lang="en-US" sz="1000" dirty="0"/>
          </a:p>
        </p:txBody>
      </p:sp>
      <p:sp>
        <p:nvSpPr>
          <p:cNvPr id="29" name="Text 26"/>
          <p:cNvSpPr txBox="1"/>
          <p:nvPr/>
        </p:nvSpPr>
        <p:spPr>
          <a:xfrm>
            <a:off x="11411712" y="6382512"/>
            <a:ext cx="365760" cy="274320"/>
          </a:xfrm>
          <a:prstGeom prst="rect">
            <a:avLst/>
          </a:prstGeom>
          <a:noFill/>
          <a:ln/>
        </p:spPr>
        <p:txBody>
          <a:bodyPr wrap="square" lIns="0" tIns="0" rIns="0" bIns="0" rtlCol="0" anchor="ctr"/>
          <a:lstStyle/>
          <a:p>
            <a:pPr algn="r" indent="0" marL="0">
              <a:buNone/>
            </a:pPr>
            <a:r>
              <a:rPr lang="en-US" sz="1000" dirty="0">
                <a:solidFill>
                  <a:srgbClr val="9AA9BA"/>
                </a:solidFill>
                <a:latin typeface="Meiryo" pitchFamily="34" charset="0"/>
                <a:ea typeface="Meiryo" pitchFamily="34" charset="-122"/>
                <a:cs typeface="Meiryo"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47472"/>
            <a:ext cx="11183112" cy="566928"/>
          </a:xfrm>
          <a:prstGeom prst="rect">
            <a:avLst/>
          </a:prstGeom>
          <a:noFill/>
          <a:ln/>
        </p:spPr>
        <p:txBody>
          <a:bodyPr wrap="square" lIns="0" tIns="0" rIns="0" bIns="0" rtlCol="0" anchor="ctr"/>
          <a:lstStyle/>
          <a:p>
            <a:pPr algn="l" indent="0" marL="0">
              <a:buNone/>
            </a:pPr>
            <a:r>
              <a:rPr lang="en-US" sz="2600" b="1" dirty="0">
                <a:solidFill>
                  <a:srgbClr val="13294B"/>
                </a:solidFill>
                <a:latin typeface="Meiryo" pitchFamily="34" charset="0"/>
                <a:ea typeface="Meiryo" pitchFamily="34" charset="-122"/>
                <a:cs typeface="Meiryo" pitchFamily="34" charset="-120"/>
              </a:rPr>
              <a:t>「増えた」とは言えるが、「施策の効果」とは言い切れない</a:t>
            </a:r>
            <a:endParaRPr lang="en-US" sz="2600" dirty="0"/>
          </a:p>
        </p:txBody>
      </p:sp>
      <p:sp>
        <p:nvSpPr>
          <p:cNvPr id="3" name="Text 1"/>
          <p:cNvSpPr txBox="1"/>
          <p:nvPr/>
        </p:nvSpPr>
        <p:spPr>
          <a:xfrm>
            <a:off x="502920" y="950976"/>
            <a:ext cx="11183112" cy="384048"/>
          </a:xfrm>
          <a:prstGeom prst="rect">
            <a:avLst/>
          </a:prstGeom>
          <a:noFill/>
          <a:ln/>
        </p:spPr>
        <p:txBody>
          <a:bodyPr wrap="square" lIns="0" tIns="0" rIns="0" bIns="0" rtlCol="0" anchor="ctr"/>
          <a:lstStyle/>
          <a:p>
            <a:pPr algn="l" indent="0" marL="0">
              <a:buNone/>
            </a:pPr>
            <a:r>
              <a:rPr lang="en-US" sz="1350" b="1" dirty="0">
                <a:solidFill>
                  <a:srgbClr val="D9482F"/>
                </a:solidFill>
                <a:latin typeface="Meiryo" pitchFamily="34" charset="0"/>
                <a:ea typeface="Meiryo" pitchFamily="34" charset="-122"/>
                <a:cs typeface="Meiryo" pitchFamily="34" charset="-120"/>
              </a:rPr>
              <a:t>数字から言えることと言えないことを分けることも、分析の一部だと考えた。</a:t>
            </a:r>
            <a:endParaRPr lang="en-US" sz="1350" dirty="0"/>
          </a:p>
        </p:txBody>
      </p:sp>
      <p:sp>
        <p:nvSpPr>
          <p:cNvPr id="4" name="Shape 2"/>
          <p:cNvSpPr/>
          <p:nvPr/>
        </p:nvSpPr>
        <p:spPr>
          <a:xfrm>
            <a:off x="502920" y="1536192"/>
            <a:ext cx="3520440" cy="4114800"/>
          </a:xfrm>
          <a:prstGeom prst="roundRect">
            <a:avLst>
              <a:gd name="adj" fmla="val 1558"/>
            </a:avLst>
          </a:prstGeom>
          <a:solidFill>
            <a:srgbClr val="EEF2F8"/>
          </a:solidFill>
          <a:ln w="6350">
            <a:solidFill>
              <a:srgbClr val="EEF2F8"/>
            </a:solidFill>
            <a:prstDash val="solid"/>
          </a:ln>
        </p:spPr>
      </p:sp>
      <p:sp>
        <p:nvSpPr>
          <p:cNvPr id="5" name="Shape 3"/>
          <p:cNvSpPr/>
          <p:nvPr/>
        </p:nvSpPr>
        <p:spPr>
          <a:xfrm>
            <a:off x="722376" y="1755648"/>
            <a:ext cx="365760" cy="365760"/>
          </a:xfrm>
          <a:prstGeom prst="ellipse">
            <a:avLst/>
          </a:prstGeom>
          <a:solidFill>
            <a:srgbClr val="13294B"/>
          </a:solidFill>
          <a:ln w="6350">
            <a:solidFill>
              <a:srgbClr val="13294B"/>
            </a:solidFill>
            <a:prstDash val="solid"/>
          </a:ln>
        </p:spPr>
      </p:sp>
      <p:sp>
        <p:nvSpPr>
          <p:cNvPr id="6" name="Text 4"/>
          <p:cNvSpPr txBox="1"/>
          <p:nvPr/>
        </p:nvSpPr>
        <p:spPr>
          <a:xfrm>
            <a:off x="722376" y="17556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a:t>
            </a:r>
            <a:endParaRPr lang="en-US" sz="1300" dirty="0"/>
          </a:p>
        </p:txBody>
      </p:sp>
      <p:sp>
        <p:nvSpPr>
          <p:cNvPr id="7" name="Text 5"/>
          <p:cNvSpPr txBox="1"/>
          <p:nvPr/>
        </p:nvSpPr>
        <p:spPr>
          <a:xfrm>
            <a:off x="1197864" y="1719072"/>
            <a:ext cx="2606040" cy="457200"/>
          </a:xfrm>
          <a:prstGeom prst="rect">
            <a:avLst/>
          </a:prstGeom>
          <a:noFill/>
          <a:ln/>
        </p:spPr>
        <p:txBody>
          <a:bodyPr wrap="square" lIns="0" tIns="0" rIns="0" bIns="0" rtlCol="0" anchor="ctr"/>
          <a:lstStyle/>
          <a:p>
            <a:pPr indent="0" marL="0">
              <a:buNone/>
            </a:pPr>
            <a:r>
              <a:rPr lang="en-US" sz="1350" b="1" dirty="0">
                <a:solidFill>
                  <a:srgbClr val="13294B"/>
                </a:solidFill>
                <a:latin typeface="Meiryo" pitchFamily="34" charset="0"/>
                <a:ea typeface="Meiryo" pitchFamily="34" charset="-122"/>
                <a:cs typeface="Meiryo" pitchFamily="34" charset="-120"/>
              </a:rPr>
              <a:t>このデータから言えること</a:t>
            </a:r>
            <a:endParaRPr lang="en-US" sz="1350" dirty="0"/>
          </a:p>
        </p:txBody>
      </p:sp>
      <p:sp>
        <p:nvSpPr>
          <p:cNvPr id="8" name="Text 6"/>
          <p:cNvSpPr txBox="1"/>
          <p:nvPr/>
        </p:nvSpPr>
        <p:spPr>
          <a:xfrm>
            <a:off x="758952" y="2322576"/>
            <a:ext cx="3008376" cy="3218688"/>
          </a:xfrm>
          <a:prstGeom prst="rect">
            <a:avLst/>
          </a:prstGeom>
          <a:noFill/>
          <a:ln/>
        </p:spPr>
        <p:txBody>
          <a:bodyPr wrap="square" lIns="0" tIns="0" rIns="0" bIns="0" rtlCol="0" anchor="t"/>
          <a:lstStyle/>
          <a:p>
            <a:pPr marL="342900" indent="-342900">
              <a:lnSpc>
                <a:spcPct val="132000"/>
              </a:lnSpc>
              <a:spcAft>
                <a:spcPts val="1000"/>
              </a:spcAft>
              <a:buSzPct val="100000"/>
              <a:buChar char="▪"/>
            </a:pPr>
            <a:r>
              <a:rPr lang="en-US" sz="1200" dirty="0">
                <a:solidFill>
                  <a:srgbClr val="1E2A38"/>
                </a:solidFill>
                <a:latin typeface="Meiryo" pitchFamily="34" charset="0"/>
                <a:ea typeface="Meiryo" pitchFamily="34" charset="-122"/>
                <a:cs typeface="Meiryo" pitchFamily="34" charset="-120"/>
              </a:rPr>
              <a:t>前年の同時期（4〜6月）と比べて、2026年のIB利用件数は増えている。</a:t>
            </a:r>
            <a:endParaRPr lang="en-US" sz="1200" dirty="0"/>
          </a:p>
          <a:p>
            <a:pPr marL="342900" indent="-342900">
              <a:lnSpc>
                <a:spcPct val="132000"/>
              </a:lnSpc>
              <a:spcAft>
                <a:spcPts val="1000"/>
              </a:spcAft>
              <a:buSzPct val="100000"/>
              <a:buChar char="▪"/>
            </a:pPr>
            <a:r>
              <a:rPr lang="en-US" sz="1200" dirty="0">
                <a:solidFill>
                  <a:srgbClr val="1E2A38"/>
                </a:solidFill>
                <a:latin typeface="Meiryo" pitchFamily="34" charset="0"/>
                <a:ea typeface="Meiryo" pitchFamily="34" charset="-122"/>
                <a:cs typeface="Meiryo" pitchFamily="34" charset="-120"/>
              </a:rPr>
              <a:t>1か月あたり 約15〜16万件 → 約18〜20万件。</a:t>
            </a:r>
            <a:endParaRPr lang="en-US" sz="1200" dirty="0"/>
          </a:p>
        </p:txBody>
      </p:sp>
      <p:sp>
        <p:nvSpPr>
          <p:cNvPr id="9" name="Shape 7"/>
          <p:cNvSpPr/>
          <p:nvPr/>
        </p:nvSpPr>
        <p:spPr>
          <a:xfrm>
            <a:off x="4288536" y="1536192"/>
            <a:ext cx="3520440" cy="4114800"/>
          </a:xfrm>
          <a:prstGeom prst="roundRect">
            <a:avLst>
              <a:gd name="adj" fmla="val 1558"/>
            </a:avLst>
          </a:prstGeom>
          <a:solidFill>
            <a:srgbClr val="FBEAE4"/>
          </a:solidFill>
          <a:ln w="6350">
            <a:solidFill>
              <a:srgbClr val="FBEAE4"/>
            </a:solidFill>
            <a:prstDash val="solid"/>
          </a:ln>
        </p:spPr>
      </p:sp>
      <p:sp>
        <p:nvSpPr>
          <p:cNvPr id="10" name="Shape 8"/>
          <p:cNvSpPr/>
          <p:nvPr/>
        </p:nvSpPr>
        <p:spPr>
          <a:xfrm>
            <a:off x="4507992" y="1755648"/>
            <a:ext cx="365760" cy="365760"/>
          </a:xfrm>
          <a:prstGeom prst="ellipse">
            <a:avLst/>
          </a:prstGeom>
          <a:solidFill>
            <a:srgbClr val="D9482F"/>
          </a:solidFill>
          <a:ln w="6350">
            <a:solidFill>
              <a:srgbClr val="D9482F"/>
            </a:solidFill>
            <a:prstDash val="solid"/>
          </a:ln>
        </p:spPr>
      </p:sp>
      <p:sp>
        <p:nvSpPr>
          <p:cNvPr id="11" name="Text 9"/>
          <p:cNvSpPr txBox="1"/>
          <p:nvPr/>
        </p:nvSpPr>
        <p:spPr>
          <a:xfrm>
            <a:off x="4507992" y="17556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a:t>
            </a:r>
            <a:endParaRPr lang="en-US" sz="1300" dirty="0"/>
          </a:p>
        </p:txBody>
      </p:sp>
      <p:sp>
        <p:nvSpPr>
          <p:cNvPr id="12" name="Text 10"/>
          <p:cNvSpPr txBox="1"/>
          <p:nvPr/>
        </p:nvSpPr>
        <p:spPr>
          <a:xfrm>
            <a:off x="4983480" y="1719072"/>
            <a:ext cx="2606040" cy="457200"/>
          </a:xfrm>
          <a:prstGeom prst="rect">
            <a:avLst/>
          </a:prstGeom>
          <a:noFill/>
          <a:ln/>
        </p:spPr>
        <p:txBody>
          <a:bodyPr wrap="square" lIns="0" tIns="0" rIns="0" bIns="0" rtlCol="0" anchor="ctr"/>
          <a:lstStyle/>
          <a:p>
            <a:pPr indent="0" marL="0">
              <a:buNone/>
            </a:pPr>
            <a:r>
              <a:rPr lang="en-US" sz="1350" b="1" dirty="0">
                <a:solidFill>
                  <a:srgbClr val="D9482F"/>
                </a:solidFill>
                <a:latin typeface="Meiryo" pitchFamily="34" charset="0"/>
                <a:ea typeface="Meiryo" pitchFamily="34" charset="-122"/>
                <a:cs typeface="Meiryo" pitchFamily="34" charset="-120"/>
              </a:rPr>
              <a:t>このデータからは言えないこと</a:t>
            </a:r>
            <a:endParaRPr lang="en-US" sz="1350" dirty="0"/>
          </a:p>
        </p:txBody>
      </p:sp>
      <p:sp>
        <p:nvSpPr>
          <p:cNvPr id="13" name="Text 11"/>
          <p:cNvSpPr txBox="1"/>
          <p:nvPr/>
        </p:nvSpPr>
        <p:spPr>
          <a:xfrm>
            <a:off x="4544568" y="2322576"/>
            <a:ext cx="3008376" cy="3218688"/>
          </a:xfrm>
          <a:prstGeom prst="rect">
            <a:avLst/>
          </a:prstGeom>
          <a:noFill/>
          <a:ln/>
        </p:spPr>
        <p:txBody>
          <a:bodyPr wrap="square" lIns="0" tIns="0" rIns="0" bIns="0" rtlCol="0" anchor="t"/>
          <a:lstStyle/>
          <a:p>
            <a:pPr marL="342900" indent="-342900">
              <a:lnSpc>
                <a:spcPct val="132000"/>
              </a:lnSpc>
              <a:spcAft>
                <a:spcPts val="1000"/>
              </a:spcAft>
              <a:buSzPct val="100000"/>
              <a:buChar char="▪"/>
            </a:pPr>
            <a:r>
              <a:rPr lang="en-US" sz="1200" dirty="0">
                <a:solidFill>
                  <a:srgbClr val="1E2A38"/>
                </a:solidFill>
                <a:latin typeface="Meiryo" pitchFamily="34" charset="0"/>
                <a:ea typeface="Meiryo" pitchFamily="34" charset="-122"/>
                <a:cs typeface="Meiryo" pitchFamily="34" charset="-120"/>
              </a:rPr>
              <a:t>比較できるのは4〜6月の3か月分×2年のみで、連続した推移が追えない。</a:t>
            </a:r>
            <a:endParaRPr lang="en-US" sz="1200" dirty="0"/>
          </a:p>
          <a:p>
            <a:pPr marL="342900" indent="-342900">
              <a:lnSpc>
                <a:spcPct val="132000"/>
              </a:lnSpc>
              <a:spcAft>
                <a:spcPts val="1000"/>
              </a:spcAft>
              <a:buSzPct val="100000"/>
              <a:buChar char="▪"/>
            </a:pPr>
            <a:r>
              <a:rPr lang="en-US" sz="1200" dirty="0">
                <a:solidFill>
                  <a:srgbClr val="1E2A38"/>
                </a:solidFill>
                <a:latin typeface="Meiryo" pitchFamily="34" charset="0"/>
                <a:ea typeface="Meiryo" pitchFamily="34" charset="-122"/>
                <a:cs typeface="Meiryo" pitchFamily="34" charset="-120"/>
              </a:rPr>
              <a:t>口座数の変化、取引全体の増減、季節性、社会全体でのIB利用の広がりなど、施策以外の要因を切り分けられない。</a:t>
            </a:r>
            <a:endParaRPr lang="en-US" sz="1200" dirty="0"/>
          </a:p>
          <a:p>
            <a:pPr marL="342900" indent="-342900">
              <a:lnSpc>
                <a:spcPct val="132000"/>
              </a:lnSpc>
              <a:spcAft>
                <a:spcPts val="1000"/>
              </a:spcAft>
              <a:buSzPct val="100000"/>
              <a:buChar char="▪"/>
            </a:pPr>
            <a:r>
              <a:rPr lang="en-US" sz="1200" dirty="0">
                <a:solidFill>
                  <a:srgbClr val="1E2A38"/>
                </a:solidFill>
                <a:latin typeface="Meiryo" pitchFamily="34" charset="0"/>
                <a:ea typeface="Meiryo" pitchFamily="34" charset="-122"/>
                <a:cs typeface="Meiryo" pitchFamily="34" charset="-120"/>
              </a:rPr>
              <a:t>→「IB普及施策によって増えた」という因果関係は、このデータだけでは判断できない。</a:t>
            </a:r>
            <a:endParaRPr lang="en-US" sz="1200" dirty="0"/>
          </a:p>
        </p:txBody>
      </p:sp>
      <p:sp>
        <p:nvSpPr>
          <p:cNvPr id="14" name="Shape 12"/>
          <p:cNvSpPr/>
          <p:nvPr/>
        </p:nvSpPr>
        <p:spPr>
          <a:xfrm>
            <a:off x="8074152" y="1536192"/>
            <a:ext cx="3520440" cy="4114800"/>
          </a:xfrm>
          <a:prstGeom prst="roundRect">
            <a:avLst>
              <a:gd name="adj" fmla="val 1558"/>
            </a:avLst>
          </a:prstGeom>
          <a:solidFill>
            <a:srgbClr val="EEF2F8"/>
          </a:solidFill>
          <a:ln w="6350">
            <a:solidFill>
              <a:srgbClr val="EEF2F8"/>
            </a:solidFill>
            <a:prstDash val="solid"/>
          </a:ln>
        </p:spPr>
      </p:sp>
      <p:sp>
        <p:nvSpPr>
          <p:cNvPr id="15" name="Shape 13"/>
          <p:cNvSpPr/>
          <p:nvPr/>
        </p:nvSpPr>
        <p:spPr>
          <a:xfrm>
            <a:off x="8293608" y="1755648"/>
            <a:ext cx="365760" cy="365760"/>
          </a:xfrm>
          <a:prstGeom prst="ellipse">
            <a:avLst/>
          </a:prstGeom>
          <a:solidFill>
            <a:srgbClr val="2A4A7A"/>
          </a:solidFill>
          <a:ln w="6350">
            <a:solidFill>
              <a:srgbClr val="2A4A7A"/>
            </a:solidFill>
            <a:prstDash val="solid"/>
          </a:ln>
        </p:spPr>
      </p:sp>
      <p:sp>
        <p:nvSpPr>
          <p:cNvPr id="16" name="Text 14"/>
          <p:cNvSpPr txBox="1"/>
          <p:nvPr/>
        </p:nvSpPr>
        <p:spPr>
          <a:xfrm>
            <a:off x="8293608" y="17556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a:t>
            </a:r>
            <a:endParaRPr lang="en-US" sz="1300" dirty="0"/>
          </a:p>
        </p:txBody>
      </p:sp>
      <p:sp>
        <p:nvSpPr>
          <p:cNvPr id="17" name="Text 15"/>
          <p:cNvSpPr txBox="1"/>
          <p:nvPr/>
        </p:nvSpPr>
        <p:spPr>
          <a:xfrm>
            <a:off x="8769096" y="1719072"/>
            <a:ext cx="2606040" cy="457200"/>
          </a:xfrm>
          <a:prstGeom prst="rect">
            <a:avLst/>
          </a:prstGeom>
          <a:noFill/>
          <a:ln/>
        </p:spPr>
        <p:txBody>
          <a:bodyPr wrap="square" lIns="0" tIns="0" rIns="0" bIns="0" rtlCol="0" anchor="ctr"/>
          <a:lstStyle/>
          <a:p>
            <a:pPr indent="0" marL="0">
              <a:buNone/>
            </a:pPr>
            <a:r>
              <a:rPr lang="en-US" sz="1350" b="1" dirty="0">
                <a:solidFill>
                  <a:srgbClr val="2A4A7A"/>
                </a:solidFill>
                <a:latin typeface="Meiryo" pitchFamily="34" charset="0"/>
                <a:ea typeface="Meiryo" pitchFamily="34" charset="-122"/>
                <a:cs typeface="Meiryo" pitchFamily="34" charset="-120"/>
              </a:rPr>
              <a:t>データが蓄積されれば確かめられること</a:t>
            </a:r>
            <a:endParaRPr lang="en-US" sz="1350" dirty="0"/>
          </a:p>
        </p:txBody>
      </p:sp>
      <p:sp>
        <p:nvSpPr>
          <p:cNvPr id="18" name="Text 16"/>
          <p:cNvSpPr txBox="1"/>
          <p:nvPr/>
        </p:nvSpPr>
        <p:spPr>
          <a:xfrm>
            <a:off x="8330184" y="2322576"/>
            <a:ext cx="3008376" cy="3218688"/>
          </a:xfrm>
          <a:prstGeom prst="rect">
            <a:avLst/>
          </a:prstGeom>
          <a:noFill/>
          <a:ln/>
        </p:spPr>
        <p:txBody>
          <a:bodyPr wrap="square" lIns="0" tIns="0" rIns="0" bIns="0" rtlCol="0" anchor="t"/>
          <a:lstStyle/>
          <a:p>
            <a:pPr marL="342900" indent="-342900">
              <a:lnSpc>
                <a:spcPct val="132000"/>
              </a:lnSpc>
              <a:spcAft>
                <a:spcPts val="1000"/>
              </a:spcAft>
              <a:buSzPct val="100000"/>
              <a:buChar char="▪"/>
            </a:pPr>
            <a:r>
              <a:rPr lang="en-US" sz="1200" dirty="0">
                <a:solidFill>
                  <a:srgbClr val="1E2A38"/>
                </a:solidFill>
                <a:latin typeface="Meiryo" pitchFamily="34" charset="0"/>
                <a:ea typeface="Meiryo" pitchFamily="34" charset="-122"/>
                <a:cs typeface="Meiryo" pitchFamily="34" charset="-120"/>
              </a:rPr>
              <a:t>連続した月次の推移を見て、施策の前後で変化しているかを確かめる。</a:t>
            </a:r>
            <a:endParaRPr lang="en-US" sz="1200" dirty="0"/>
          </a:p>
          <a:p>
            <a:pPr marL="342900" indent="-342900">
              <a:lnSpc>
                <a:spcPct val="132000"/>
              </a:lnSpc>
              <a:spcAft>
                <a:spcPts val="1000"/>
              </a:spcAft>
              <a:buSzPct val="100000"/>
              <a:buChar char="▪"/>
            </a:pPr>
            <a:r>
              <a:rPr lang="en-US" sz="1200" dirty="0">
                <a:solidFill>
                  <a:srgbClr val="1E2A38"/>
                </a:solidFill>
                <a:latin typeface="Meiryo" pitchFamily="34" charset="0"/>
                <a:ea typeface="Meiryo" pitchFamily="34" charset="-122"/>
                <a:cs typeface="Meiryo" pitchFamily="34" charset="-120"/>
              </a:rPr>
              <a:t>ATMのIB代替可能取引が減っているかを、IBの増加と対応させて見る。</a:t>
            </a:r>
            <a:endParaRPr lang="en-US" sz="1200" dirty="0"/>
          </a:p>
          <a:p>
            <a:pPr marL="342900" indent="-342900">
              <a:lnSpc>
                <a:spcPct val="132000"/>
              </a:lnSpc>
              <a:spcAft>
                <a:spcPts val="1000"/>
              </a:spcAft>
              <a:buSzPct val="100000"/>
              <a:buChar char="▪"/>
            </a:pPr>
            <a:r>
              <a:rPr lang="en-US" sz="1200" dirty="0">
                <a:solidFill>
                  <a:srgbClr val="1E2A38"/>
                </a:solidFill>
                <a:latin typeface="Meiryo" pitchFamily="34" charset="0"/>
                <a:ea typeface="Meiryo" pitchFamily="34" charset="-122"/>
                <a:cs typeface="Meiryo" pitchFamily="34" charset="-120"/>
              </a:rPr>
              <a:t>支店や年代などの属性別に、普及の進み方の違いを見る。</a:t>
            </a:r>
            <a:endParaRPr lang="en-US" sz="1200" dirty="0"/>
          </a:p>
        </p:txBody>
      </p:sp>
      <p:sp>
        <p:nvSpPr>
          <p:cNvPr id="19" name="Shape 17"/>
          <p:cNvSpPr/>
          <p:nvPr/>
        </p:nvSpPr>
        <p:spPr>
          <a:xfrm>
            <a:off x="502920" y="5797296"/>
            <a:ext cx="11183112" cy="548640"/>
          </a:xfrm>
          <a:prstGeom prst="roundRect">
            <a:avLst>
              <a:gd name="adj" fmla="val 10000"/>
            </a:avLst>
          </a:prstGeom>
          <a:solidFill>
            <a:srgbClr val="13294B"/>
          </a:solidFill>
          <a:ln w="6350">
            <a:solidFill>
              <a:srgbClr val="13294B"/>
            </a:solidFill>
            <a:prstDash val="solid"/>
          </a:ln>
        </p:spPr>
      </p:sp>
      <p:sp>
        <p:nvSpPr>
          <p:cNvPr id="20" name="Text 18"/>
          <p:cNvSpPr txBox="1"/>
          <p:nvPr/>
        </p:nvSpPr>
        <p:spPr>
          <a:xfrm>
            <a:off x="758952" y="5797296"/>
            <a:ext cx="10671048"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Meiryo" pitchFamily="34" charset="0"/>
                <a:ea typeface="Meiryo" pitchFamily="34" charset="-122"/>
                <a:cs typeface="Meiryo" pitchFamily="34" charset="-120"/>
              </a:rPr>
              <a:t>「増えている」という事実は確認できた。同時に、次に何を確かめればよいかがはっきりした。</a:t>
            </a:r>
            <a:endParaRPr lang="en-US" sz="1350" dirty="0"/>
          </a:p>
        </p:txBody>
      </p:sp>
      <p:sp>
        <p:nvSpPr>
          <p:cNvPr id="22" name="Text 19"/>
          <p:cNvSpPr txBox="1"/>
          <p:nvPr/>
        </p:nvSpPr>
        <p:spPr>
          <a:xfrm>
            <a:off x="11411712" y="6382512"/>
            <a:ext cx="365760" cy="274320"/>
          </a:xfrm>
          <a:prstGeom prst="rect">
            <a:avLst/>
          </a:prstGeom>
          <a:noFill/>
          <a:ln/>
        </p:spPr>
        <p:txBody>
          <a:bodyPr wrap="square" lIns="0" tIns="0" rIns="0" bIns="0" rtlCol="0" anchor="ctr"/>
          <a:lstStyle/>
          <a:p>
            <a:pPr algn="r" indent="0" marL="0">
              <a:buNone/>
            </a:pPr>
            <a:r>
              <a:rPr lang="en-US" sz="1000" dirty="0">
                <a:solidFill>
                  <a:srgbClr val="9AA9BA"/>
                </a:solidFill>
                <a:latin typeface="Meiryo" pitchFamily="34" charset="0"/>
                <a:ea typeface="Meiryo" pitchFamily="34" charset="-122"/>
                <a:cs typeface="Meiryo"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3294B"/>
        </a:solidFill>
      </p:bgPr>
    </p:bg>
    <p:spTree>
      <p:nvGrpSpPr>
        <p:cNvPr id="1" name=""/>
        <p:cNvGrpSpPr/>
        <p:nvPr/>
      </p:nvGrpSpPr>
      <p:grpSpPr>
        <a:xfrm>
          <a:off x="0" y="0"/>
          <a:ext cx="0" cy="0"/>
          <a:chOff x="0" y="0"/>
          <a:chExt cx="0" cy="0"/>
        </a:xfrm>
      </p:grpSpPr>
      <p:sp>
        <p:nvSpPr>
          <p:cNvPr id="2" name="Text 0"/>
          <p:cNvSpPr txBox="1"/>
          <p:nvPr/>
        </p:nvSpPr>
        <p:spPr>
          <a:xfrm>
            <a:off x="502920" y="384048"/>
            <a:ext cx="11183112" cy="566928"/>
          </a:xfrm>
          <a:prstGeom prst="rect">
            <a:avLst/>
          </a:prstGeom>
          <a:noFill/>
          <a:ln/>
        </p:spPr>
        <p:txBody>
          <a:bodyPr wrap="square" lIns="0" tIns="0" rIns="0" bIns="0" rtlCol="0" anchor="ctr"/>
          <a:lstStyle/>
          <a:p>
            <a:pPr indent="0" marL="0">
              <a:buNone/>
            </a:pPr>
            <a:r>
              <a:rPr lang="en-US" sz="2600" b="1" dirty="0">
                <a:solidFill>
                  <a:srgbClr val="FFFFFF"/>
                </a:solidFill>
                <a:latin typeface="Meiryo" pitchFamily="34" charset="0"/>
                <a:ea typeface="Meiryo" pitchFamily="34" charset="-122"/>
                <a:cs typeface="Meiryo" pitchFamily="34" charset="-120"/>
              </a:rPr>
              <a:t>難しいのは分析手法ではなく、「何を見るか」を決めること</a:t>
            </a:r>
            <a:endParaRPr lang="en-US" sz="2600" dirty="0"/>
          </a:p>
        </p:txBody>
      </p:sp>
      <p:sp>
        <p:nvSpPr>
          <p:cNvPr id="3" name="Text 1"/>
          <p:cNvSpPr txBox="1"/>
          <p:nvPr/>
        </p:nvSpPr>
        <p:spPr>
          <a:xfrm>
            <a:off x="502920" y="987552"/>
            <a:ext cx="11183112" cy="365760"/>
          </a:xfrm>
          <a:prstGeom prst="rect">
            <a:avLst/>
          </a:prstGeom>
          <a:noFill/>
          <a:ln/>
        </p:spPr>
        <p:txBody>
          <a:bodyPr wrap="square" lIns="0" tIns="0" rIns="0" bIns="0" rtlCol="0" anchor="ctr"/>
          <a:lstStyle/>
          <a:p>
            <a:pPr indent="0" marL="0">
              <a:buNone/>
            </a:pPr>
            <a:r>
              <a:rPr lang="en-US" sz="1350" b="1" dirty="0">
                <a:solidFill>
                  <a:srgbClr val="FFC9BC"/>
                </a:solidFill>
                <a:latin typeface="Meiryo" pitchFamily="34" charset="0"/>
                <a:ea typeface="Meiryo" pitchFamily="34" charset="-122"/>
                <a:cs typeface="Meiryo" pitchFamily="34" charset="-120"/>
              </a:rPr>
              <a:t>DYNATREKが「取り出す」壁を下げてくれるからこそ、「何を見るか」を考えることに時間を使えた。</a:t>
            </a:r>
            <a:endParaRPr lang="en-US" sz="1350" dirty="0"/>
          </a:p>
        </p:txBody>
      </p:sp>
      <p:sp>
        <p:nvSpPr>
          <p:cNvPr id="4" name="Shape 2"/>
          <p:cNvSpPr/>
          <p:nvPr/>
        </p:nvSpPr>
        <p:spPr>
          <a:xfrm>
            <a:off x="502920" y="1572768"/>
            <a:ext cx="3520440" cy="3401568"/>
          </a:xfrm>
          <a:prstGeom prst="roundRect">
            <a:avLst>
              <a:gd name="adj" fmla="val 1613"/>
            </a:avLst>
          </a:prstGeom>
          <a:solidFill>
            <a:srgbClr val="1C3A66"/>
          </a:solidFill>
          <a:ln w="12700">
            <a:solidFill>
              <a:srgbClr val="2A4A7A"/>
            </a:solidFill>
            <a:prstDash val="solid"/>
          </a:ln>
        </p:spPr>
      </p:sp>
      <p:sp>
        <p:nvSpPr>
          <p:cNvPr id="5" name="Text 3"/>
          <p:cNvSpPr txBox="1"/>
          <p:nvPr/>
        </p:nvSpPr>
        <p:spPr>
          <a:xfrm>
            <a:off x="758952" y="1755648"/>
            <a:ext cx="3008376" cy="384048"/>
          </a:xfrm>
          <a:prstGeom prst="rect">
            <a:avLst/>
          </a:prstGeom>
          <a:noFill/>
          <a:ln/>
        </p:spPr>
        <p:txBody>
          <a:bodyPr wrap="square" lIns="0" tIns="0" rIns="0" bIns="0" rtlCol="0" anchor="ctr"/>
          <a:lstStyle/>
          <a:p>
            <a:pPr indent="0" marL="0">
              <a:buNone/>
            </a:pPr>
            <a:r>
              <a:rPr lang="en-US" sz="1400" b="1" dirty="0">
                <a:solidFill>
                  <a:srgbClr val="FFC9BC"/>
                </a:solidFill>
                <a:latin typeface="Meiryo" pitchFamily="34" charset="0"/>
                <a:ea typeface="Meiryo" pitchFamily="34" charset="-122"/>
                <a:cs typeface="Meiryo" pitchFamily="34" charset="-120"/>
              </a:rPr>
              <a:t>DYNATREKに感じた価値</a:t>
            </a:r>
            <a:endParaRPr lang="en-US" sz="1400" dirty="0"/>
          </a:p>
        </p:txBody>
      </p:sp>
      <p:sp>
        <p:nvSpPr>
          <p:cNvPr id="6" name="Text 4"/>
          <p:cNvSpPr txBox="1"/>
          <p:nvPr/>
        </p:nvSpPr>
        <p:spPr>
          <a:xfrm>
            <a:off x="758952" y="2212848"/>
            <a:ext cx="3008376" cy="2560320"/>
          </a:xfrm>
          <a:prstGeom prst="rect">
            <a:avLst/>
          </a:prstGeom>
          <a:noFill/>
          <a:ln/>
        </p:spPr>
        <p:txBody>
          <a:bodyPr wrap="square" lIns="0" tIns="0" rIns="0" bIns="0" rtlCol="0" anchor="t"/>
          <a:lstStyle/>
          <a:p>
            <a:pPr indent="0" marL="0">
              <a:lnSpc>
                <a:spcPct val="135000"/>
              </a:lnSpc>
              <a:buNone/>
            </a:pPr>
            <a:r>
              <a:rPr lang="en-US" sz="1150" dirty="0">
                <a:solidFill>
                  <a:srgbClr val="FFFFFF"/>
                </a:solidFill>
                <a:latin typeface="Meiryo" pitchFamily="34" charset="0"/>
                <a:ea typeface="Meiryo" pitchFamily="34" charset="-122"/>
                <a:cs typeface="Meiryo" pitchFamily="34" charset="-120"/>
              </a:rPr>
              <a:t>業務DBには分析に使わない項目も多く含まれ、目的のデータを取り出すこと自体が難しい。DYNATREKは条件を指定して必要なデータだけを表示・集計できるため、専門的な分析知識がなくても、業務上の疑問をその場でデータに当てて確かめられる。</a:t>
            </a:r>
            <a:endParaRPr lang="en-US" sz="1150" dirty="0"/>
          </a:p>
        </p:txBody>
      </p:sp>
      <p:sp>
        <p:nvSpPr>
          <p:cNvPr id="7" name="Shape 5"/>
          <p:cNvSpPr/>
          <p:nvPr/>
        </p:nvSpPr>
        <p:spPr>
          <a:xfrm>
            <a:off x="4288536" y="1572768"/>
            <a:ext cx="3520440" cy="3401568"/>
          </a:xfrm>
          <a:prstGeom prst="roundRect">
            <a:avLst>
              <a:gd name="adj" fmla="val 1613"/>
            </a:avLst>
          </a:prstGeom>
          <a:solidFill>
            <a:srgbClr val="1C3A66"/>
          </a:solidFill>
          <a:ln w="12700">
            <a:solidFill>
              <a:srgbClr val="2A4A7A"/>
            </a:solidFill>
            <a:prstDash val="solid"/>
          </a:ln>
        </p:spPr>
      </p:sp>
      <p:sp>
        <p:nvSpPr>
          <p:cNvPr id="8" name="Text 6"/>
          <p:cNvSpPr txBox="1"/>
          <p:nvPr/>
        </p:nvSpPr>
        <p:spPr>
          <a:xfrm>
            <a:off x="4544568" y="1755648"/>
            <a:ext cx="3008376" cy="384048"/>
          </a:xfrm>
          <a:prstGeom prst="rect">
            <a:avLst/>
          </a:prstGeom>
          <a:noFill/>
          <a:ln/>
        </p:spPr>
        <p:txBody>
          <a:bodyPr wrap="square" lIns="0" tIns="0" rIns="0" bIns="0" rtlCol="0" anchor="ctr"/>
          <a:lstStyle/>
          <a:p>
            <a:pPr indent="0" marL="0">
              <a:buNone/>
            </a:pPr>
            <a:r>
              <a:rPr lang="en-US" sz="1400" b="1" dirty="0">
                <a:solidFill>
                  <a:srgbClr val="FFC9BC"/>
                </a:solidFill>
                <a:latin typeface="Meiryo" pitchFamily="34" charset="0"/>
                <a:ea typeface="Meiryo" pitchFamily="34" charset="-122"/>
                <a:cs typeface="Meiryo" pitchFamily="34" charset="-120"/>
              </a:rPr>
              <a:t>今回いちばん難しかったこと</a:t>
            </a:r>
            <a:endParaRPr lang="en-US" sz="1400" dirty="0"/>
          </a:p>
        </p:txBody>
      </p:sp>
      <p:sp>
        <p:nvSpPr>
          <p:cNvPr id="9" name="Text 7"/>
          <p:cNvSpPr txBox="1"/>
          <p:nvPr/>
        </p:nvSpPr>
        <p:spPr>
          <a:xfrm>
            <a:off x="4544568" y="2212848"/>
            <a:ext cx="3008376" cy="2560320"/>
          </a:xfrm>
          <a:prstGeom prst="rect">
            <a:avLst/>
          </a:prstGeom>
          <a:noFill/>
          <a:ln/>
        </p:spPr>
        <p:txBody>
          <a:bodyPr wrap="square" lIns="0" tIns="0" rIns="0" bIns="0" rtlCol="0" anchor="t"/>
          <a:lstStyle/>
          <a:p>
            <a:pPr indent="0" marL="0">
              <a:lnSpc>
                <a:spcPct val="135000"/>
              </a:lnSpc>
              <a:buNone/>
            </a:pPr>
            <a:r>
              <a:rPr lang="en-US" sz="1150" dirty="0">
                <a:solidFill>
                  <a:srgbClr val="FFFFFF"/>
                </a:solidFill>
                <a:latin typeface="Meiryo" pitchFamily="34" charset="0"/>
                <a:ea typeface="Meiryo" pitchFamily="34" charset="-122"/>
                <a:cs typeface="Meiryo" pitchFamily="34" charset="-120"/>
              </a:rPr>
              <a:t>大学の研究ではPOSデータを扱ってきたが、今回難しかったのは手法ではなかった。目的に対して何を見るべきか、何と比べるべきか、どこまで条件を絞るか。DYNATREKは条件を細かく設定できるぶん、仮説はいくらでも立てられる。限られた時間の中では「分析できること」ではなく「目的の達成に必要な分析」を選ぶことが重要だと感じた。</a:t>
            </a:r>
            <a:endParaRPr lang="en-US" sz="1150" dirty="0"/>
          </a:p>
        </p:txBody>
      </p:sp>
      <p:sp>
        <p:nvSpPr>
          <p:cNvPr id="10" name="Shape 8"/>
          <p:cNvSpPr/>
          <p:nvPr/>
        </p:nvSpPr>
        <p:spPr>
          <a:xfrm>
            <a:off x="8074152" y="1572768"/>
            <a:ext cx="3520440" cy="3401568"/>
          </a:xfrm>
          <a:prstGeom prst="roundRect">
            <a:avLst>
              <a:gd name="adj" fmla="val 1613"/>
            </a:avLst>
          </a:prstGeom>
          <a:solidFill>
            <a:srgbClr val="1C3A66"/>
          </a:solidFill>
          <a:ln w="12700">
            <a:solidFill>
              <a:srgbClr val="2A4A7A"/>
            </a:solidFill>
            <a:prstDash val="solid"/>
          </a:ln>
        </p:spPr>
      </p:sp>
      <p:sp>
        <p:nvSpPr>
          <p:cNvPr id="11" name="Text 9"/>
          <p:cNvSpPr txBox="1"/>
          <p:nvPr/>
        </p:nvSpPr>
        <p:spPr>
          <a:xfrm>
            <a:off x="8330184" y="1755648"/>
            <a:ext cx="3008376" cy="384048"/>
          </a:xfrm>
          <a:prstGeom prst="rect">
            <a:avLst/>
          </a:prstGeom>
          <a:noFill/>
          <a:ln/>
        </p:spPr>
        <p:txBody>
          <a:bodyPr wrap="square" lIns="0" tIns="0" rIns="0" bIns="0" rtlCol="0" anchor="ctr"/>
          <a:lstStyle/>
          <a:p>
            <a:pPr indent="0" marL="0">
              <a:buNone/>
            </a:pPr>
            <a:r>
              <a:rPr lang="en-US" sz="1400" b="1" dirty="0">
                <a:solidFill>
                  <a:srgbClr val="FFC9BC"/>
                </a:solidFill>
                <a:latin typeface="Meiryo" pitchFamily="34" charset="0"/>
                <a:ea typeface="Meiryo" pitchFamily="34" charset="-122"/>
                <a:cs typeface="Meiryo" pitchFamily="34" charset="-120"/>
              </a:rPr>
              <a:t>業務の現場で見えたこと</a:t>
            </a:r>
            <a:endParaRPr lang="en-US" sz="1400" dirty="0"/>
          </a:p>
        </p:txBody>
      </p:sp>
      <p:sp>
        <p:nvSpPr>
          <p:cNvPr id="12" name="Text 10"/>
          <p:cNvSpPr txBox="1"/>
          <p:nvPr/>
        </p:nvSpPr>
        <p:spPr>
          <a:xfrm>
            <a:off x="8330184" y="2212848"/>
            <a:ext cx="3008376" cy="2560320"/>
          </a:xfrm>
          <a:prstGeom prst="rect">
            <a:avLst/>
          </a:prstGeom>
          <a:noFill/>
          <a:ln/>
        </p:spPr>
        <p:txBody>
          <a:bodyPr wrap="square" lIns="0" tIns="0" rIns="0" bIns="0" rtlCol="0" anchor="t"/>
          <a:lstStyle/>
          <a:p>
            <a:pPr indent="0" marL="0">
              <a:lnSpc>
                <a:spcPct val="135000"/>
              </a:lnSpc>
              <a:buNone/>
            </a:pPr>
            <a:r>
              <a:rPr lang="en-US" sz="1150" dirty="0">
                <a:solidFill>
                  <a:srgbClr val="FFFFFF"/>
                </a:solidFill>
                <a:latin typeface="Meiryo" pitchFamily="34" charset="0"/>
                <a:ea typeface="Meiryo" pitchFamily="34" charset="-122"/>
                <a:cs typeface="Meiryo" pitchFamily="34" charset="-120"/>
              </a:rPr>
              <a:t>期間中は複数の打ち合わせにも参加させていただいた。専門的な内容も多く、すべてを理解することは難しかったが、社員の方々が意見を出し合いながら進めていく様子から、実際の仕事の進め方を知ることができた。</a:t>
            </a:r>
            <a:endParaRPr lang="en-US" sz="1150" dirty="0"/>
          </a:p>
        </p:txBody>
      </p:sp>
      <p:sp>
        <p:nvSpPr>
          <p:cNvPr id="13" name="Shape 11"/>
          <p:cNvSpPr/>
          <p:nvPr/>
        </p:nvSpPr>
        <p:spPr>
          <a:xfrm>
            <a:off x="502920" y="5175504"/>
            <a:ext cx="11183112" cy="1133856"/>
          </a:xfrm>
          <a:prstGeom prst="roundRect">
            <a:avLst>
              <a:gd name="adj" fmla="val 4839"/>
            </a:avLst>
          </a:prstGeom>
          <a:solidFill>
            <a:srgbClr val="D9482F"/>
          </a:solidFill>
          <a:ln w="6350">
            <a:solidFill>
              <a:srgbClr val="D9482F"/>
            </a:solidFill>
            <a:prstDash val="solid"/>
          </a:ln>
        </p:spPr>
      </p:sp>
      <p:sp>
        <p:nvSpPr>
          <p:cNvPr id="14" name="Text 12"/>
          <p:cNvSpPr txBox="1"/>
          <p:nvPr/>
        </p:nvSpPr>
        <p:spPr>
          <a:xfrm>
            <a:off x="777240" y="5175504"/>
            <a:ext cx="10634472" cy="1133856"/>
          </a:xfrm>
          <a:prstGeom prst="rect">
            <a:avLst/>
          </a:prstGeom>
          <a:noFill/>
          <a:ln/>
        </p:spPr>
        <p:txBody>
          <a:bodyPr wrap="square" lIns="0" tIns="0" rIns="0" bIns="0" rtlCol="0" anchor="ctr"/>
          <a:lstStyle/>
          <a:p>
            <a:pPr algn="ctr" indent="0" marL="0">
              <a:lnSpc>
                <a:spcPct val="135000"/>
              </a:lnSpc>
              <a:buNone/>
            </a:pPr>
            <a:r>
              <a:rPr lang="en-US" sz="1500" b="1" dirty="0">
                <a:solidFill>
                  <a:srgbClr val="FFFFFF"/>
                </a:solidFill>
                <a:latin typeface="Meiryo" pitchFamily="34" charset="0"/>
                <a:ea typeface="Meiryo" pitchFamily="34" charset="-122"/>
                <a:cs typeface="Meiryo" pitchFamily="34" charset="-120"/>
              </a:rPr>
              <a:t>専門的なデータ分析の知識がなくても、DYNATREKを使えば、業務上の疑問に対して</a:t>
            </a:r>
            <a:endParaRPr lang="en-US" sz="1500" dirty="0"/>
          </a:p>
          <a:p>
            <a:pPr algn="ctr" indent="0" marL="0">
              <a:lnSpc>
                <a:spcPct val="135000"/>
              </a:lnSpc>
              <a:buNone/>
            </a:pPr>
            <a:r>
              <a:rPr lang="en-US" sz="1500" b="1" dirty="0">
                <a:solidFill>
                  <a:srgbClr val="FFFFFF"/>
                </a:solidFill>
                <a:latin typeface="Meiryo" pitchFamily="34" charset="0"/>
                <a:ea typeface="Meiryo" pitchFamily="34" charset="-122"/>
                <a:cs typeface="Meiryo" pitchFamily="34" charset="-120"/>
              </a:rPr>
              <a:t>データで確認・比較していける ── 今回の分析を通して、それを実感しました。</a:t>
            </a:r>
            <a:endParaRPr lang="en-US" sz="1500" dirty="0"/>
          </a:p>
        </p:txBody>
      </p:sp>
      <p:sp>
        <p:nvSpPr>
          <p:cNvPr id="16" name="Text 13"/>
          <p:cNvSpPr txBox="1"/>
          <p:nvPr/>
        </p:nvSpPr>
        <p:spPr>
          <a:xfrm>
            <a:off x="11411712" y="6382512"/>
            <a:ext cx="365760" cy="274320"/>
          </a:xfrm>
          <a:prstGeom prst="rect">
            <a:avLst/>
          </a:prstGeom>
          <a:noFill/>
          <a:ln/>
        </p:spPr>
        <p:txBody>
          <a:bodyPr wrap="square" lIns="0" tIns="0" rIns="0" bIns="0" rtlCol="0" anchor="ctr"/>
          <a:lstStyle/>
          <a:p>
            <a:pPr algn="r" indent="0" marL="0">
              <a:buNone/>
            </a:pPr>
            <a:r>
              <a:rPr lang="en-US" sz="1000" dirty="0">
                <a:solidFill>
                  <a:srgbClr val="2A4A7A"/>
                </a:solidFill>
                <a:latin typeface="Meiryo" pitchFamily="34" charset="0"/>
                <a:ea typeface="Meiryo" pitchFamily="34" charset="-122"/>
                <a:cs typeface="Meiryo" pitchFamily="34" charset="-120"/>
              </a:rPr>
              <a:t>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DYNATREKで業務の疑問をデータで確かめる</dc:title>
  <dc:subject>PptxGenJS Presentation</dc:subject>
  <dc:creator>Hitachi Internship</dc:creator>
  <cp:lastModifiedBy>Hitachi Internship</cp:lastModifiedBy>
  <cp:revision>1</cp:revision>
  <dcterms:created xsi:type="dcterms:W3CDTF">2026-08-31T00:53:19Z</dcterms:created>
  <dcterms:modified xsi:type="dcterms:W3CDTF">2026-08-31T00:53:19Z</dcterms:modified>
</cp:coreProperties>
</file>