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本インターンのテーマは、銀行が持っているデータを分析して、どのような価値に変えていくかのプロセスを学ぶことでした。
銀行には日々の取引データが蓄積されていますが、項目が多く、知りたい切り口でまとめて取り出すのは簡単ではありません。そこで使ったのがDYNATREKです。条件を指定するだけで、必要なデータを集計して表示できます。
「預金の増減はどうか」「IBはどれだけ使われているか」──こうした問いを一つ立てて、データから答えを出すところまで実際に通してみました。その流れを紹介します。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では、どの問いを選んだか。銀行が実際に力を入れている領域から選びました。
あいちフィナンシャルグループの第2次中期経営計画では、基本戦略のひとつに「DX戦略の加速化」が掲げられ、その重点施策として、バンキングアプリやインターネット支店といった非対面チャネルの有効活用が挙げられています。
非対面チャネルのひとつがインターネットバンキング、IBです。これがどれだけ使われるようになったかは、計画の狙いがどこまで進んでいるかを示す手がかりになります。
【作成時】重点施策の番号と本文は計画の原本で確認して記入する。確認できなければ「重点施策のひとつ」と書けば事実関係は崩れない。KPIの数値には触れない。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背景をふまえて、確かめることをこう定めました。2025年と2026年の同じ時期を比べて、IBの利用件数がどれだけ増えたかを確認することです。
比べ方は同じ4〜6月どうし。月によって取引の量は変わるので、同じ季節どうしで比べます。
もうひとつ、IBの件数だけでなく、ATMで行われている「IBでも代替できる取引」も合わせて見ることにしました。理由は結果のところで説明します。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使ったデータは、2025年と2026年の4月・5月・6月です。
元になったのは取引履歴（流動）で、そこから入出金テーブルを作成し、DYNATREKで条件を指定して集計できる形にしました。
取引履歴そのままでは項目が多く、目的のデータを追いにくい。逆に、一度この形にしてしまえば、以降は条件を指定するだけでいろいろな角度から見られるようになります。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実際の画面です。左で、期間やチャネル、取引の種類といった条件を指定します。すると右のように、その条件で集計された結果がそのまま出てきます。
ここは長く説明しません。お伝えしたいのは、一度テーブルを整えてしまえば、あとは条件を変えるだけで別の切り口でも確認できる、という点です。この後の分析は、すべてこの繰り返しになります。
【作成時】スクリーンショット②が結果スライドのグラフと同じものになる場合は、②には集計表など別の出力を貼るか、②を小さめに配置して重複感を避ける。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まずIBの利用件数です。2025年の4〜6月と、2026年の4〜6月を比べました。
（記入した数値を読み上げる）
1年間で件数は増えています。月別に見ても同じ傾向です。
ただ、これだけでIBが広がったと言い切ることはできません。取引そのものが増えただけ、という可能性が残るからです。そこで、もうひとつの見方を足しました。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IBでも同じことができる取引──振込や振替など──に絞って、ATM側の件数を見ました。
（記入した数値を読み上げる）
こちらは減っています。IBが増え、ATM側が減っている。つまり、同じ取引がIBへ移りつつあると読めます。
片方だけを見ていたら「増えた」で終わっていましたが、比べる相手を置いたことで、一歩踏み込んだ言い方ができるようになりました。
※「IBでも行える取引」に何を含めたかは質疑で聞かれやすいので、口頭でも一度言っておく。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IBへ移りつつあることが分かると、次に知りたくなるのは「では、誰が使うようになったのか」です。これも同じテーブルに年代の条件を足すだけで確認できました。
年代は5つに分けています。未成年、若手成人、働き手①、働き手②、高齢者です。
（読み取りを説明する）
ここまで分かると、伸びていない年代にどう案内するか、といった具体的な打ち手の話ができるようになります。
【作成時】打ち手の2行は、実際の読み取りに合わせて書き換えること。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最後に、今回の流れをまとめます。
「IBの利用は広がっているか」という問いを立て、取引履歴（流動）から入出金テーブルを整え、IBが増えATM側が減っていることを確かめ、さらに年代別まで深掘りして、最後は誰にどう案内するかという打ち手の検討まで進みました。
行内にあるデータも、条件を指定して見られる形に整えれば、業務上の問いに答えて、次の施策を考える材料になります。今回のワークで学んだのは、この一連のプロセスです。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01</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は じ め に</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データはあっても答えはすぐに出ない</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本インターンのテーマ ── 銀行内で保有する各種データを分析し、どのような価値に変換していくかのプロセスを学ぶ</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01</a:t>
            </a:r>
            <a:endParaRPr lang="en-US" sz="1000" dirty="0"/>
          </a:p>
        </p:txBody>
      </p:sp>
      <p:sp>
        <p:nvSpPr>
          <p:cNvPr id="8" name="Shape 6"/>
          <p:cNvSpPr/>
          <p:nvPr/>
        </p:nvSpPr>
        <p:spPr>
          <a:xfrm>
            <a:off x="640080" y="1874520"/>
            <a:ext cx="5989320" cy="960120"/>
          </a:xfrm>
          <a:prstGeom prst="roundRect">
            <a:avLst>
              <a:gd name="adj" fmla="val 4762"/>
            </a:avLst>
          </a:prstGeom>
          <a:solidFill>
            <a:srgbClr val="F3F6F7"/>
          </a:solidFill>
          <a:ln w="9525">
            <a:solidFill>
              <a:srgbClr val="F3F6F7"/>
            </a:solidFill>
            <a:prstDash val="solid"/>
          </a:ln>
        </p:spPr>
      </p:sp>
      <p:sp>
        <p:nvSpPr>
          <p:cNvPr id="9" name="Text 7"/>
          <p:cNvSpPr txBox="1"/>
          <p:nvPr/>
        </p:nvSpPr>
        <p:spPr>
          <a:xfrm>
            <a:off x="914400" y="2011680"/>
            <a:ext cx="544068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現 状</a:t>
            </a:r>
            <a:endParaRPr lang="en-US" sz="1050" dirty="0"/>
          </a:p>
        </p:txBody>
      </p:sp>
      <p:sp>
        <p:nvSpPr>
          <p:cNvPr id="10" name="Text 8"/>
          <p:cNvSpPr txBox="1"/>
          <p:nvPr/>
        </p:nvSpPr>
        <p:spPr>
          <a:xfrm>
            <a:off x="914400" y="2276856"/>
            <a:ext cx="5440680" cy="502920"/>
          </a:xfrm>
          <a:prstGeom prst="rect">
            <a:avLst/>
          </a:prstGeom>
          <a:noFill/>
          <a:ln/>
        </p:spPr>
        <p:txBody>
          <a:bodyPr wrap="square" lIns="0" tIns="0" rIns="0" bIns="0" rtlCol="0" anchor="ctr"/>
          <a:lstStyle/>
          <a:p>
            <a:pPr indent="0" marL="0">
              <a:lnSpc>
                <a:spcPts val="1900"/>
              </a:lnSpc>
              <a:buNone/>
            </a:pPr>
            <a:r>
              <a:rPr lang="en-US" sz="1350" dirty="0">
                <a:solidFill>
                  <a:srgbClr val="1A2B33"/>
                </a:solidFill>
                <a:latin typeface="Meiryo" pitchFamily="34" charset="0"/>
                <a:ea typeface="Meiryo" pitchFamily="34" charset="-122"/>
                <a:cs typeface="Meiryo" pitchFamily="34" charset="-120"/>
              </a:rPr>
              <a:t>銀行には、日々の取引データが蓄積されている</a:t>
            </a:r>
            <a:endParaRPr lang="en-US" sz="1350" dirty="0"/>
          </a:p>
        </p:txBody>
      </p:sp>
      <p:sp>
        <p:nvSpPr>
          <p:cNvPr id="11" name="Shape 9"/>
          <p:cNvSpPr/>
          <p:nvPr/>
        </p:nvSpPr>
        <p:spPr>
          <a:xfrm>
            <a:off x="1143000" y="2862072"/>
            <a:ext cx="219456" cy="237744"/>
          </a:xfrm>
          <a:prstGeom prst="downArrow">
            <a:avLst/>
          </a:prstGeom>
          <a:solidFill>
            <a:srgbClr val="C2CFD3"/>
          </a:solidFill>
          <a:ln w="12700">
            <a:solidFill>
              <a:srgbClr val="C2CFD3"/>
            </a:solidFill>
            <a:prstDash val="solid"/>
          </a:ln>
        </p:spPr>
      </p:sp>
      <p:sp>
        <p:nvSpPr>
          <p:cNvPr id="12" name="Shape 10"/>
          <p:cNvSpPr/>
          <p:nvPr/>
        </p:nvSpPr>
        <p:spPr>
          <a:xfrm>
            <a:off x="640080" y="3090672"/>
            <a:ext cx="5989320" cy="960120"/>
          </a:xfrm>
          <a:prstGeom prst="roundRect">
            <a:avLst>
              <a:gd name="adj" fmla="val 4762"/>
            </a:avLst>
          </a:prstGeom>
          <a:solidFill>
            <a:srgbClr val="F3F6F7"/>
          </a:solidFill>
          <a:ln w="9525">
            <a:solidFill>
              <a:srgbClr val="F3F6F7"/>
            </a:solidFill>
            <a:prstDash val="solid"/>
          </a:ln>
        </p:spPr>
      </p:sp>
      <p:sp>
        <p:nvSpPr>
          <p:cNvPr id="13" name="Text 11"/>
          <p:cNvSpPr txBox="1"/>
          <p:nvPr/>
        </p:nvSpPr>
        <p:spPr>
          <a:xfrm>
            <a:off x="914400" y="3227832"/>
            <a:ext cx="544068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課 題</a:t>
            </a:r>
            <a:endParaRPr lang="en-US" sz="1050" dirty="0"/>
          </a:p>
        </p:txBody>
      </p:sp>
      <p:sp>
        <p:nvSpPr>
          <p:cNvPr id="14" name="Text 12"/>
          <p:cNvSpPr txBox="1"/>
          <p:nvPr/>
        </p:nvSpPr>
        <p:spPr>
          <a:xfrm>
            <a:off x="914400" y="3493008"/>
            <a:ext cx="5440680" cy="502920"/>
          </a:xfrm>
          <a:prstGeom prst="rect">
            <a:avLst/>
          </a:prstGeom>
          <a:noFill/>
          <a:ln/>
        </p:spPr>
        <p:txBody>
          <a:bodyPr wrap="square" lIns="0" tIns="0" rIns="0" bIns="0" rtlCol="0" anchor="ctr"/>
          <a:lstStyle/>
          <a:p>
            <a:pPr indent="0" marL="0">
              <a:lnSpc>
                <a:spcPts val="1900"/>
              </a:lnSpc>
              <a:buNone/>
            </a:pPr>
            <a:r>
              <a:rPr lang="en-US" sz="1350" dirty="0">
                <a:solidFill>
                  <a:srgbClr val="1A2B33"/>
                </a:solidFill>
                <a:latin typeface="Meiryo" pitchFamily="34" charset="0"/>
                <a:ea typeface="Meiryo" pitchFamily="34" charset="-122"/>
                <a:cs typeface="Meiryo" pitchFamily="34" charset="-120"/>
              </a:rPr>
              <a:t>項目が多く、知りたい切り口でまとめて取り出すのは容易ではない</a:t>
            </a:r>
            <a:endParaRPr lang="en-US" sz="1350" dirty="0"/>
          </a:p>
        </p:txBody>
      </p:sp>
      <p:sp>
        <p:nvSpPr>
          <p:cNvPr id="15" name="Shape 13"/>
          <p:cNvSpPr/>
          <p:nvPr/>
        </p:nvSpPr>
        <p:spPr>
          <a:xfrm>
            <a:off x="1143000" y="4078224"/>
            <a:ext cx="219456" cy="237744"/>
          </a:xfrm>
          <a:prstGeom prst="downArrow">
            <a:avLst/>
          </a:prstGeom>
          <a:solidFill>
            <a:srgbClr val="C2CFD3"/>
          </a:solidFill>
          <a:ln w="12700">
            <a:solidFill>
              <a:srgbClr val="C2CFD3"/>
            </a:solidFill>
            <a:prstDash val="solid"/>
          </a:ln>
        </p:spPr>
      </p:sp>
      <p:sp>
        <p:nvSpPr>
          <p:cNvPr id="16" name="Shape 14"/>
          <p:cNvSpPr/>
          <p:nvPr/>
        </p:nvSpPr>
        <p:spPr>
          <a:xfrm>
            <a:off x="640080" y="4306824"/>
            <a:ext cx="5989320" cy="960120"/>
          </a:xfrm>
          <a:prstGeom prst="roundRect">
            <a:avLst>
              <a:gd name="adj" fmla="val 4762"/>
            </a:avLst>
          </a:prstGeom>
          <a:solidFill>
            <a:srgbClr val="E2EEF0"/>
          </a:solidFill>
          <a:ln w="9525">
            <a:solidFill>
              <a:srgbClr val="E2EEF0"/>
            </a:solidFill>
            <a:prstDash val="solid"/>
          </a:ln>
        </p:spPr>
      </p:sp>
      <p:sp>
        <p:nvSpPr>
          <p:cNvPr id="17" name="Text 15"/>
          <p:cNvSpPr txBox="1"/>
          <p:nvPr/>
        </p:nvSpPr>
        <p:spPr>
          <a:xfrm>
            <a:off x="914400" y="4443984"/>
            <a:ext cx="5440680" cy="237744"/>
          </a:xfrm>
          <a:prstGeom prst="rect">
            <a:avLst/>
          </a:prstGeom>
          <a:noFill/>
          <a:ln/>
        </p:spPr>
        <p:txBody>
          <a:bodyPr wrap="square" lIns="0" tIns="0" rIns="0" bIns="0" rtlCol="0" anchor="ctr"/>
          <a:lstStyle/>
          <a:p>
            <a:pPr indent="0" marL="0">
              <a:buNone/>
            </a:pPr>
            <a:r>
              <a:rPr lang="en-US" sz="1050" b="1" spc="100" kern="0" dirty="0">
                <a:solidFill>
                  <a:srgbClr val="0F5A6B"/>
                </a:solidFill>
                <a:latin typeface="Meiryo" pitchFamily="34" charset="0"/>
                <a:ea typeface="Meiryo" pitchFamily="34" charset="-122"/>
                <a:cs typeface="Meiryo" pitchFamily="34" charset="-120"/>
              </a:rPr>
              <a:t>道 具</a:t>
            </a:r>
            <a:endParaRPr lang="en-US" sz="1050" dirty="0"/>
          </a:p>
        </p:txBody>
      </p:sp>
      <p:sp>
        <p:nvSpPr>
          <p:cNvPr id="18" name="Text 16"/>
          <p:cNvSpPr txBox="1"/>
          <p:nvPr/>
        </p:nvSpPr>
        <p:spPr>
          <a:xfrm>
            <a:off x="914400" y="4709160"/>
            <a:ext cx="5440680" cy="502920"/>
          </a:xfrm>
          <a:prstGeom prst="rect">
            <a:avLst/>
          </a:prstGeom>
          <a:noFill/>
          <a:ln/>
        </p:spPr>
        <p:txBody>
          <a:bodyPr wrap="square" lIns="0" tIns="0" rIns="0" bIns="0" rtlCol="0" anchor="ctr"/>
          <a:lstStyle/>
          <a:p>
            <a:pPr indent="0" marL="0">
              <a:lnSpc>
                <a:spcPts val="1900"/>
              </a:lnSpc>
              <a:buNone/>
            </a:pPr>
            <a:r>
              <a:rPr lang="en-US" sz="1350" b="1" dirty="0">
                <a:solidFill>
                  <a:srgbClr val="0F5A6B"/>
                </a:solidFill>
                <a:latin typeface="Meiryo" pitchFamily="34" charset="0"/>
                <a:ea typeface="Meiryo" pitchFamily="34" charset="-122"/>
                <a:cs typeface="Meiryo" pitchFamily="34" charset="-120"/>
              </a:rPr>
              <a:t>DYNATREK ── 条件を指定するだけで、必要なデータを集計・表示できる</a:t>
            </a:r>
            <a:endParaRPr lang="en-US" sz="1350" dirty="0"/>
          </a:p>
        </p:txBody>
      </p:sp>
      <p:sp>
        <p:nvSpPr>
          <p:cNvPr id="19" name="Shape 17"/>
          <p:cNvSpPr/>
          <p:nvPr/>
        </p:nvSpPr>
        <p:spPr>
          <a:xfrm>
            <a:off x="6967728" y="1874520"/>
            <a:ext cx="4581144" cy="3392424"/>
          </a:xfrm>
          <a:prstGeom prst="roundRect">
            <a:avLst>
              <a:gd name="adj" fmla="val 1348"/>
            </a:avLst>
          </a:prstGeom>
          <a:solidFill>
            <a:srgbClr val="FFFFFF"/>
          </a:solidFill>
          <a:ln w="15875">
            <a:solidFill>
              <a:srgbClr val="D9A97F"/>
            </a:solidFill>
            <a:prstDash val="solid"/>
          </a:ln>
        </p:spPr>
      </p:sp>
      <p:sp>
        <p:nvSpPr>
          <p:cNvPr id="20" name="Text 18"/>
          <p:cNvSpPr txBox="1"/>
          <p:nvPr/>
        </p:nvSpPr>
        <p:spPr>
          <a:xfrm>
            <a:off x="7351776" y="2212848"/>
            <a:ext cx="3813048" cy="237744"/>
          </a:xfrm>
          <a:prstGeom prst="rect">
            <a:avLst/>
          </a:prstGeom>
          <a:noFill/>
          <a:ln/>
        </p:spPr>
        <p:txBody>
          <a:bodyPr wrap="square" lIns="0" tIns="0" rIns="0" bIns="0" rtlCol="0" anchor="ctr"/>
          <a:lstStyle/>
          <a:p>
            <a:pPr indent="0" marL="0">
              <a:buNone/>
            </a:pPr>
            <a:r>
              <a:rPr lang="en-US" sz="1050" b="1" spc="100" kern="0" dirty="0">
                <a:solidFill>
                  <a:srgbClr val="B4551F"/>
                </a:solidFill>
                <a:latin typeface="Meiryo" pitchFamily="34" charset="0"/>
                <a:ea typeface="Meiryo" pitchFamily="34" charset="-122"/>
                <a:cs typeface="Meiryo" pitchFamily="34" charset="-120"/>
              </a:rPr>
              <a:t>例 え ば</a:t>
            </a:r>
            <a:endParaRPr lang="en-US" sz="1050" dirty="0"/>
          </a:p>
        </p:txBody>
      </p:sp>
      <p:sp>
        <p:nvSpPr>
          <p:cNvPr id="21" name="Text 19"/>
          <p:cNvSpPr txBox="1"/>
          <p:nvPr/>
        </p:nvSpPr>
        <p:spPr>
          <a:xfrm>
            <a:off x="7351776" y="2542032"/>
            <a:ext cx="3813048" cy="1005840"/>
          </a:xfrm>
          <a:prstGeom prst="rect">
            <a:avLst/>
          </a:prstGeom>
          <a:noFill/>
          <a:ln/>
        </p:spPr>
        <p:txBody>
          <a:bodyPr wrap="square" lIns="0" tIns="0" rIns="0" bIns="0" rtlCol="0" anchor="ctr"/>
          <a:lstStyle/>
          <a:p>
            <a:pPr indent="0" marL="0">
              <a:lnSpc>
                <a:spcPts val="3200"/>
              </a:lnSpc>
              <a:buNone/>
            </a:pPr>
            <a:r>
              <a:rPr lang="en-US" sz="1800" b="1" dirty="0">
                <a:solidFill>
                  <a:srgbClr val="B4551F"/>
                </a:solidFill>
                <a:latin typeface="Meiryo" pitchFamily="34" charset="0"/>
                <a:ea typeface="Meiryo" pitchFamily="34" charset="-122"/>
                <a:cs typeface="Meiryo" pitchFamily="34" charset="-120"/>
              </a:rPr>
              <a:t>預金の増減はどうか</a:t>
            </a:r>
            <a:endParaRPr lang="en-US" sz="1800" dirty="0"/>
          </a:p>
          <a:p>
            <a:pPr indent="0" marL="0">
              <a:lnSpc>
                <a:spcPts val="3200"/>
              </a:lnSpc>
              <a:buNone/>
            </a:pPr>
            <a:r>
              <a:rPr lang="en-US" sz="1800" b="1" dirty="0">
                <a:solidFill>
                  <a:srgbClr val="B4551F"/>
                </a:solidFill>
                <a:latin typeface="Meiryo" pitchFamily="34" charset="0"/>
                <a:ea typeface="Meiryo" pitchFamily="34" charset="-122"/>
                <a:cs typeface="Meiryo" pitchFamily="34" charset="-120"/>
              </a:rPr>
              <a:t>IBはどれだけ使われているか</a:t>
            </a:r>
            <a:endParaRPr lang="en-US" sz="1800" dirty="0"/>
          </a:p>
        </p:txBody>
      </p:sp>
      <p:sp>
        <p:nvSpPr>
          <p:cNvPr id="22" name="Shape 20"/>
          <p:cNvSpPr/>
          <p:nvPr/>
        </p:nvSpPr>
        <p:spPr>
          <a:xfrm>
            <a:off x="7351776" y="3785616"/>
            <a:ext cx="3813048" cy="10973"/>
          </a:xfrm>
          <a:prstGeom prst="rect">
            <a:avLst/>
          </a:prstGeom>
          <a:solidFill>
            <a:srgbClr val="E2CDB9"/>
          </a:solidFill>
          <a:ln w="12700">
            <a:solidFill>
              <a:srgbClr val="E2CDB9"/>
            </a:solidFill>
            <a:prstDash val="solid"/>
          </a:ln>
        </p:spPr>
      </p:sp>
      <p:sp>
        <p:nvSpPr>
          <p:cNvPr id="23" name="Text 21"/>
          <p:cNvSpPr txBox="1"/>
          <p:nvPr/>
        </p:nvSpPr>
        <p:spPr>
          <a:xfrm>
            <a:off x="7351776" y="4096512"/>
            <a:ext cx="3813048" cy="86868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本ワークでは、こうした問いを一つ立て、</a:t>
            </a:r>
            <a:endParaRPr lang="en-US" sz="1350" dirty="0"/>
          </a:p>
          <a:p>
            <a:pPr indent="0" marL="0">
              <a:lnSpc>
                <a:spcPts val="2200"/>
              </a:lnSpc>
              <a:buNone/>
            </a:pPr>
            <a:r>
              <a:rPr lang="en-US" sz="1350" dirty="0">
                <a:solidFill>
                  <a:srgbClr val="1A2B33"/>
                </a:solidFill>
                <a:latin typeface="Meiryo" pitchFamily="34" charset="0"/>
                <a:ea typeface="Meiryo" pitchFamily="34" charset="-122"/>
                <a:cs typeface="Meiryo" pitchFamily="34" charset="-120"/>
              </a:rPr>
              <a:t>データから答えを出すまでを実際に通した</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02</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背 景</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非対面チャネルの利用拡大という狙い</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数ある問いのうち、銀行が実際に力を入れている領域からテーマを選んだ</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02</a:t>
            </a:r>
            <a:endParaRPr lang="en-US" sz="1000" dirty="0"/>
          </a:p>
        </p:txBody>
      </p:sp>
      <p:sp>
        <p:nvSpPr>
          <p:cNvPr id="8" name="Shape 6"/>
          <p:cNvSpPr/>
          <p:nvPr/>
        </p:nvSpPr>
        <p:spPr>
          <a:xfrm>
            <a:off x="640080" y="1874520"/>
            <a:ext cx="6309360" cy="777240"/>
          </a:xfrm>
          <a:prstGeom prst="roundRect">
            <a:avLst>
              <a:gd name="adj" fmla="val 5882"/>
            </a:avLst>
          </a:prstGeom>
          <a:solidFill>
            <a:srgbClr val="F3F6F7"/>
          </a:solidFill>
          <a:ln w="9525">
            <a:solidFill>
              <a:srgbClr val="F3F6F7"/>
            </a:solidFill>
            <a:prstDash val="solid"/>
          </a:ln>
        </p:spPr>
      </p:sp>
      <p:sp>
        <p:nvSpPr>
          <p:cNvPr id="9" name="Text 7"/>
          <p:cNvSpPr txBox="1"/>
          <p:nvPr/>
        </p:nvSpPr>
        <p:spPr>
          <a:xfrm>
            <a:off x="896112" y="1993392"/>
            <a:ext cx="1645920" cy="237744"/>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計 画</a:t>
            </a:r>
            <a:endParaRPr lang="en-US" sz="1000" dirty="0"/>
          </a:p>
        </p:txBody>
      </p:sp>
      <p:sp>
        <p:nvSpPr>
          <p:cNvPr id="10" name="Text 8"/>
          <p:cNvSpPr txBox="1"/>
          <p:nvPr/>
        </p:nvSpPr>
        <p:spPr>
          <a:xfrm>
            <a:off x="896112" y="2240280"/>
            <a:ext cx="5797296" cy="310896"/>
          </a:xfrm>
          <a:prstGeom prst="rect">
            <a:avLst/>
          </a:prstGeom>
          <a:noFill/>
          <a:ln/>
        </p:spPr>
        <p:txBody>
          <a:bodyPr wrap="square" lIns="0" tIns="0" rIns="0" bIns="0" rtlCol="0" anchor="ctr"/>
          <a:lstStyle/>
          <a:p>
            <a:pPr indent="0" marL="0">
              <a:buNone/>
            </a:pPr>
            <a:r>
              <a:rPr lang="en-US" sz="1300" dirty="0">
                <a:solidFill>
                  <a:srgbClr val="1A2B33"/>
                </a:solidFill>
                <a:latin typeface="Meiryo" pitchFamily="34" charset="0"/>
                <a:ea typeface="Meiryo" pitchFamily="34" charset="-122"/>
                <a:cs typeface="Meiryo" pitchFamily="34" charset="-120"/>
              </a:rPr>
              <a:t>あいちフィナンシャルグループ　第2次中期経営計画（2025年4月〜2028年3月）</a:t>
            </a:r>
            <a:endParaRPr lang="en-US" sz="1300" dirty="0"/>
          </a:p>
        </p:txBody>
      </p:sp>
      <p:sp>
        <p:nvSpPr>
          <p:cNvPr id="11" name="Shape 9"/>
          <p:cNvSpPr/>
          <p:nvPr/>
        </p:nvSpPr>
        <p:spPr>
          <a:xfrm>
            <a:off x="1097280" y="2679192"/>
            <a:ext cx="219456" cy="182880"/>
          </a:xfrm>
          <a:prstGeom prst="downArrow">
            <a:avLst/>
          </a:prstGeom>
          <a:solidFill>
            <a:srgbClr val="C2CFD3"/>
          </a:solidFill>
          <a:ln w="12700">
            <a:solidFill>
              <a:srgbClr val="C2CFD3"/>
            </a:solidFill>
            <a:prstDash val="solid"/>
          </a:ln>
        </p:spPr>
      </p:sp>
      <p:sp>
        <p:nvSpPr>
          <p:cNvPr id="12" name="Shape 10"/>
          <p:cNvSpPr/>
          <p:nvPr/>
        </p:nvSpPr>
        <p:spPr>
          <a:xfrm>
            <a:off x="960120" y="2834640"/>
            <a:ext cx="5989320" cy="777240"/>
          </a:xfrm>
          <a:prstGeom prst="roundRect">
            <a:avLst>
              <a:gd name="adj" fmla="val 5882"/>
            </a:avLst>
          </a:prstGeom>
          <a:solidFill>
            <a:srgbClr val="F3F6F7"/>
          </a:solidFill>
          <a:ln w="9525">
            <a:solidFill>
              <a:srgbClr val="F3F6F7"/>
            </a:solidFill>
            <a:prstDash val="solid"/>
          </a:ln>
        </p:spPr>
      </p:sp>
      <p:sp>
        <p:nvSpPr>
          <p:cNvPr id="13" name="Text 11"/>
          <p:cNvSpPr txBox="1"/>
          <p:nvPr/>
        </p:nvSpPr>
        <p:spPr>
          <a:xfrm>
            <a:off x="1216152" y="2953512"/>
            <a:ext cx="1645920" cy="237744"/>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基本戦略</a:t>
            </a:r>
            <a:endParaRPr lang="en-US" sz="1000" dirty="0"/>
          </a:p>
        </p:txBody>
      </p:sp>
      <p:sp>
        <p:nvSpPr>
          <p:cNvPr id="14" name="Text 12"/>
          <p:cNvSpPr txBox="1"/>
          <p:nvPr/>
        </p:nvSpPr>
        <p:spPr>
          <a:xfrm>
            <a:off x="1216152" y="3200400"/>
            <a:ext cx="5477256" cy="310896"/>
          </a:xfrm>
          <a:prstGeom prst="rect">
            <a:avLst/>
          </a:prstGeom>
          <a:noFill/>
          <a:ln/>
        </p:spPr>
        <p:txBody>
          <a:bodyPr wrap="square" lIns="0" tIns="0" rIns="0" bIns="0" rtlCol="0" anchor="ctr"/>
          <a:lstStyle/>
          <a:p>
            <a:pPr indent="0" marL="0">
              <a:buNone/>
            </a:pPr>
            <a:r>
              <a:rPr lang="en-US" sz="1300" dirty="0">
                <a:solidFill>
                  <a:srgbClr val="1A2B33"/>
                </a:solidFill>
                <a:latin typeface="Meiryo" pitchFamily="34" charset="0"/>
                <a:ea typeface="Meiryo" pitchFamily="34" charset="-122"/>
                <a:cs typeface="Meiryo" pitchFamily="34" charset="-120"/>
              </a:rPr>
              <a:t>Ⅲ「DX戦略の加速化」</a:t>
            </a:r>
            <a:endParaRPr lang="en-US" sz="1300" dirty="0"/>
          </a:p>
        </p:txBody>
      </p:sp>
      <p:sp>
        <p:nvSpPr>
          <p:cNvPr id="15" name="Shape 13"/>
          <p:cNvSpPr/>
          <p:nvPr/>
        </p:nvSpPr>
        <p:spPr>
          <a:xfrm>
            <a:off x="1417320" y="3639312"/>
            <a:ext cx="219456" cy="182880"/>
          </a:xfrm>
          <a:prstGeom prst="downArrow">
            <a:avLst/>
          </a:prstGeom>
          <a:solidFill>
            <a:srgbClr val="C2CFD3"/>
          </a:solidFill>
          <a:ln w="12700">
            <a:solidFill>
              <a:srgbClr val="C2CFD3"/>
            </a:solidFill>
            <a:prstDash val="solid"/>
          </a:ln>
        </p:spPr>
      </p:sp>
      <p:sp>
        <p:nvSpPr>
          <p:cNvPr id="16" name="Shape 14"/>
          <p:cNvSpPr/>
          <p:nvPr/>
        </p:nvSpPr>
        <p:spPr>
          <a:xfrm>
            <a:off x="1280160" y="3794760"/>
            <a:ext cx="5669280" cy="777240"/>
          </a:xfrm>
          <a:prstGeom prst="roundRect">
            <a:avLst>
              <a:gd name="adj" fmla="val 5882"/>
            </a:avLst>
          </a:prstGeom>
          <a:solidFill>
            <a:srgbClr val="F8EBE1"/>
          </a:solidFill>
          <a:ln w="15875">
            <a:solidFill>
              <a:srgbClr val="D9A97F"/>
            </a:solidFill>
            <a:prstDash val="solid"/>
          </a:ln>
        </p:spPr>
      </p:sp>
      <p:sp>
        <p:nvSpPr>
          <p:cNvPr id="17" name="Text 15"/>
          <p:cNvSpPr txBox="1"/>
          <p:nvPr/>
        </p:nvSpPr>
        <p:spPr>
          <a:xfrm>
            <a:off x="1536192" y="3913632"/>
            <a:ext cx="1645920" cy="237744"/>
          </a:xfrm>
          <a:prstGeom prst="rect">
            <a:avLst/>
          </a:prstGeom>
          <a:noFill/>
          <a:ln/>
        </p:spPr>
        <p:txBody>
          <a:bodyPr wrap="square" lIns="0" tIns="0" rIns="0" bIns="0" rtlCol="0" anchor="ctr"/>
          <a:lstStyle/>
          <a:p>
            <a:pPr indent="0" marL="0">
              <a:buNone/>
            </a:pPr>
            <a:r>
              <a:rPr lang="en-US" sz="1000" b="1" spc="100" kern="0" dirty="0">
                <a:solidFill>
                  <a:srgbClr val="B4551F"/>
                </a:solidFill>
                <a:latin typeface="Meiryo" pitchFamily="34" charset="0"/>
                <a:ea typeface="Meiryo" pitchFamily="34" charset="-122"/>
                <a:cs typeface="Meiryo" pitchFamily="34" charset="-120"/>
              </a:rPr>
              <a:t>重点施策</a:t>
            </a:r>
            <a:endParaRPr lang="en-US" sz="1000" dirty="0"/>
          </a:p>
        </p:txBody>
      </p:sp>
      <p:sp>
        <p:nvSpPr>
          <p:cNvPr id="18" name="Text 16"/>
          <p:cNvSpPr txBox="1"/>
          <p:nvPr/>
        </p:nvSpPr>
        <p:spPr>
          <a:xfrm>
            <a:off x="1536192" y="4160520"/>
            <a:ext cx="5157216" cy="310896"/>
          </a:xfrm>
          <a:prstGeom prst="rect">
            <a:avLst/>
          </a:prstGeom>
          <a:noFill/>
          <a:ln/>
        </p:spPr>
        <p:txBody>
          <a:bodyPr wrap="square" lIns="0" tIns="0" rIns="0" bIns="0" rtlCol="0" anchor="ctr"/>
          <a:lstStyle/>
          <a:p>
            <a:pPr indent="0" marL="0">
              <a:buNone/>
            </a:pPr>
            <a:r>
              <a:rPr lang="en-US" sz="1300" b="1" dirty="0">
                <a:solidFill>
                  <a:srgbClr val="B4551F"/>
                </a:solidFill>
                <a:latin typeface="Meiryo" pitchFamily="34" charset="0"/>
                <a:ea typeface="Meiryo" pitchFamily="34" charset="-122"/>
                <a:cs typeface="Meiryo" pitchFamily="34" charset="-120"/>
              </a:rPr>
              <a:t>⑦　〔　計画本文の表現を記入　〕</a:t>
            </a:r>
            <a:endParaRPr lang="en-US" sz="1300" dirty="0"/>
          </a:p>
        </p:txBody>
      </p:sp>
      <p:sp>
        <p:nvSpPr>
          <p:cNvPr id="19" name="Text 17"/>
          <p:cNvSpPr txBox="1"/>
          <p:nvPr/>
        </p:nvSpPr>
        <p:spPr>
          <a:xfrm>
            <a:off x="1280160" y="4626864"/>
            <a:ext cx="5669280" cy="292608"/>
          </a:xfrm>
          <a:prstGeom prst="rect">
            <a:avLst/>
          </a:prstGeom>
          <a:noFill/>
          <a:ln/>
        </p:spPr>
        <p:txBody>
          <a:bodyPr wrap="square" lIns="0" tIns="0" rIns="0" bIns="0" rtlCol="0" anchor="ctr"/>
          <a:lstStyle/>
          <a:p>
            <a:pPr indent="0" marL="0">
              <a:buNone/>
            </a:pPr>
            <a:r>
              <a:rPr lang="en-US" sz="1200" dirty="0">
                <a:solidFill>
                  <a:srgbClr val="465A63"/>
                </a:solidFill>
                <a:latin typeface="Meiryo" pitchFamily="34" charset="0"/>
                <a:ea typeface="Meiryo" pitchFamily="34" charset="-122"/>
                <a:cs typeface="Meiryo" pitchFamily="34" charset="-120"/>
              </a:rPr>
              <a:t>非対面チャネル（バンキングアプリ、インターネット支店 など）の有効活用</a:t>
            </a:r>
            <a:endParaRPr lang="en-US" sz="1200" dirty="0"/>
          </a:p>
        </p:txBody>
      </p:sp>
      <p:sp>
        <p:nvSpPr>
          <p:cNvPr id="20" name="Shape 18"/>
          <p:cNvSpPr/>
          <p:nvPr/>
        </p:nvSpPr>
        <p:spPr>
          <a:xfrm>
            <a:off x="7269480" y="1874520"/>
            <a:ext cx="4279392" cy="2697480"/>
          </a:xfrm>
          <a:prstGeom prst="roundRect">
            <a:avLst>
              <a:gd name="adj" fmla="val 1695"/>
            </a:avLst>
          </a:prstGeom>
          <a:solidFill>
            <a:srgbClr val="F3F6F7"/>
          </a:solidFill>
          <a:ln w="9525">
            <a:solidFill>
              <a:srgbClr val="F3F6F7"/>
            </a:solidFill>
            <a:prstDash val="solid"/>
          </a:ln>
        </p:spPr>
      </p:sp>
      <p:sp>
        <p:nvSpPr>
          <p:cNvPr id="21" name="Text 19"/>
          <p:cNvSpPr txBox="1"/>
          <p:nvPr/>
        </p:nvSpPr>
        <p:spPr>
          <a:xfrm>
            <a:off x="7543800" y="2057400"/>
            <a:ext cx="3730752" cy="237744"/>
          </a:xfrm>
          <a:prstGeom prst="rect">
            <a:avLst/>
          </a:prstGeom>
          <a:noFill/>
          <a:ln/>
        </p:spPr>
        <p:txBody>
          <a:bodyPr wrap="square" lIns="0" tIns="0" rIns="0" bIns="0" rtlCol="0" anchor="ctr"/>
          <a:lstStyle/>
          <a:p>
            <a:pPr indent="0" marL="0">
              <a:buNone/>
            </a:pPr>
            <a:r>
              <a:rPr lang="en-US" sz="1250" b="1" spc="100" kern="0" dirty="0">
                <a:solidFill>
                  <a:srgbClr val="8497A0"/>
                </a:solidFill>
                <a:latin typeface="Meiryo" pitchFamily="34" charset="0"/>
                <a:ea typeface="Meiryo" pitchFamily="34" charset="-122"/>
                <a:cs typeface="Meiryo" pitchFamily="34" charset="-120"/>
              </a:rPr>
              <a:t>非対面チャネル</a:t>
            </a:r>
            <a:endParaRPr lang="en-US" sz="1250" dirty="0"/>
          </a:p>
        </p:txBody>
      </p:sp>
      <p:sp>
        <p:nvSpPr>
          <p:cNvPr id="22" name="Shape 20"/>
          <p:cNvSpPr/>
          <p:nvPr/>
        </p:nvSpPr>
        <p:spPr>
          <a:xfrm>
            <a:off x="7543800" y="2450592"/>
            <a:ext cx="3730752" cy="548640"/>
          </a:xfrm>
          <a:prstGeom prst="roundRect">
            <a:avLst>
              <a:gd name="adj" fmla="val 8333"/>
            </a:avLst>
          </a:prstGeom>
          <a:solidFill>
            <a:srgbClr val="FFFFFF"/>
          </a:solidFill>
          <a:ln w="12700">
            <a:solidFill>
              <a:srgbClr val="D8E0E3"/>
            </a:solidFill>
            <a:prstDash val="solid"/>
          </a:ln>
        </p:spPr>
      </p:sp>
      <p:sp>
        <p:nvSpPr>
          <p:cNvPr id="23" name="Text 21"/>
          <p:cNvSpPr txBox="1"/>
          <p:nvPr/>
        </p:nvSpPr>
        <p:spPr>
          <a:xfrm>
            <a:off x="7543800" y="2450592"/>
            <a:ext cx="3730752" cy="548640"/>
          </a:xfrm>
          <a:prstGeom prst="rect">
            <a:avLst/>
          </a:prstGeom>
          <a:noFill/>
          <a:ln/>
        </p:spPr>
        <p:txBody>
          <a:bodyPr wrap="square" lIns="0" tIns="0" rIns="0" bIns="0" rtlCol="0" anchor="ctr"/>
          <a:lstStyle/>
          <a:p>
            <a:pPr algn="ctr" indent="0" marL="0">
              <a:buNone/>
            </a:pPr>
            <a:r>
              <a:rPr lang="en-US" sz="1200" dirty="0">
                <a:solidFill>
                  <a:srgbClr val="465A63"/>
                </a:solidFill>
                <a:latin typeface="Meiryo" pitchFamily="34" charset="0"/>
                <a:ea typeface="Meiryo" pitchFamily="34" charset="-122"/>
                <a:cs typeface="Meiryo" pitchFamily="34" charset="-120"/>
              </a:rPr>
              <a:t>バンキングアプリ</a:t>
            </a:r>
            <a:endParaRPr lang="en-US" sz="1200" dirty="0"/>
          </a:p>
        </p:txBody>
      </p:sp>
      <p:sp>
        <p:nvSpPr>
          <p:cNvPr id="24" name="Shape 22"/>
          <p:cNvSpPr/>
          <p:nvPr/>
        </p:nvSpPr>
        <p:spPr>
          <a:xfrm>
            <a:off x="7543800" y="3108960"/>
            <a:ext cx="3730752" cy="548640"/>
          </a:xfrm>
          <a:prstGeom prst="roundRect">
            <a:avLst>
              <a:gd name="adj" fmla="val 8333"/>
            </a:avLst>
          </a:prstGeom>
          <a:solidFill>
            <a:srgbClr val="FFFFFF"/>
          </a:solidFill>
          <a:ln w="12700">
            <a:solidFill>
              <a:srgbClr val="D8E0E3"/>
            </a:solidFill>
            <a:prstDash val="solid"/>
          </a:ln>
        </p:spPr>
      </p:sp>
      <p:sp>
        <p:nvSpPr>
          <p:cNvPr id="25" name="Text 23"/>
          <p:cNvSpPr txBox="1"/>
          <p:nvPr/>
        </p:nvSpPr>
        <p:spPr>
          <a:xfrm>
            <a:off x="7543800" y="3108960"/>
            <a:ext cx="3730752" cy="548640"/>
          </a:xfrm>
          <a:prstGeom prst="rect">
            <a:avLst/>
          </a:prstGeom>
          <a:noFill/>
          <a:ln/>
        </p:spPr>
        <p:txBody>
          <a:bodyPr wrap="square" lIns="0" tIns="0" rIns="0" bIns="0" rtlCol="0" anchor="ctr"/>
          <a:lstStyle/>
          <a:p>
            <a:pPr algn="ctr" indent="0" marL="0">
              <a:buNone/>
            </a:pPr>
            <a:r>
              <a:rPr lang="en-US" sz="1200" dirty="0">
                <a:solidFill>
                  <a:srgbClr val="465A63"/>
                </a:solidFill>
                <a:latin typeface="Meiryo" pitchFamily="34" charset="0"/>
                <a:ea typeface="Meiryo" pitchFamily="34" charset="-122"/>
                <a:cs typeface="Meiryo" pitchFamily="34" charset="-120"/>
              </a:rPr>
              <a:t>インターネット支店</a:t>
            </a:r>
            <a:endParaRPr lang="en-US" sz="1200" dirty="0"/>
          </a:p>
        </p:txBody>
      </p:sp>
      <p:sp>
        <p:nvSpPr>
          <p:cNvPr id="26" name="Shape 24"/>
          <p:cNvSpPr/>
          <p:nvPr/>
        </p:nvSpPr>
        <p:spPr>
          <a:xfrm>
            <a:off x="7543800" y="3767328"/>
            <a:ext cx="3730752" cy="548640"/>
          </a:xfrm>
          <a:prstGeom prst="roundRect">
            <a:avLst>
              <a:gd name="adj" fmla="val 8333"/>
            </a:avLst>
          </a:prstGeom>
          <a:solidFill>
            <a:srgbClr val="0F5A6B"/>
          </a:solidFill>
          <a:ln w="12700">
            <a:solidFill>
              <a:srgbClr val="0F5A6B"/>
            </a:solidFill>
            <a:prstDash val="solid"/>
          </a:ln>
        </p:spPr>
      </p:sp>
      <p:sp>
        <p:nvSpPr>
          <p:cNvPr id="27" name="Text 25"/>
          <p:cNvSpPr txBox="1"/>
          <p:nvPr/>
        </p:nvSpPr>
        <p:spPr>
          <a:xfrm>
            <a:off x="7543800" y="3767328"/>
            <a:ext cx="3730752"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インターネットバンキング（IB）</a:t>
            </a:r>
            <a:endParaRPr lang="en-US" sz="1250" dirty="0"/>
          </a:p>
        </p:txBody>
      </p:sp>
      <p:sp>
        <p:nvSpPr>
          <p:cNvPr id="28" name="Text 26"/>
          <p:cNvSpPr txBox="1"/>
          <p:nvPr/>
        </p:nvSpPr>
        <p:spPr>
          <a:xfrm>
            <a:off x="7269480" y="4626864"/>
            <a:ext cx="4279392" cy="274320"/>
          </a:xfrm>
          <a:prstGeom prst="rect">
            <a:avLst/>
          </a:prstGeom>
          <a:noFill/>
          <a:ln/>
        </p:spPr>
        <p:txBody>
          <a:bodyPr wrap="square" lIns="0" tIns="0" rIns="0" bIns="0" rtlCol="0" anchor="ctr"/>
          <a:lstStyle/>
          <a:p>
            <a:pPr algn="ctr" indent="0" marL="0">
              <a:buNone/>
            </a:pPr>
            <a:r>
              <a:rPr lang="en-US" sz="1150" b="1" dirty="0">
                <a:solidFill>
                  <a:srgbClr val="0F5A6B"/>
                </a:solidFill>
                <a:latin typeface="Meiryo" pitchFamily="34" charset="0"/>
                <a:ea typeface="Meiryo" pitchFamily="34" charset="-122"/>
                <a:cs typeface="Meiryo" pitchFamily="34" charset="-120"/>
              </a:rPr>
              <a:t>↑　今回の分析対象</a:t>
            </a:r>
            <a:endParaRPr lang="en-US" sz="1150" dirty="0"/>
          </a:p>
        </p:txBody>
      </p:sp>
      <p:sp>
        <p:nvSpPr>
          <p:cNvPr id="29" name="Shape 27"/>
          <p:cNvSpPr/>
          <p:nvPr/>
        </p:nvSpPr>
        <p:spPr>
          <a:xfrm>
            <a:off x="640080" y="5230368"/>
            <a:ext cx="10911535" cy="658368"/>
          </a:xfrm>
          <a:prstGeom prst="roundRect">
            <a:avLst>
              <a:gd name="adj" fmla="val 6944"/>
            </a:avLst>
          </a:prstGeom>
          <a:solidFill>
            <a:srgbClr val="E2EEF0"/>
          </a:solidFill>
          <a:ln w="12700">
            <a:solidFill>
              <a:srgbClr val="E2EEF0"/>
            </a:solidFill>
            <a:prstDash val="solid"/>
          </a:ln>
        </p:spPr>
      </p:sp>
      <p:sp>
        <p:nvSpPr>
          <p:cNvPr id="30" name="Text 28"/>
          <p:cNvSpPr txBox="1"/>
          <p:nvPr/>
        </p:nvSpPr>
        <p:spPr>
          <a:xfrm>
            <a:off x="914400" y="5230368"/>
            <a:ext cx="10362895" cy="658368"/>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非対面チャネルがどれだけ使われるようになったかは、計画の狙いがどこまで進んでいるかを示す手がかりになる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03</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目 的</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IBの利用がどれだけ広がったかを確かめる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背景をふまえ、今回のワークで確かめることを次のように定めた</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03</a:t>
            </a:r>
            <a:endParaRPr lang="en-US" sz="1000" dirty="0"/>
          </a:p>
        </p:txBody>
      </p:sp>
      <p:sp>
        <p:nvSpPr>
          <p:cNvPr id="8" name="Shape 6"/>
          <p:cNvSpPr/>
          <p:nvPr/>
        </p:nvSpPr>
        <p:spPr>
          <a:xfrm>
            <a:off x="640080" y="1920240"/>
            <a:ext cx="10911535" cy="1417320"/>
          </a:xfrm>
          <a:prstGeom prst="roundRect">
            <a:avLst>
              <a:gd name="adj" fmla="val 3226"/>
            </a:avLst>
          </a:prstGeom>
          <a:solidFill>
            <a:srgbClr val="E2EEF0"/>
          </a:solidFill>
          <a:ln w="9525">
            <a:solidFill>
              <a:srgbClr val="E2EEF0"/>
            </a:solidFill>
            <a:prstDash val="solid"/>
          </a:ln>
        </p:spPr>
      </p:sp>
      <p:sp>
        <p:nvSpPr>
          <p:cNvPr id="9" name="Text 7"/>
          <p:cNvSpPr txBox="1"/>
          <p:nvPr/>
        </p:nvSpPr>
        <p:spPr>
          <a:xfrm>
            <a:off x="1051560" y="2121408"/>
            <a:ext cx="1828800" cy="237744"/>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目 的</a:t>
            </a:r>
            <a:endParaRPr lang="en-US" sz="1050" dirty="0"/>
          </a:p>
        </p:txBody>
      </p:sp>
      <p:sp>
        <p:nvSpPr>
          <p:cNvPr id="10" name="Text 8"/>
          <p:cNvSpPr txBox="1"/>
          <p:nvPr/>
        </p:nvSpPr>
        <p:spPr>
          <a:xfrm>
            <a:off x="1051560" y="2450592"/>
            <a:ext cx="10088575" cy="548640"/>
          </a:xfrm>
          <a:prstGeom prst="rect">
            <a:avLst/>
          </a:prstGeom>
          <a:noFill/>
          <a:ln/>
        </p:spPr>
        <p:txBody>
          <a:bodyPr wrap="square" lIns="0" tIns="0" rIns="0" bIns="0" rtlCol="0" anchor="ctr"/>
          <a:lstStyle/>
          <a:p>
            <a:pPr indent="0" marL="0">
              <a:buNone/>
            </a:pPr>
            <a:r>
              <a:rPr lang="en-US" sz="1900" b="1" dirty="0">
                <a:solidFill>
                  <a:srgbClr val="0F5A6B"/>
                </a:solidFill>
                <a:latin typeface="Meiryo" pitchFamily="34" charset="0"/>
                <a:ea typeface="Meiryo" pitchFamily="34" charset="-122"/>
                <a:cs typeface="Meiryo" pitchFamily="34" charset="-120"/>
              </a:rPr>
              <a:t>2025年と2026年の同じ時期を比べ、IBの利用件数がどれだけ増えたかを確認する</a:t>
            </a:r>
            <a:endParaRPr lang="en-US" sz="1900" dirty="0"/>
          </a:p>
        </p:txBody>
      </p:sp>
      <p:sp>
        <p:nvSpPr>
          <p:cNvPr id="11" name="Shape 9"/>
          <p:cNvSpPr/>
          <p:nvPr/>
        </p:nvSpPr>
        <p:spPr>
          <a:xfrm>
            <a:off x="640080" y="3703320"/>
            <a:ext cx="5227168" cy="1600200"/>
          </a:xfrm>
          <a:prstGeom prst="roundRect">
            <a:avLst>
              <a:gd name="adj" fmla="val 2857"/>
            </a:avLst>
          </a:prstGeom>
          <a:solidFill>
            <a:srgbClr val="F3F6F7"/>
          </a:solidFill>
          <a:ln w="9525">
            <a:solidFill>
              <a:srgbClr val="F3F6F7"/>
            </a:solidFill>
            <a:prstDash val="solid"/>
          </a:ln>
        </p:spPr>
      </p:sp>
      <p:sp>
        <p:nvSpPr>
          <p:cNvPr id="12" name="Text 10"/>
          <p:cNvSpPr txBox="1"/>
          <p:nvPr/>
        </p:nvSpPr>
        <p:spPr>
          <a:xfrm>
            <a:off x="960120" y="3931920"/>
            <a:ext cx="4587088"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比 べ 方</a:t>
            </a:r>
            <a:endParaRPr lang="en-US" sz="1050" dirty="0"/>
          </a:p>
        </p:txBody>
      </p:sp>
      <p:sp>
        <p:nvSpPr>
          <p:cNvPr id="13" name="Text 11"/>
          <p:cNvSpPr txBox="1"/>
          <p:nvPr/>
        </p:nvSpPr>
        <p:spPr>
          <a:xfrm>
            <a:off x="960120" y="4270248"/>
            <a:ext cx="4587088" cy="82296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同じ4〜6月どうしを比べ、</a:t>
            </a:r>
            <a:endParaRPr lang="en-US" sz="1350" dirty="0"/>
          </a:p>
          <a:p>
            <a:pPr indent="0" marL="0">
              <a:lnSpc>
                <a:spcPts val="2200"/>
              </a:lnSpc>
              <a:buNone/>
            </a:pPr>
            <a:r>
              <a:rPr lang="en-US" sz="1350" dirty="0">
                <a:solidFill>
                  <a:srgbClr val="1A2B33"/>
                </a:solidFill>
                <a:latin typeface="Meiryo" pitchFamily="34" charset="0"/>
                <a:ea typeface="Meiryo" pitchFamily="34" charset="-122"/>
                <a:cs typeface="Meiryo" pitchFamily="34" charset="-120"/>
              </a:rPr>
              <a:t>時期による取引量の差を避ける</a:t>
            </a:r>
            <a:endParaRPr lang="en-US" sz="1350" dirty="0"/>
          </a:p>
        </p:txBody>
      </p:sp>
      <p:sp>
        <p:nvSpPr>
          <p:cNvPr id="14" name="Shape 12"/>
          <p:cNvSpPr/>
          <p:nvPr/>
        </p:nvSpPr>
        <p:spPr>
          <a:xfrm>
            <a:off x="6324448" y="3703320"/>
            <a:ext cx="5227168" cy="1600200"/>
          </a:xfrm>
          <a:prstGeom prst="roundRect">
            <a:avLst>
              <a:gd name="adj" fmla="val 2857"/>
            </a:avLst>
          </a:prstGeom>
          <a:solidFill>
            <a:srgbClr val="F3F6F7"/>
          </a:solidFill>
          <a:ln w="9525">
            <a:solidFill>
              <a:srgbClr val="F3F6F7"/>
            </a:solidFill>
            <a:prstDash val="solid"/>
          </a:ln>
        </p:spPr>
      </p:sp>
      <p:sp>
        <p:nvSpPr>
          <p:cNvPr id="15" name="Text 13"/>
          <p:cNvSpPr txBox="1"/>
          <p:nvPr/>
        </p:nvSpPr>
        <p:spPr>
          <a:xfrm>
            <a:off x="6644488" y="3931920"/>
            <a:ext cx="4587088"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見 る 対 象</a:t>
            </a:r>
            <a:endParaRPr lang="en-US" sz="1050" dirty="0"/>
          </a:p>
        </p:txBody>
      </p:sp>
      <p:sp>
        <p:nvSpPr>
          <p:cNvPr id="16" name="Text 14"/>
          <p:cNvSpPr txBox="1"/>
          <p:nvPr/>
        </p:nvSpPr>
        <p:spPr>
          <a:xfrm>
            <a:off x="6644488" y="4270248"/>
            <a:ext cx="4587088" cy="822960"/>
          </a:xfrm>
          <a:prstGeom prst="rect">
            <a:avLst/>
          </a:prstGeom>
          <a:noFill/>
          <a:ln/>
        </p:spPr>
        <p:txBody>
          <a:bodyPr wrap="square" lIns="0" tIns="0" rIns="0" bIns="0" rtlCol="0" anchor="ctr"/>
          <a:lstStyle/>
          <a:p>
            <a:pPr indent="0" marL="0">
              <a:lnSpc>
                <a:spcPts val="2200"/>
              </a:lnSpc>
              <a:buNone/>
            </a:pPr>
            <a:r>
              <a:rPr lang="en-US" sz="1350" dirty="0">
                <a:solidFill>
                  <a:srgbClr val="1A2B33"/>
                </a:solidFill>
                <a:latin typeface="Meiryo" pitchFamily="34" charset="0"/>
                <a:ea typeface="Meiryo" pitchFamily="34" charset="-122"/>
                <a:cs typeface="Meiryo" pitchFamily="34" charset="-120"/>
              </a:rPr>
              <a:t>IBの件数に加え、</a:t>
            </a:r>
            <a:endParaRPr lang="en-US" sz="1350" dirty="0"/>
          </a:p>
          <a:p>
            <a:pPr indent="0" marL="0">
              <a:lnSpc>
                <a:spcPts val="2200"/>
              </a:lnSpc>
              <a:buNone/>
            </a:pPr>
            <a:r>
              <a:rPr lang="en-US" sz="1350" dirty="0">
                <a:solidFill>
                  <a:srgbClr val="1A2B33"/>
                </a:solidFill>
                <a:latin typeface="Meiryo" pitchFamily="34" charset="0"/>
                <a:ea typeface="Meiryo" pitchFamily="34" charset="-122"/>
                <a:cs typeface="Meiryo" pitchFamily="34" charset="-120"/>
              </a:rPr>
              <a:t>ATM側の「IBでも代替できる取引」も見る</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04</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使 用 デ ー タ</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取引履歴（流動）から入出金テーブルを作成</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分析に使ったデータと、DYNATREKで扱える形にするまでの準備</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04</a:t>
            </a:r>
            <a:endParaRPr lang="en-US" sz="1000" dirty="0"/>
          </a:p>
        </p:txBody>
      </p:sp>
      <p:sp>
        <p:nvSpPr>
          <p:cNvPr id="8" name="Shape 6"/>
          <p:cNvSpPr/>
          <p:nvPr/>
        </p:nvSpPr>
        <p:spPr>
          <a:xfrm>
            <a:off x="640080" y="1874520"/>
            <a:ext cx="3246120" cy="1481328"/>
          </a:xfrm>
          <a:prstGeom prst="roundRect">
            <a:avLst>
              <a:gd name="adj" fmla="val 3086"/>
            </a:avLst>
          </a:prstGeom>
          <a:solidFill>
            <a:srgbClr val="F3F6F7"/>
          </a:solidFill>
          <a:ln w="9525">
            <a:solidFill>
              <a:srgbClr val="F3F6F7"/>
            </a:solidFill>
            <a:prstDash val="solid"/>
          </a:ln>
        </p:spPr>
      </p:sp>
      <p:sp>
        <p:nvSpPr>
          <p:cNvPr id="9" name="Text 7"/>
          <p:cNvSpPr txBox="1"/>
          <p:nvPr/>
        </p:nvSpPr>
        <p:spPr>
          <a:xfrm>
            <a:off x="640080"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8497A0"/>
                </a:solidFill>
                <a:latin typeface="Meiryo" pitchFamily="34" charset="0"/>
                <a:ea typeface="Meiryo" pitchFamily="34" charset="-122"/>
                <a:cs typeface="Meiryo" pitchFamily="34" charset="-120"/>
              </a:rPr>
              <a:t>元データ</a:t>
            </a:r>
            <a:endParaRPr lang="en-US" sz="1050" dirty="0"/>
          </a:p>
        </p:txBody>
      </p:sp>
      <p:sp>
        <p:nvSpPr>
          <p:cNvPr id="10" name="Text 8"/>
          <p:cNvSpPr txBox="1"/>
          <p:nvPr/>
        </p:nvSpPr>
        <p:spPr>
          <a:xfrm>
            <a:off x="822960"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1A2B33"/>
                </a:solidFill>
                <a:latin typeface="Meiryo" pitchFamily="34" charset="0"/>
                <a:ea typeface="Meiryo" pitchFamily="34" charset="-122"/>
                <a:cs typeface="Meiryo" pitchFamily="34" charset="-120"/>
              </a:rPr>
              <a:t>取引履歴（流動）</a:t>
            </a:r>
            <a:endParaRPr lang="en-US" sz="1500" dirty="0"/>
          </a:p>
        </p:txBody>
      </p:sp>
      <p:sp>
        <p:nvSpPr>
          <p:cNvPr id="11" name="Shape 9"/>
          <p:cNvSpPr/>
          <p:nvPr/>
        </p:nvSpPr>
        <p:spPr>
          <a:xfrm>
            <a:off x="4050792" y="2505456"/>
            <a:ext cx="256032" cy="219456"/>
          </a:xfrm>
          <a:prstGeom prst="rightArrow">
            <a:avLst/>
          </a:prstGeom>
          <a:solidFill>
            <a:srgbClr val="C2CFD3"/>
          </a:solidFill>
          <a:ln w="12700">
            <a:solidFill>
              <a:srgbClr val="C2CFD3"/>
            </a:solidFill>
            <a:prstDash val="solid"/>
          </a:ln>
        </p:spPr>
      </p:sp>
      <p:sp>
        <p:nvSpPr>
          <p:cNvPr id="12" name="Shape 10"/>
          <p:cNvSpPr/>
          <p:nvPr/>
        </p:nvSpPr>
        <p:spPr>
          <a:xfrm>
            <a:off x="4471416" y="1874520"/>
            <a:ext cx="3246120" cy="1481328"/>
          </a:xfrm>
          <a:prstGeom prst="roundRect">
            <a:avLst>
              <a:gd name="adj" fmla="val 3086"/>
            </a:avLst>
          </a:prstGeom>
          <a:solidFill>
            <a:srgbClr val="F3F6F7"/>
          </a:solidFill>
          <a:ln w="9525">
            <a:solidFill>
              <a:srgbClr val="F3F6F7"/>
            </a:solidFill>
            <a:prstDash val="solid"/>
          </a:ln>
        </p:spPr>
      </p:sp>
      <p:sp>
        <p:nvSpPr>
          <p:cNvPr id="13" name="Text 11"/>
          <p:cNvSpPr txBox="1"/>
          <p:nvPr/>
        </p:nvSpPr>
        <p:spPr>
          <a:xfrm>
            <a:off x="4471416"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8497A0"/>
                </a:solidFill>
                <a:latin typeface="Meiryo" pitchFamily="34" charset="0"/>
                <a:ea typeface="Meiryo" pitchFamily="34" charset="-122"/>
                <a:cs typeface="Meiryo" pitchFamily="34" charset="-120"/>
              </a:rPr>
              <a:t>作成したもの</a:t>
            </a:r>
            <a:endParaRPr lang="en-US" sz="1050" dirty="0"/>
          </a:p>
        </p:txBody>
      </p:sp>
      <p:sp>
        <p:nvSpPr>
          <p:cNvPr id="14" name="Text 12"/>
          <p:cNvSpPr txBox="1"/>
          <p:nvPr/>
        </p:nvSpPr>
        <p:spPr>
          <a:xfrm>
            <a:off x="4654296"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1A2B33"/>
                </a:solidFill>
                <a:latin typeface="Meiryo" pitchFamily="34" charset="0"/>
                <a:ea typeface="Meiryo" pitchFamily="34" charset="-122"/>
                <a:cs typeface="Meiryo" pitchFamily="34" charset="-120"/>
              </a:rPr>
              <a:t>入出金テーブル</a:t>
            </a:r>
            <a:endParaRPr lang="en-US" sz="1500" dirty="0"/>
          </a:p>
        </p:txBody>
      </p:sp>
      <p:sp>
        <p:nvSpPr>
          <p:cNvPr id="15" name="Shape 13"/>
          <p:cNvSpPr/>
          <p:nvPr/>
        </p:nvSpPr>
        <p:spPr>
          <a:xfrm>
            <a:off x="7882128" y="2505456"/>
            <a:ext cx="256032" cy="219456"/>
          </a:xfrm>
          <a:prstGeom prst="rightArrow">
            <a:avLst/>
          </a:prstGeom>
          <a:solidFill>
            <a:srgbClr val="C2CFD3"/>
          </a:solidFill>
          <a:ln w="12700">
            <a:solidFill>
              <a:srgbClr val="C2CFD3"/>
            </a:solidFill>
            <a:prstDash val="solid"/>
          </a:ln>
        </p:spPr>
      </p:sp>
      <p:sp>
        <p:nvSpPr>
          <p:cNvPr id="16" name="Shape 14"/>
          <p:cNvSpPr/>
          <p:nvPr/>
        </p:nvSpPr>
        <p:spPr>
          <a:xfrm>
            <a:off x="8302752" y="1874520"/>
            <a:ext cx="3246120" cy="1481328"/>
          </a:xfrm>
          <a:prstGeom prst="roundRect">
            <a:avLst>
              <a:gd name="adj" fmla="val 3086"/>
            </a:avLst>
          </a:prstGeom>
          <a:solidFill>
            <a:srgbClr val="E2EEF0"/>
          </a:solidFill>
          <a:ln w="9525">
            <a:solidFill>
              <a:srgbClr val="E2EEF0"/>
            </a:solidFill>
            <a:prstDash val="solid"/>
          </a:ln>
        </p:spPr>
      </p:sp>
      <p:sp>
        <p:nvSpPr>
          <p:cNvPr id="17" name="Text 15"/>
          <p:cNvSpPr txBox="1"/>
          <p:nvPr/>
        </p:nvSpPr>
        <p:spPr>
          <a:xfrm>
            <a:off x="8302752" y="2130552"/>
            <a:ext cx="3246120" cy="237744"/>
          </a:xfrm>
          <a:prstGeom prst="rect">
            <a:avLst/>
          </a:prstGeom>
          <a:noFill/>
          <a:ln/>
        </p:spPr>
        <p:txBody>
          <a:bodyPr wrap="square" lIns="0" tIns="0" rIns="0" bIns="0" rtlCol="0" anchor="ctr"/>
          <a:lstStyle/>
          <a:p>
            <a:pPr algn="ctr" indent="0" marL="0">
              <a:buNone/>
            </a:pPr>
            <a:r>
              <a:rPr lang="en-US" sz="1050" b="1" spc="100" kern="0" dirty="0">
                <a:solidFill>
                  <a:srgbClr val="0F5A6B"/>
                </a:solidFill>
                <a:latin typeface="Meiryo" pitchFamily="34" charset="0"/>
                <a:ea typeface="Meiryo" pitchFamily="34" charset="-122"/>
                <a:cs typeface="Meiryo" pitchFamily="34" charset="-120"/>
              </a:rPr>
              <a:t>分 析</a:t>
            </a:r>
            <a:endParaRPr lang="en-US" sz="1050" dirty="0"/>
          </a:p>
        </p:txBody>
      </p:sp>
      <p:sp>
        <p:nvSpPr>
          <p:cNvPr id="18" name="Text 16"/>
          <p:cNvSpPr txBox="1"/>
          <p:nvPr/>
        </p:nvSpPr>
        <p:spPr>
          <a:xfrm>
            <a:off x="8485632" y="2496312"/>
            <a:ext cx="2880360" cy="640080"/>
          </a:xfrm>
          <a:prstGeom prst="rect">
            <a:avLst/>
          </a:prstGeom>
          <a:noFill/>
          <a:ln/>
        </p:spPr>
        <p:txBody>
          <a:bodyPr wrap="square" lIns="0" tIns="0" rIns="0" bIns="0" rtlCol="0" anchor="ctr"/>
          <a:lstStyle/>
          <a:p>
            <a:pPr algn="ctr" indent="0" marL="0">
              <a:lnSpc>
                <a:spcPts val="2200"/>
              </a:lnSpc>
              <a:buNone/>
            </a:pPr>
            <a:r>
              <a:rPr lang="en-US" sz="1500" b="1" dirty="0">
                <a:solidFill>
                  <a:srgbClr val="0F5A6B"/>
                </a:solidFill>
                <a:latin typeface="Meiryo" pitchFamily="34" charset="0"/>
                <a:ea typeface="Meiryo" pitchFamily="34" charset="-122"/>
                <a:cs typeface="Meiryo" pitchFamily="34" charset="-120"/>
              </a:rPr>
              <a:t>DYNATREKで</a:t>
            </a:r>
            <a:endParaRPr lang="en-US" sz="1500" dirty="0"/>
          </a:p>
          <a:p>
            <a:pPr algn="ctr" indent="0" marL="0">
              <a:lnSpc>
                <a:spcPts val="2200"/>
              </a:lnSpc>
              <a:buNone/>
            </a:pPr>
            <a:r>
              <a:rPr lang="en-US" sz="1500" b="1" dirty="0">
                <a:solidFill>
                  <a:srgbClr val="0F5A6B"/>
                </a:solidFill>
                <a:latin typeface="Meiryo" pitchFamily="34" charset="0"/>
                <a:ea typeface="Meiryo" pitchFamily="34" charset="-122"/>
                <a:cs typeface="Meiryo" pitchFamily="34" charset="-120"/>
              </a:rPr>
              <a:t>条件を指定して集計</a:t>
            </a:r>
            <a:endParaRPr lang="en-US" sz="1500" dirty="0"/>
          </a:p>
        </p:txBody>
      </p:sp>
      <p:sp>
        <p:nvSpPr>
          <p:cNvPr id="19" name="Shape 17"/>
          <p:cNvSpPr/>
          <p:nvPr/>
        </p:nvSpPr>
        <p:spPr>
          <a:xfrm>
            <a:off x="640080" y="3703320"/>
            <a:ext cx="10911535" cy="1097280"/>
          </a:xfrm>
          <a:prstGeom prst="roundRect">
            <a:avLst>
              <a:gd name="adj" fmla="val 4167"/>
            </a:avLst>
          </a:prstGeom>
          <a:solidFill>
            <a:srgbClr val="F3F6F7"/>
          </a:solidFill>
          <a:ln w="9525">
            <a:solidFill>
              <a:srgbClr val="F3F6F7"/>
            </a:solidFill>
            <a:prstDash val="solid"/>
          </a:ln>
        </p:spPr>
      </p:sp>
      <p:sp>
        <p:nvSpPr>
          <p:cNvPr id="20" name="Text 18"/>
          <p:cNvSpPr txBox="1"/>
          <p:nvPr/>
        </p:nvSpPr>
        <p:spPr>
          <a:xfrm>
            <a:off x="1005840" y="3913632"/>
            <a:ext cx="1737360" cy="237744"/>
          </a:xfrm>
          <a:prstGeom prst="rect">
            <a:avLst/>
          </a:prstGeom>
          <a:noFill/>
          <a:ln/>
        </p:spPr>
        <p:txBody>
          <a:bodyPr wrap="square" lIns="0" tIns="0" rIns="0" bIns="0" rtlCol="0" anchor="ctr"/>
          <a:lstStyle/>
          <a:p>
            <a:pPr indent="0" marL="0">
              <a:buNone/>
            </a:pPr>
            <a:r>
              <a:rPr lang="en-US" sz="1050" b="1" spc="100" kern="0" dirty="0">
                <a:solidFill>
                  <a:srgbClr val="8497A0"/>
                </a:solidFill>
                <a:latin typeface="Meiryo" pitchFamily="34" charset="0"/>
                <a:ea typeface="Meiryo" pitchFamily="34" charset="-122"/>
                <a:cs typeface="Meiryo" pitchFamily="34" charset="-120"/>
              </a:rPr>
              <a:t>対 象 期 間</a:t>
            </a:r>
            <a:endParaRPr lang="en-US" sz="1050" dirty="0"/>
          </a:p>
        </p:txBody>
      </p:sp>
      <p:sp>
        <p:nvSpPr>
          <p:cNvPr id="21" name="Shape 19"/>
          <p:cNvSpPr/>
          <p:nvPr/>
        </p:nvSpPr>
        <p:spPr>
          <a:xfrm>
            <a:off x="3063240" y="3913632"/>
            <a:ext cx="3566160" cy="658368"/>
          </a:xfrm>
          <a:prstGeom prst="roundRect">
            <a:avLst>
              <a:gd name="adj" fmla="val 6944"/>
            </a:avLst>
          </a:prstGeom>
          <a:solidFill>
            <a:srgbClr val="FFFFFF"/>
          </a:solidFill>
          <a:ln w="12700">
            <a:solidFill>
              <a:srgbClr val="D8E0E3"/>
            </a:solidFill>
            <a:prstDash val="solid"/>
          </a:ln>
        </p:spPr>
      </p:sp>
      <p:sp>
        <p:nvSpPr>
          <p:cNvPr id="22" name="Text 20"/>
          <p:cNvSpPr txBox="1"/>
          <p:nvPr/>
        </p:nvSpPr>
        <p:spPr>
          <a:xfrm>
            <a:off x="3063240" y="3913632"/>
            <a:ext cx="3566160" cy="65836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2025年　4月・5月・6月</a:t>
            </a:r>
            <a:endParaRPr lang="en-US" sz="1400" dirty="0"/>
          </a:p>
        </p:txBody>
      </p:sp>
      <p:sp>
        <p:nvSpPr>
          <p:cNvPr id="23" name="Shape 21"/>
          <p:cNvSpPr/>
          <p:nvPr/>
        </p:nvSpPr>
        <p:spPr>
          <a:xfrm>
            <a:off x="6995160" y="3913632"/>
            <a:ext cx="3566160" cy="658368"/>
          </a:xfrm>
          <a:prstGeom prst="roundRect">
            <a:avLst>
              <a:gd name="adj" fmla="val 6944"/>
            </a:avLst>
          </a:prstGeom>
          <a:solidFill>
            <a:srgbClr val="FFFFFF"/>
          </a:solidFill>
          <a:ln w="12700">
            <a:solidFill>
              <a:srgbClr val="D8E0E3"/>
            </a:solidFill>
            <a:prstDash val="solid"/>
          </a:ln>
        </p:spPr>
      </p:sp>
      <p:sp>
        <p:nvSpPr>
          <p:cNvPr id="24" name="Text 22"/>
          <p:cNvSpPr txBox="1"/>
          <p:nvPr/>
        </p:nvSpPr>
        <p:spPr>
          <a:xfrm>
            <a:off x="6995160" y="3913632"/>
            <a:ext cx="3566160" cy="65836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2026年　4月・5月・6月</a:t>
            </a:r>
            <a:endParaRPr lang="en-US" sz="1400" dirty="0"/>
          </a:p>
        </p:txBody>
      </p:sp>
      <p:sp>
        <p:nvSpPr>
          <p:cNvPr id="25" name="Shape 23"/>
          <p:cNvSpPr/>
          <p:nvPr/>
        </p:nvSpPr>
        <p:spPr>
          <a:xfrm>
            <a:off x="640080" y="5120640"/>
            <a:ext cx="10911535" cy="914400"/>
          </a:xfrm>
          <a:prstGeom prst="roundRect">
            <a:avLst>
              <a:gd name="adj" fmla="val 5000"/>
            </a:avLst>
          </a:prstGeom>
          <a:solidFill>
            <a:srgbClr val="F8EBE1"/>
          </a:solidFill>
          <a:ln w="15875">
            <a:solidFill>
              <a:srgbClr val="D9A97F"/>
            </a:solidFill>
            <a:prstDash val="dash"/>
          </a:ln>
        </p:spPr>
      </p:sp>
      <p:sp>
        <p:nvSpPr>
          <p:cNvPr id="26" name="Text 24"/>
          <p:cNvSpPr txBox="1"/>
          <p:nvPr/>
        </p:nvSpPr>
        <p:spPr>
          <a:xfrm>
            <a:off x="859536" y="5257800"/>
            <a:ext cx="10472623"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記 入 欄</a:t>
            </a:r>
            <a:endParaRPr lang="en-US" sz="1050" dirty="0"/>
          </a:p>
        </p:txBody>
      </p:sp>
      <p:sp>
        <p:nvSpPr>
          <p:cNvPr id="27" name="Text 25"/>
          <p:cNvSpPr txBox="1"/>
          <p:nvPr/>
        </p:nvSpPr>
        <p:spPr>
          <a:xfrm>
            <a:off x="859536" y="5522976"/>
            <a:ext cx="10472623" cy="38404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入出金テーブルに持たせた主な項目（例：日付／チャネル／取引種別／年代 など、実際に使ったものを記載）</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05</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分 析 方 法</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条件を指定して必要な集計を取り出す</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作成した入出金テーブルに対し、画面上で条件を指定するだけで集計結果が得られる</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05</a:t>
            </a:r>
            <a:endParaRPr lang="en-US" sz="1000" dirty="0"/>
          </a:p>
        </p:txBody>
      </p:sp>
      <p:sp>
        <p:nvSpPr>
          <p:cNvPr id="8" name="Shape 6"/>
          <p:cNvSpPr/>
          <p:nvPr/>
        </p:nvSpPr>
        <p:spPr>
          <a:xfrm>
            <a:off x="640080" y="1874520"/>
            <a:ext cx="5029200" cy="2926080"/>
          </a:xfrm>
          <a:prstGeom prst="roundRect">
            <a:avLst>
              <a:gd name="adj" fmla="val 1563"/>
            </a:avLst>
          </a:prstGeom>
          <a:solidFill>
            <a:srgbClr val="F3F6F7"/>
          </a:solidFill>
          <a:ln w="15875">
            <a:solidFill>
              <a:srgbClr val="BFCCD1"/>
            </a:solidFill>
            <a:prstDash val="dash"/>
          </a:ln>
        </p:spPr>
      </p:sp>
      <p:sp>
        <p:nvSpPr>
          <p:cNvPr id="9" name="Text 7"/>
          <p:cNvSpPr txBox="1"/>
          <p:nvPr/>
        </p:nvSpPr>
        <p:spPr>
          <a:xfrm>
            <a:off x="640080" y="2953512"/>
            <a:ext cx="502920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スクリーンショット ①</a:t>
            </a:r>
            <a:endParaRPr lang="en-US" sz="1300" dirty="0"/>
          </a:p>
        </p:txBody>
      </p:sp>
      <p:sp>
        <p:nvSpPr>
          <p:cNvPr id="10" name="Text 8"/>
          <p:cNvSpPr txBox="1"/>
          <p:nvPr/>
        </p:nvSpPr>
        <p:spPr>
          <a:xfrm>
            <a:off x="914400" y="3300984"/>
            <a:ext cx="448056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DYNATREKの条件設定画面</a:t>
            </a:r>
            <a:endParaRPr lang="en-US" sz="1100" dirty="0"/>
          </a:p>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（期間・チャネル・取引種別などを指定）</a:t>
            </a:r>
            <a:endParaRPr lang="en-US" sz="1100" dirty="0"/>
          </a:p>
        </p:txBody>
      </p:sp>
      <p:sp>
        <p:nvSpPr>
          <p:cNvPr id="11" name="Shape 9"/>
          <p:cNvSpPr/>
          <p:nvPr/>
        </p:nvSpPr>
        <p:spPr>
          <a:xfrm>
            <a:off x="6522415" y="1874520"/>
            <a:ext cx="5029200" cy="2926080"/>
          </a:xfrm>
          <a:prstGeom prst="roundRect">
            <a:avLst>
              <a:gd name="adj" fmla="val 1563"/>
            </a:avLst>
          </a:prstGeom>
          <a:solidFill>
            <a:srgbClr val="E2EEF0"/>
          </a:solidFill>
          <a:ln w="15875">
            <a:solidFill>
              <a:srgbClr val="A8C7CC"/>
            </a:solidFill>
            <a:prstDash val="dash"/>
          </a:ln>
        </p:spPr>
      </p:sp>
      <p:sp>
        <p:nvSpPr>
          <p:cNvPr id="12" name="Text 10"/>
          <p:cNvSpPr txBox="1"/>
          <p:nvPr/>
        </p:nvSpPr>
        <p:spPr>
          <a:xfrm>
            <a:off x="6522415" y="2953512"/>
            <a:ext cx="502920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スクリーンショット ②</a:t>
            </a:r>
            <a:endParaRPr lang="en-US" sz="1300" dirty="0"/>
          </a:p>
        </p:txBody>
      </p:sp>
      <p:sp>
        <p:nvSpPr>
          <p:cNvPr id="13" name="Text 11"/>
          <p:cNvSpPr txBox="1"/>
          <p:nvPr/>
        </p:nvSpPr>
        <p:spPr>
          <a:xfrm>
            <a:off x="6796735" y="3300984"/>
            <a:ext cx="448056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指定した条件で出力された集計結果</a:t>
            </a:r>
            <a:endParaRPr lang="en-US" sz="1100" dirty="0"/>
          </a:p>
        </p:txBody>
      </p:sp>
      <p:sp>
        <p:nvSpPr>
          <p:cNvPr id="14" name="Shape 12"/>
          <p:cNvSpPr/>
          <p:nvPr/>
        </p:nvSpPr>
        <p:spPr>
          <a:xfrm>
            <a:off x="5797296" y="3154680"/>
            <a:ext cx="594360" cy="365760"/>
          </a:xfrm>
          <a:prstGeom prst="rightArrow">
            <a:avLst/>
          </a:prstGeom>
          <a:solidFill>
            <a:srgbClr val="0F5A6B"/>
          </a:solidFill>
          <a:ln w="12700">
            <a:solidFill>
              <a:srgbClr val="0F5A6B"/>
            </a:solidFill>
            <a:prstDash val="solid"/>
          </a:ln>
        </p:spPr>
      </p:sp>
      <p:sp>
        <p:nvSpPr>
          <p:cNvPr id="15" name="Text 13"/>
          <p:cNvSpPr txBox="1"/>
          <p:nvPr/>
        </p:nvSpPr>
        <p:spPr>
          <a:xfrm>
            <a:off x="640080" y="4946904"/>
            <a:ext cx="5029200" cy="274320"/>
          </a:xfrm>
          <a:prstGeom prst="rect">
            <a:avLst/>
          </a:prstGeom>
          <a:noFill/>
          <a:ln/>
        </p:spPr>
        <p:txBody>
          <a:bodyPr wrap="square" lIns="0" tIns="0" rIns="0" bIns="0" rtlCol="0" anchor="ctr"/>
          <a:lstStyle/>
          <a:p>
            <a:pPr algn="ctr" indent="0" marL="0">
              <a:buNone/>
            </a:pPr>
            <a:r>
              <a:rPr lang="en-US" sz="1300" b="1" dirty="0">
                <a:solidFill>
                  <a:srgbClr val="1A2B33"/>
                </a:solidFill>
                <a:latin typeface="Meiryo" pitchFamily="34" charset="0"/>
                <a:ea typeface="Meiryo" pitchFamily="34" charset="-122"/>
                <a:cs typeface="Meiryo" pitchFamily="34" charset="-120"/>
              </a:rPr>
              <a:t>条件を指定する</a:t>
            </a:r>
            <a:endParaRPr lang="en-US" sz="1300" dirty="0"/>
          </a:p>
        </p:txBody>
      </p:sp>
      <p:sp>
        <p:nvSpPr>
          <p:cNvPr id="16" name="Text 14"/>
          <p:cNvSpPr txBox="1"/>
          <p:nvPr/>
        </p:nvSpPr>
        <p:spPr>
          <a:xfrm>
            <a:off x="6522415" y="4946904"/>
            <a:ext cx="5029200" cy="274320"/>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そのまま集計結果が出る</a:t>
            </a:r>
            <a:endParaRPr lang="en-US" sz="1300" dirty="0"/>
          </a:p>
        </p:txBody>
      </p:sp>
      <p:sp>
        <p:nvSpPr>
          <p:cNvPr id="17" name="Shape 15"/>
          <p:cNvSpPr/>
          <p:nvPr/>
        </p:nvSpPr>
        <p:spPr>
          <a:xfrm>
            <a:off x="640080" y="5440680"/>
            <a:ext cx="10911535" cy="566928"/>
          </a:xfrm>
          <a:prstGeom prst="roundRect">
            <a:avLst>
              <a:gd name="adj" fmla="val 8065"/>
            </a:avLst>
          </a:prstGeom>
          <a:solidFill>
            <a:srgbClr val="F3F6F7"/>
          </a:solidFill>
          <a:ln w="12700">
            <a:solidFill>
              <a:srgbClr val="F3F6F7"/>
            </a:solidFill>
            <a:prstDash val="solid"/>
          </a:ln>
        </p:spPr>
      </p:sp>
      <p:sp>
        <p:nvSpPr>
          <p:cNvPr id="18" name="Text 16"/>
          <p:cNvSpPr txBox="1"/>
          <p:nvPr/>
        </p:nvSpPr>
        <p:spPr>
          <a:xfrm>
            <a:off x="914400" y="5440680"/>
            <a:ext cx="10362895" cy="566928"/>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一度テーブルを整えれば、条件を変えるだけで別の切り口でも確認できる</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06</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結 果 ①</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IBの利用件数は増加していた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まず、IBで行われた取引の件数を2つの期間で比較</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06</a:t>
            </a:r>
            <a:endParaRPr lang="en-US" sz="1000" dirty="0"/>
          </a:p>
        </p:txBody>
      </p:sp>
      <p:sp>
        <p:nvSpPr>
          <p:cNvPr id="8" name="Shape 6"/>
          <p:cNvSpPr/>
          <p:nvPr/>
        </p:nvSpPr>
        <p:spPr>
          <a:xfrm>
            <a:off x="640080" y="1874520"/>
            <a:ext cx="5989320" cy="3200400"/>
          </a:xfrm>
          <a:prstGeom prst="roundRect">
            <a:avLst>
              <a:gd name="adj" fmla="val 1429"/>
            </a:avLst>
          </a:prstGeom>
          <a:solidFill>
            <a:srgbClr val="F3F6F7"/>
          </a:solidFill>
          <a:ln w="15875">
            <a:solidFill>
              <a:srgbClr val="BFCCD1"/>
            </a:solidFill>
            <a:prstDash val="dash"/>
          </a:ln>
        </p:spPr>
      </p:sp>
      <p:sp>
        <p:nvSpPr>
          <p:cNvPr id="9" name="Text 7"/>
          <p:cNvSpPr txBox="1"/>
          <p:nvPr/>
        </p:nvSpPr>
        <p:spPr>
          <a:xfrm>
            <a:off x="640080" y="3090672"/>
            <a:ext cx="598932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10" name="Text 8"/>
          <p:cNvSpPr txBox="1"/>
          <p:nvPr/>
        </p:nvSpPr>
        <p:spPr>
          <a:xfrm>
            <a:off x="914400" y="3438144"/>
            <a:ext cx="544068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IBの利用件数（2025年4〜6月 / 2026年4〜6月）</a:t>
            </a:r>
            <a:endParaRPr lang="en-US" sz="1100" dirty="0"/>
          </a:p>
        </p:txBody>
      </p:sp>
      <p:sp>
        <p:nvSpPr>
          <p:cNvPr id="11" name="Shape 9"/>
          <p:cNvSpPr/>
          <p:nvPr/>
        </p:nvSpPr>
        <p:spPr>
          <a:xfrm>
            <a:off x="6967728" y="1874520"/>
            <a:ext cx="4581144" cy="960120"/>
          </a:xfrm>
          <a:prstGeom prst="roundRect">
            <a:avLst>
              <a:gd name="adj" fmla="val 4762"/>
            </a:avLst>
          </a:prstGeom>
          <a:solidFill>
            <a:srgbClr val="F8EBE1"/>
          </a:solidFill>
          <a:ln w="15875">
            <a:solidFill>
              <a:srgbClr val="D9A97F"/>
            </a:solidFill>
            <a:prstDash val="dash"/>
          </a:ln>
        </p:spPr>
      </p:sp>
      <p:sp>
        <p:nvSpPr>
          <p:cNvPr id="12" name="Text 10"/>
          <p:cNvSpPr txBox="1"/>
          <p:nvPr/>
        </p:nvSpPr>
        <p:spPr>
          <a:xfrm>
            <a:off x="7187184" y="2011680"/>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件 数</a:t>
            </a:r>
            <a:endParaRPr lang="en-US" sz="1050" dirty="0"/>
          </a:p>
        </p:txBody>
      </p:sp>
      <p:sp>
        <p:nvSpPr>
          <p:cNvPr id="13" name="Text 11"/>
          <p:cNvSpPr txBox="1"/>
          <p:nvPr/>
        </p:nvSpPr>
        <p:spPr>
          <a:xfrm>
            <a:off x="7187184" y="2276856"/>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2025年4〜6月 合計 ◯◯件 → 2026年4〜6月 合計 ◯◯件</a:t>
            </a:r>
            <a:endParaRPr lang="en-US" sz="1150" dirty="0"/>
          </a:p>
        </p:txBody>
      </p:sp>
      <p:sp>
        <p:nvSpPr>
          <p:cNvPr id="14" name="Shape 12"/>
          <p:cNvSpPr/>
          <p:nvPr/>
        </p:nvSpPr>
        <p:spPr>
          <a:xfrm>
            <a:off x="6967728" y="2999232"/>
            <a:ext cx="4581144" cy="960120"/>
          </a:xfrm>
          <a:prstGeom prst="roundRect">
            <a:avLst>
              <a:gd name="adj" fmla="val 4762"/>
            </a:avLst>
          </a:prstGeom>
          <a:solidFill>
            <a:srgbClr val="F8EBE1"/>
          </a:solidFill>
          <a:ln w="15875">
            <a:solidFill>
              <a:srgbClr val="D9A97F"/>
            </a:solidFill>
            <a:prstDash val="dash"/>
          </a:ln>
        </p:spPr>
      </p:sp>
      <p:sp>
        <p:nvSpPr>
          <p:cNvPr id="15" name="Text 13"/>
          <p:cNvSpPr txBox="1"/>
          <p:nvPr/>
        </p:nvSpPr>
        <p:spPr>
          <a:xfrm>
            <a:off x="7187184" y="313639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変 化</a:t>
            </a:r>
            <a:endParaRPr lang="en-US" sz="1050" dirty="0"/>
          </a:p>
        </p:txBody>
      </p:sp>
      <p:sp>
        <p:nvSpPr>
          <p:cNvPr id="16" name="Text 14"/>
          <p:cNvSpPr txBox="1"/>
          <p:nvPr/>
        </p:nvSpPr>
        <p:spPr>
          <a:xfrm>
            <a:off x="7187184" y="3401568"/>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1年間で ＋◯◯件（＋◯◯％）</a:t>
            </a:r>
            <a:endParaRPr lang="en-US" sz="1150" dirty="0"/>
          </a:p>
        </p:txBody>
      </p:sp>
      <p:sp>
        <p:nvSpPr>
          <p:cNvPr id="17" name="Shape 15"/>
          <p:cNvSpPr/>
          <p:nvPr/>
        </p:nvSpPr>
        <p:spPr>
          <a:xfrm>
            <a:off x="6967728" y="4123944"/>
            <a:ext cx="4581144" cy="950976"/>
          </a:xfrm>
          <a:prstGeom prst="roundRect">
            <a:avLst>
              <a:gd name="adj" fmla="val 4808"/>
            </a:avLst>
          </a:prstGeom>
          <a:solidFill>
            <a:srgbClr val="F8EBE1"/>
          </a:solidFill>
          <a:ln w="15875">
            <a:solidFill>
              <a:srgbClr val="D9A97F"/>
            </a:solidFill>
            <a:prstDash val="dash"/>
          </a:ln>
        </p:spPr>
      </p:sp>
      <p:sp>
        <p:nvSpPr>
          <p:cNvPr id="18" name="Text 16"/>
          <p:cNvSpPr txBox="1"/>
          <p:nvPr/>
        </p:nvSpPr>
        <p:spPr>
          <a:xfrm>
            <a:off x="7187184" y="4261104"/>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月 別 の 傾 向</a:t>
            </a:r>
            <a:endParaRPr lang="en-US" sz="1050" dirty="0"/>
          </a:p>
        </p:txBody>
      </p:sp>
      <p:sp>
        <p:nvSpPr>
          <p:cNvPr id="19" name="Text 17"/>
          <p:cNvSpPr txBox="1"/>
          <p:nvPr/>
        </p:nvSpPr>
        <p:spPr>
          <a:xfrm>
            <a:off x="7187184" y="4526280"/>
            <a:ext cx="4142232" cy="420624"/>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4月・5月・6月それぞれ増えているか／特に伸びた月はどこか</a:t>
            </a:r>
            <a:endParaRPr lang="en-US" sz="1150" dirty="0"/>
          </a:p>
        </p:txBody>
      </p:sp>
      <p:sp>
        <p:nvSpPr>
          <p:cNvPr id="20" name="Shape 18"/>
          <p:cNvSpPr/>
          <p:nvPr/>
        </p:nvSpPr>
        <p:spPr>
          <a:xfrm>
            <a:off x="640080" y="5349240"/>
            <a:ext cx="10911535" cy="621792"/>
          </a:xfrm>
          <a:prstGeom prst="roundRect">
            <a:avLst>
              <a:gd name="adj" fmla="val 7353"/>
            </a:avLst>
          </a:prstGeom>
          <a:solidFill>
            <a:srgbClr val="F3F6F7"/>
          </a:solidFill>
          <a:ln w="12700">
            <a:solidFill>
              <a:srgbClr val="F3F6F7"/>
            </a:solidFill>
            <a:prstDash val="solid"/>
          </a:ln>
        </p:spPr>
      </p:sp>
      <p:sp>
        <p:nvSpPr>
          <p:cNvPr id="21" name="Text 19"/>
          <p:cNvSpPr txBox="1"/>
          <p:nvPr/>
        </p:nvSpPr>
        <p:spPr>
          <a:xfrm>
            <a:off x="914400" y="5349240"/>
            <a:ext cx="10362895" cy="621792"/>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ただし件数の増加だけでは、取引そのものが増えた可能性を否定できない</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07</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結 果 ②</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ATMでIBに代替できる取引は減少していた</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IBへ移っているのかどうかを判断するため、ATM側の同種の取引も確認</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07</a:t>
            </a:r>
            <a:endParaRPr lang="en-US" sz="1000" dirty="0"/>
          </a:p>
        </p:txBody>
      </p:sp>
      <p:sp>
        <p:nvSpPr>
          <p:cNvPr id="8" name="Shape 6"/>
          <p:cNvSpPr/>
          <p:nvPr/>
        </p:nvSpPr>
        <p:spPr>
          <a:xfrm>
            <a:off x="640080" y="1874520"/>
            <a:ext cx="5989320" cy="3200400"/>
          </a:xfrm>
          <a:prstGeom prst="roundRect">
            <a:avLst>
              <a:gd name="adj" fmla="val 1429"/>
            </a:avLst>
          </a:prstGeom>
          <a:solidFill>
            <a:srgbClr val="F3F6F7"/>
          </a:solidFill>
          <a:ln w="15875">
            <a:solidFill>
              <a:srgbClr val="BFCCD1"/>
            </a:solidFill>
            <a:prstDash val="dash"/>
          </a:ln>
        </p:spPr>
      </p:sp>
      <p:sp>
        <p:nvSpPr>
          <p:cNvPr id="9" name="Text 7"/>
          <p:cNvSpPr txBox="1"/>
          <p:nvPr/>
        </p:nvSpPr>
        <p:spPr>
          <a:xfrm>
            <a:off x="640080" y="3090672"/>
            <a:ext cx="598932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10" name="Text 8"/>
          <p:cNvSpPr txBox="1"/>
          <p:nvPr/>
        </p:nvSpPr>
        <p:spPr>
          <a:xfrm>
            <a:off x="914400" y="3438144"/>
            <a:ext cx="544068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ATMでのIB代替可能な取引の件数（2025年4〜6月 / 2026年4〜6月）</a:t>
            </a:r>
            <a:endParaRPr lang="en-US" sz="1100" dirty="0"/>
          </a:p>
        </p:txBody>
      </p:sp>
      <p:sp>
        <p:nvSpPr>
          <p:cNvPr id="11" name="Shape 9"/>
          <p:cNvSpPr/>
          <p:nvPr/>
        </p:nvSpPr>
        <p:spPr>
          <a:xfrm>
            <a:off x="6967728" y="1874520"/>
            <a:ext cx="4581144" cy="960120"/>
          </a:xfrm>
          <a:prstGeom prst="roundRect">
            <a:avLst>
              <a:gd name="adj" fmla="val 4762"/>
            </a:avLst>
          </a:prstGeom>
          <a:solidFill>
            <a:srgbClr val="F3F6F7"/>
          </a:solidFill>
          <a:ln w="9525">
            <a:solidFill>
              <a:srgbClr val="F3F6F7"/>
            </a:solidFill>
            <a:prstDash val="solid"/>
          </a:ln>
        </p:spPr>
      </p:sp>
      <p:sp>
        <p:nvSpPr>
          <p:cNvPr id="12" name="Text 10"/>
          <p:cNvSpPr txBox="1"/>
          <p:nvPr/>
        </p:nvSpPr>
        <p:spPr>
          <a:xfrm>
            <a:off x="7223760" y="2011680"/>
            <a:ext cx="1828800" cy="237744"/>
          </a:xfrm>
          <a:prstGeom prst="rect">
            <a:avLst/>
          </a:prstGeom>
          <a:noFill/>
          <a:ln/>
        </p:spPr>
        <p:txBody>
          <a:bodyPr wrap="square" lIns="0" tIns="0" rIns="0" bIns="0" rtlCol="0" anchor="ctr"/>
          <a:lstStyle/>
          <a:p>
            <a:pPr indent="0" marL="0">
              <a:buNone/>
            </a:pPr>
            <a:r>
              <a:rPr lang="en-US" sz="1000" b="1" spc="100" kern="0" dirty="0">
                <a:solidFill>
                  <a:srgbClr val="8497A0"/>
                </a:solidFill>
                <a:latin typeface="Meiryo" pitchFamily="34" charset="0"/>
                <a:ea typeface="Meiryo" pitchFamily="34" charset="-122"/>
                <a:cs typeface="Meiryo" pitchFamily="34" charset="-120"/>
              </a:rPr>
              <a:t>対 象</a:t>
            </a:r>
            <a:endParaRPr lang="en-US" sz="1000" dirty="0"/>
          </a:p>
        </p:txBody>
      </p:sp>
      <p:sp>
        <p:nvSpPr>
          <p:cNvPr id="13" name="Text 11"/>
          <p:cNvSpPr txBox="1"/>
          <p:nvPr/>
        </p:nvSpPr>
        <p:spPr>
          <a:xfrm>
            <a:off x="7223760" y="2249424"/>
            <a:ext cx="4069080" cy="502920"/>
          </a:xfrm>
          <a:prstGeom prst="rect">
            <a:avLst/>
          </a:prstGeom>
          <a:noFill/>
          <a:ln/>
        </p:spPr>
        <p:txBody>
          <a:bodyPr wrap="square" lIns="0" tIns="0" rIns="0" bIns="0" rtlCol="0" anchor="ctr"/>
          <a:lstStyle/>
          <a:p>
            <a:pPr indent="0" marL="0">
              <a:lnSpc>
                <a:spcPts val="1700"/>
              </a:lnSpc>
              <a:buNone/>
            </a:pPr>
            <a:r>
              <a:rPr lang="en-US" sz="1200" dirty="0">
                <a:solidFill>
                  <a:srgbClr val="1A2B33"/>
                </a:solidFill>
                <a:latin typeface="Meiryo" pitchFamily="34" charset="0"/>
                <a:ea typeface="Meiryo" pitchFamily="34" charset="-122"/>
                <a:cs typeface="Meiryo" pitchFamily="34" charset="-120"/>
              </a:rPr>
              <a:t>ATMでの取引のうち、IBでも行えるもの</a:t>
            </a:r>
            <a:endParaRPr lang="en-US" sz="1200" dirty="0"/>
          </a:p>
          <a:p>
            <a:pPr indent="0" marL="0">
              <a:lnSpc>
                <a:spcPts val="1700"/>
              </a:lnSpc>
              <a:buNone/>
            </a:pPr>
            <a:r>
              <a:rPr lang="en-US" sz="1200" dirty="0">
                <a:solidFill>
                  <a:srgbClr val="1A2B33"/>
                </a:solidFill>
                <a:latin typeface="Meiryo" pitchFamily="34" charset="0"/>
                <a:ea typeface="Meiryo" pitchFamily="34" charset="-122"/>
                <a:cs typeface="Meiryo" pitchFamily="34" charset="-120"/>
              </a:rPr>
              <a:t>（振込・振替 など）</a:t>
            </a:r>
            <a:endParaRPr lang="en-US" sz="1200" dirty="0"/>
          </a:p>
        </p:txBody>
      </p:sp>
      <p:sp>
        <p:nvSpPr>
          <p:cNvPr id="14" name="Shape 12"/>
          <p:cNvSpPr/>
          <p:nvPr/>
        </p:nvSpPr>
        <p:spPr>
          <a:xfrm>
            <a:off x="6967728" y="2999232"/>
            <a:ext cx="4581144" cy="960120"/>
          </a:xfrm>
          <a:prstGeom prst="roundRect">
            <a:avLst>
              <a:gd name="adj" fmla="val 4762"/>
            </a:avLst>
          </a:prstGeom>
          <a:solidFill>
            <a:srgbClr val="F8EBE1"/>
          </a:solidFill>
          <a:ln w="15875">
            <a:solidFill>
              <a:srgbClr val="D9A97F"/>
            </a:solidFill>
            <a:prstDash val="dash"/>
          </a:ln>
        </p:spPr>
      </p:sp>
      <p:sp>
        <p:nvSpPr>
          <p:cNvPr id="15" name="Text 13"/>
          <p:cNvSpPr txBox="1"/>
          <p:nvPr/>
        </p:nvSpPr>
        <p:spPr>
          <a:xfrm>
            <a:off x="7187184" y="313639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件 数</a:t>
            </a:r>
            <a:endParaRPr lang="en-US" sz="1050" dirty="0"/>
          </a:p>
        </p:txBody>
      </p:sp>
      <p:sp>
        <p:nvSpPr>
          <p:cNvPr id="16" name="Text 14"/>
          <p:cNvSpPr txBox="1"/>
          <p:nvPr/>
        </p:nvSpPr>
        <p:spPr>
          <a:xfrm>
            <a:off x="7187184" y="3401568"/>
            <a:ext cx="4142232" cy="42976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2025年4〜6月 合計 ◯◯件 → 2026年4〜6月 合計 ◯◯件</a:t>
            </a:r>
            <a:endParaRPr lang="en-US" sz="1150" dirty="0"/>
          </a:p>
        </p:txBody>
      </p:sp>
      <p:sp>
        <p:nvSpPr>
          <p:cNvPr id="17" name="Shape 15"/>
          <p:cNvSpPr/>
          <p:nvPr/>
        </p:nvSpPr>
        <p:spPr>
          <a:xfrm>
            <a:off x="6967728" y="4123944"/>
            <a:ext cx="4581144" cy="950976"/>
          </a:xfrm>
          <a:prstGeom prst="roundRect">
            <a:avLst>
              <a:gd name="adj" fmla="val 4808"/>
            </a:avLst>
          </a:prstGeom>
          <a:solidFill>
            <a:srgbClr val="F8EBE1"/>
          </a:solidFill>
          <a:ln w="15875">
            <a:solidFill>
              <a:srgbClr val="D9A97F"/>
            </a:solidFill>
            <a:prstDash val="dash"/>
          </a:ln>
        </p:spPr>
      </p:sp>
      <p:sp>
        <p:nvSpPr>
          <p:cNvPr id="18" name="Text 16"/>
          <p:cNvSpPr txBox="1"/>
          <p:nvPr/>
        </p:nvSpPr>
        <p:spPr>
          <a:xfrm>
            <a:off x="7187184" y="4261104"/>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変 化</a:t>
            </a:r>
            <a:endParaRPr lang="en-US" sz="1050" dirty="0"/>
          </a:p>
        </p:txBody>
      </p:sp>
      <p:sp>
        <p:nvSpPr>
          <p:cNvPr id="19" name="Text 17"/>
          <p:cNvSpPr txBox="1"/>
          <p:nvPr/>
        </p:nvSpPr>
        <p:spPr>
          <a:xfrm>
            <a:off x="7187184" y="4526280"/>
            <a:ext cx="4142232" cy="420624"/>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1年間で −◯◯件（−◯◯％）</a:t>
            </a:r>
            <a:endParaRPr lang="en-US" sz="1150" dirty="0"/>
          </a:p>
        </p:txBody>
      </p:sp>
      <p:sp>
        <p:nvSpPr>
          <p:cNvPr id="20" name="Shape 18"/>
          <p:cNvSpPr/>
          <p:nvPr/>
        </p:nvSpPr>
        <p:spPr>
          <a:xfrm>
            <a:off x="640080" y="5349240"/>
            <a:ext cx="10911535" cy="621792"/>
          </a:xfrm>
          <a:prstGeom prst="roundRect">
            <a:avLst>
              <a:gd name="adj" fmla="val 7353"/>
            </a:avLst>
          </a:prstGeom>
          <a:solidFill>
            <a:srgbClr val="E2EEF0"/>
          </a:solidFill>
          <a:ln w="12700">
            <a:solidFill>
              <a:srgbClr val="E2EEF0"/>
            </a:solidFill>
            <a:prstDash val="solid"/>
          </a:ln>
        </p:spPr>
      </p:sp>
      <p:sp>
        <p:nvSpPr>
          <p:cNvPr id="21" name="Text 19"/>
          <p:cNvSpPr txBox="1"/>
          <p:nvPr/>
        </p:nvSpPr>
        <p:spPr>
          <a:xfrm>
            <a:off x="914400" y="5349240"/>
            <a:ext cx="10362895" cy="621792"/>
          </a:xfrm>
          <a:prstGeom prst="rect">
            <a:avLst/>
          </a:prstGeom>
          <a:noFill/>
          <a:ln/>
        </p:spPr>
        <p:txBody>
          <a:bodyPr wrap="square" lIns="0" tIns="0" rIns="0" bIns="0" rtlCol="0" anchor="ctr"/>
          <a:lstStyle/>
          <a:p>
            <a:pPr algn="ctr" indent="0" marL="0">
              <a:buNone/>
            </a:pPr>
            <a:r>
              <a:rPr lang="en-US" sz="1400" b="1" dirty="0">
                <a:solidFill>
                  <a:srgbClr val="0F5A6B"/>
                </a:solidFill>
                <a:latin typeface="Meiryo" pitchFamily="34" charset="0"/>
                <a:ea typeface="Meiryo" pitchFamily="34" charset="-122"/>
                <a:cs typeface="Meiryo" pitchFamily="34" charset="-120"/>
              </a:rPr>
              <a:t>IBは増加、ATM側は減少　→　同じ取引がIBへ移りつつあると読める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08</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考 察</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どの年代で利用が広がったのか</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全体の動きが分かった次に知りたくなるのは「誰が使うようになったのか」。今回は年代を5つに分けて確認</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08</a:t>
            </a:r>
            <a:endParaRPr lang="en-US" sz="1000" dirty="0"/>
          </a:p>
        </p:txBody>
      </p:sp>
      <p:sp>
        <p:nvSpPr>
          <p:cNvPr id="8" name="Shape 6"/>
          <p:cNvSpPr/>
          <p:nvPr/>
        </p:nvSpPr>
        <p:spPr>
          <a:xfrm>
            <a:off x="640080" y="1874520"/>
            <a:ext cx="1993392" cy="676656"/>
          </a:xfrm>
          <a:prstGeom prst="roundRect">
            <a:avLst>
              <a:gd name="adj" fmla="val 6757"/>
            </a:avLst>
          </a:prstGeom>
          <a:solidFill>
            <a:srgbClr val="F3F6F7"/>
          </a:solidFill>
          <a:ln w="9525">
            <a:solidFill>
              <a:srgbClr val="F3F6F7"/>
            </a:solidFill>
            <a:prstDash val="solid"/>
          </a:ln>
        </p:spPr>
      </p:sp>
      <p:sp>
        <p:nvSpPr>
          <p:cNvPr id="9" name="Text 7"/>
          <p:cNvSpPr txBox="1"/>
          <p:nvPr/>
        </p:nvSpPr>
        <p:spPr>
          <a:xfrm>
            <a:off x="640080"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未成年</a:t>
            </a:r>
            <a:endParaRPr lang="en-US" sz="1250" dirty="0"/>
          </a:p>
        </p:txBody>
      </p:sp>
      <p:sp>
        <p:nvSpPr>
          <p:cNvPr id="10" name="Text 8"/>
          <p:cNvSpPr txBox="1"/>
          <p:nvPr/>
        </p:nvSpPr>
        <p:spPr>
          <a:xfrm>
            <a:off x="640080"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0〜17歳</a:t>
            </a:r>
            <a:endParaRPr lang="en-US" sz="1100" dirty="0"/>
          </a:p>
        </p:txBody>
      </p:sp>
      <p:sp>
        <p:nvSpPr>
          <p:cNvPr id="11" name="Shape 9"/>
          <p:cNvSpPr/>
          <p:nvPr/>
        </p:nvSpPr>
        <p:spPr>
          <a:xfrm>
            <a:off x="2862072" y="1874520"/>
            <a:ext cx="1993392" cy="676656"/>
          </a:xfrm>
          <a:prstGeom prst="roundRect">
            <a:avLst>
              <a:gd name="adj" fmla="val 6757"/>
            </a:avLst>
          </a:prstGeom>
          <a:solidFill>
            <a:srgbClr val="F3F6F7"/>
          </a:solidFill>
          <a:ln w="9525">
            <a:solidFill>
              <a:srgbClr val="F3F6F7"/>
            </a:solidFill>
            <a:prstDash val="solid"/>
          </a:ln>
        </p:spPr>
      </p:sp>
      <p:sp>
        <p:nvSpPr>
          <p:cNvPr id="12" name="Text 10"/>
          <p:cNvSpPr txBox="1"/>
          <p:nvPr/>
        </p:nvSpPr>
        <p:spPr>
          <a:xfrm>
            <a:off x="2862072"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若手成人</a:t>
            </a:r>
            <a:endParaRPr lang="en-US" sz="1250" dirty="0"/>
          </a:p>
        </p:txBody>
      </p:sp>
      <p:sp>
        <p:nvSpPr>
          <p:cNvPr id="13" name="Text 11"/>
          <p:cNvSpPr txBox="1"/>
          <p:nvPr/>
        </p:nvSpPr>
        <p:spPr>
          <a:xfrm>
            <a:off x="2862072"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18〜29歳</a:t>
            </a:r>
            <a:endParaRPr lang="en-US" sz="1100" dirty="0"/>
          </a:p>
        </p:txBody>
      </p:sp>
      <p:sp>
        <p:nvSpPr>
          <p:cNvPr id="14" name="Shape 12"/>
          <p:cNvSpPr/>
          <p:nvPr/>
        </p:nvSpPr>
        <p:spPr>
          <a:xfrm>
            <a:off x="5084064" y="1874520"/>
            <a:ext cx="1993392" cy="676656"/>
          </a:xfrm>
          <a:prstGeom prst="roundRect">
            <a:avLst>
              <a:gd name="adj" fmla="val 6757"/>
            </a:avLst>
          </a:prstGeom>
          <a:solidFill>
            <a:srgbClr val="F3F6F7"/>
          </a:solidFill>
          <a:ln w="9525">
            <a:solidFill>
              <a:srgbClr val="F3F6F7"/>
            </a:solidFill>
            <a:prstDash val="solid"/>
          </a:ln>
        </p:spPr>
      </p:sp>
      <p:sp>
        <p:nvSpPr>
          <p:cNvPr id="15" name="Text 13"/>
          <p:cNvSpPr txBox="1"/>
          <p:nvPr/>
        </p:nvSpPr>
        <p:spPr>
          <a:xfrm>
            <a:off x="5084064"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働き手①</a:t>
            </a:r>
            <a:endParaRPr lang="en-US" sz="1250" dirty="0"/>
          </a:p>
        </p:txBody>
      </p:sp>
      <p:sp>
        <p:nvSpPr>
          <p:cNvPr id="16" name="Text 14"/>
          <p:cNvSpPr txBox="1"/>
          <p:nvPr/>
        </p:nvSpPr>
        <p:spPr>
          <a:xfrm>
            <a:off x="5084064"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30〜44歳</a:t>
            </a:r>
            <a:endParaRPr lang="en-US" sz="1100" dirty="0"/>
          </a:p>
        </p:txBody>
      </p:sp>
      <p:sp>
        <p:nvSpPr>
          <p:cNvPr id="17" name="Shape 15"/>
          <p:cNvSpPr/>
          <p:nvPr/>
        </p:nvSpPr>
        <p:spPr>
          <a:xfrm>
            <a:off x="7306056" y="1874520"/>
            <a:ext cx="1993392" cy="676656"/>
          </a:xfrm>
          <a:prstGeom prst="roundRect">
            <a:avLst>
              <a:gd name="adj" fmla="val 6757"/>
            </a:avLst>
          </a:prstGeom>
          <a:solidFill>
            <a:srgbClr val="F3F6F7"/>
          </a:solidFill>
          <a:ln w="9525">
            <a:solidFill>
              <a:srgbClr val="F3F6F7"/>
            </a:solidFill>
            <a:prstDash val="solid"/>
          </a:ln>
        </p:spPr>
      </p:sp>
      <p:sp>
        <p:nvSpPr>
          <p:cNvPr id="18" name="Text 16"/>
          <p:cNvSpPr txBox="1"/>
          <p:nvPr/>
        </p:nvSpPr>
        <p:spPr>
          <a:xfrm>
            <a:off x="7306056"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働き手②</a:t>
            </a:r>
            <a:endParaRPr lang="en-US" sz="1250" dirty="0"/>
          </a:p>
        </p:txBody>
      </p:sp>
      <p:sp>
        <p:nvSpPr>
          <p:cNvPr id="19" name="Text 17"/>
          <p:cNvSpPr txBox="1"/>
          <p:nvPr/>
        </p:nvSpPr>
        <p:spPr>
          <a:xfrm>
            <a:off x="7306056"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45〜64歳</a:t>
            </a:r>
            <a:endParaRPr lang="en-US" sz="1100" dirty="0"/>
          </a:p>
        </p:txBody>
      </p:sp>
      <p:sp>
        <p:nvSpPr>
          <p:cNvPr id="20" name="Shape 18"/>
          <p:cNvSpPr/>
          <p:nvPr/>
        </p:nvSpPr>
        <p:spPr>
          <a:xfrm>
            <a:off x="9528048" y="1874520"/>
            <a:ext cx="1993392" cy="676656"/>
          </a:xfrm>
          <a:prstGeom prst="roundRect">
            <a:avLst>
              <a:gd name="adj" fmla="val 6757"/>
            </a:avLst>
          </a:prstGeom>
          <a:solidFill>
            <a:srgbClr val="F3F6F7"/>
          </a:solidFill>
          <a:ln w="9525">
            <a:solidFill>
              <a:srgbClr val="F3F6F7"/>
            </a:solidFill>
            <a:prstDash val="solid"/>
          </a:ln>
        </p:spPr>
      </p:sp>
      <p:sp>
        <p:nvSpPr>
          <p:cNvPr id="21" name="Text 19"/>
          <p:cNvSpPr txBox="1"/>
          <p:nvPr/>
        </p:nvSpPr>
        <p:spPr>
          <a:xfrm>
            <a:off x="9528048" y="1965960"/>
            <a:ext cx="1993392" cy="256032"/>
          </a:xfrm>
          <a:prstGeom prst="rect">
            <a:avLst/>
          </a:prstGeom>
          <a:noFill/>
          <a:ln/>
        </p:spPr>
        <p:txBody>
          <a:bodyPr wrap="square" lIns="0" tIns="0" rIns="0" bIns="0" rtlCol="0" anchor="ctr"/>
          <a:lstStyle/>
          <a:p>
            <a:pPr algn="ctr" indent="0" marL="0">
              <a:buNone/>
            </a:pPr>
            <a:r>
              <a:rPr lang="en-US" sz="1250" b="1" dirty="0">
                <a:solidFill>
                  <a:srgbClr val="1A2B33"/>
                </a:solidFill>
                <a:latin typeface="Meiryo" pitchFamily="34" charset="0"/>
                <a:ea typeface="Meiryo" pitchFamily="34" charset="-122"/>
                <a:cs typeface="Meiryo" pitchFamily="34" charset="-120"/>
              </a:rPr>
              <a:t>高齢者</a:t>
            </a:r>
            <a:endParaRPr lang="en-US" sz="1250" dirty="0"/>
          </a:p>
        </p:txBody>
      </p:sp>
      <p:sp>
        <p:nvSpPr>
          <p:cNvPr id="22" name="Text 20"/>
          <p:cNvSpPr txBox="1"/>
          <p:nvPr/>
        </p:nvSpPr>
        <p:spPr>
          <a:xfrm>
            <a:off x="9528048" y="2240280"/>
            <a:ext cx="1993392" cy="237744"/>
          </a:xfrm>
          <a:prstGeom prst="rect">
            <a:avLst/>
          </a:prstGeom>
          <a:noFill/>
          <a:ln/>
        </p:spPr>
        <p:txBody>
          <a:bodyPr wrap="square" lIns="0" tIns="0" rIns="0" bIns="0" rtlCol="0" anchor="ctr"/>
          <a:lstStyle/>
          <a:p>
            <a:pPr algn="ctr" indent="0" marL="0">
              <a:buNone/>
            </a:pPr>
            <a:r>
              <a:rPr lang="en-US" sz="1100" dirty="0">
                <a:solidFill>
                  <a:srgbClr val="8497A0"/>
                </a:solidFill>
                <a:latin typeface="Meiryo" pitchFamily="34" charset="0"/>
                <a:ea typeface="Meiryo" pitchFamily="34" charset="-122"/>
                <a:cs typeface="Meiryo" pitchFamily="34" charset="-120"/>
              </a:rPr>
              <a:t>65歳以上</a:t>
            </a:r>
            <a:endParaRPr lang="en-US" sz="1100" dirty="0"/>
          </a:p>
        </p:txBody>
      </p:sp>
      <p:sp>
        <p:nvSpPr>
          <p:cNvPr id="23" name="Shape 21"/>
          <p:cNvSpPr/>
          <p:nvPr/>
        </p:nvSpPr>
        <p:spPr>
          <a:xfrm>
            <a:off x="640080" y="2724912"/>
            <a:ext cx="5989320" cy="2331720"/>
          </a:xfrm>
          <a:prstGeom prst="roundRect">
            <a:avLst>
              <a:gd name="adj" fmla="val 1961"/>
            </a:avLst>
          </a:prstGeom>
          <a:solidFill>
            <a:srgbClr val="F3F6F7"/>
          </a:solidFill>
          <a:ln w="15875">
            <a:solidFill>
              <a:srgbClr val="BFCCD1"/>
            </a:solidFill>
            <a:prstDash val="dash"/>
          </a:ln>
        </p:spPr>
      </p:sp>
      <p:sp>
        <p:nvSpPr>
          <p:cNvPr id="24" name="Text 22"/>
          <p:cNvSpPr txBox="1"/>
          <p:nvPr/>
        </p:nvSpPr>
        <p:spPr>
          <a:xfrm>
            <a:off x="640080" y="3506724"/>
            <a:ext cx="5989320" cy="292608"/>
          </a:xfrm>
          <a:prstGeom prst="rect">
            <a:avLst/>
          </a:prstGeom>
          <a:noFill/>
          <a:ln/>
        </p:spPr>
        <p:txBody>
          <a:bodyPr wrap="square" lIns="0" tIns="0" rIns="0" bIns="0" rtlCol="0" anchor="ctr"/>
          <a:lstStyle/>
          <a:p>
            <a:pPr algn="ctr" indent="0" marL="0">
              <a:buNone/>
            </a:pPr>
            <a:r>
              <a:rPr lang="en-US" sz="1300" b="1" dirty="0">
                <a:solidFill>
                  <a:srgbClr val="0F5A6B"/>
                </a:solidFill>
                <a:latin typeface="Meiryo" pitchFamily="34" charset="0"/>
                <a:ea typeface="Meiryo" pitchFamily="34" charset="-122"/>
                <a:cs typeface="Meiryo" pitchFamily="34" charset="-120"/>
              </a:rPr>
              <a:t>グラフ貼付エリア</a:t>
            </a:r>
            <a:endParaRPr lang="en-US" sz="1300" dirty="0"/>
          </a:p>
        </p:txBody>
      </p:sp>
      <p:sp>
        <p:nvSpPr>
          <p:cNvPr id="25" name="Text 23"/>
          <p:cNvSpPr txBox="1"/>
          <p:nvPr/>
        </p:nvSpPr>
        <p:spPr>
          <a:xfrm>
            <a:off x="914400" y="3854196"/>
            <a:ext cx="5440680" cy="685800"/>
          </a:xfrm>
          <a:prstGeom prst="rect">
            <a:avLst/>
          </a:prstGeom>
          <a:noFill/>
          <a:ln/>
        </p:spPr>
        <p:txBody>
          <a:bodyPr wrap="square" lIns="0" tIns="0" rIns="0" bIns="0" rtlCol="0" anchor="ctr"/>
          <a:lstStyle/>
          <a:p>
            <a:pPr algn="ctr" indent="0" marL="0">
              <a:lnSpc>
                <a:spcPts val="1700"/>
              </a:lnSpc>
              <a:buNone/>
            </a:pPr>
            <a:r>
              <a:rPr lang="en-US" sz="1100" dirty="0">
                <a:solidFill>
                  <a:srgbClr val="8497A0"/>
                </a:solidFill>
                <a:latin typeface="Meiryo" pitchFamily="34" charset="0"/>
                <a:ea typeface="Meiryo" pitchFamily="34" charset="-122"/>
                <a:cs typeface="Meiryo" pitchFamily="34" charset="-120"/>
              </a:rPr>
              <a:t>年代別 IB利用件数の増加率（棒グラフ）</a:t>
            </a:r>
            <a:endParaRPr lang="en-US" sz="1100" dirty="0"/>
          </a:p>
        </p:txBody>
      </p:sp>
      <p:sp>
        <p:nvSpPr>
          <p:cNvPr id="26" name="Shape 24"/>
          <p:cNvSpPr/>
          <p:nvPr/>
        </p:nvSpPr>
        <p:spPr>
          <a:xfrm>
            <a:off x="6967728" y="2724912"/>
            <a:ext cx="4581144" cy="868680"/>
          </a:xfrm>
          <a:prstGeom prst="roundRect">
            <a:avLst>
              <a:gd name="adj" fmla="val 5263"/>
            </a:avLst>
          </a:prstGeom>
          <a:solidFill>
            <a:srgbClr val="F8EBE1"/>
          </a:solidFill>
          <a:ln w="15875">
            <a:solidFill>
              <a:srgbClr val="D9A97F"/>
            </a:solidFill>
            <a:prstDash val="dash"/>
          </a:ln>
        </p:spPr>
      </p:sp>
      <p:sp>
        <p:nvSpPr>
          <p:cNvPr id="27" name="Text 25"/>
          <p:cNvSpPr txBox="1"/>
          <p:nvPr/>
        </p:nvSpPr>
        <p:spPr>
          <a:xfrm>
            <a:off x="7187184" y="2862072"/>
            <a:ext cx="4142232" cy="237744"/>
          </a:xfrm>
          <a:prstGeom prst="rect">
            <a:avLst/>
          </a:prstGeom>
          <a:noFill/>
          <a:ln/>
        </p:spPr>
        <p:txBody>
          <a:bodyPr wrap="square" lIns="0" tIns="0" rIns="0" bIns="0" rtlCol="0" anchor="ctr"/>
          <a:lstStyle/>
          <a:p>
            <a:pPr indent="0" marL="0">
              <a:buNone/>
            </a:pPr>
            <a:r>
              <a:rPr lang="en-US" sz="1050" b="1" spc="80" kern="0" dirty="0">
                <a:solidFill>
                  <a:srgbClr val="B4551F"/>
                </a:solidFill>
                <a:latin typeface="Meiryo" pitchFamily="34" charset="0"/>
                <a:ea typeface="Meiryo" pitchFamily="34" charset="-122"/>
                <a:cs typeface="Meiryo" pitchFamily="34" charset="-120"/>
              </a:rPr>
              <a:t>読 み 取 り</a:t>
            </a:r>
            <a:endParaRPr lang="en-US" sz="1050" dirty="0"/>
          </a:p>
        </p:txBody>
      </p:sp>
      <p:sp>
        <p:nvSpPr>
          <p:cNvPr id="28" name="Text 26"/>
          <p:cNvSpPr txBox="1"/>
          <p:nvPr/>
        </p:nvSpPr>
        <p:spPr>
          <a:xfrm>
            <a:off x="7187184" y="3127248"/>
            <a:ext cx="4142232" cy="338328"/>
          </a:xfrm>
          <a:prstGeom prst="rect">
            <a:avLst/>
          </a:prstGeom>
          <a:noFill/>
          <a:ln/>
        </p:spPr>
        <p:txBody>
          <a:bodyPr wrap="square" lIns="0" tIns="0" rIns="0" bIns="0" rtlCol="0" anchor="ctr"/>
          <a:lstStyle/>
          <a:p>
            <a:pPr indent="0" marL="0">
              <a:lnSpc>
                <a:spcPts val="1700"/>
              </a:lnSpc>
              <a:buNone/>
            </a:pPr>
            <a:r>
              <a:rPr lang="en-US" sz="1150" dirty="0">
                <a:solidFill>
                  <a:srgbClr val="A2795C"/>
                </a:solidFill>
                <a:latin typeface="Meiryo" pitchFamily="34" charset="0"/>
                <a:ea typeface="Meiryo" pitchFamily="34" charset="-122"/>
                <a:cs typeface="Meiryo" pitchFamily="34" charset="-120"/>
              </a:rPr>
              <a:t>どの年代の増加率が最も高かったか／他の年代はどうだったか</a:t>
            </a:r>
            <a:endParaRPr lang="en-US" sz="1150" dirty="0"/>
          </a:p>
        </p:txBody>
      </p:sp>
      <p:sp>
        <p:nvSpPr>
          <p:cNvPr id="29" name="Shape 27"/>
          <p:cNvSpPr/>
          <p:nvPr/>
        </p:nvSpPr>
        <p:spPr>
          <a:xfrm>
            <a:off x="6967728" y="3776472"/>
            <a:ext cx="4581144" cy="1280160"/>
          </a:xfrm>
          <a:prstGeom prst="roundRect">
            <a:avLst>
              <a:gd name="adj" fmla="val 3571"/>
            </a:avLst>
          </a:prstGeom>
          <a:solidFill>
            <a:srgbClr val="E2EEF0"/>
          </a:solidFill>
          <a:ln w="9525">
            <a:solidFill>
              <a:srgbClr val="E2EEF0"/>
            </a:solidFill>
            <a:prstDash val="solid"/>
          </a:ln>
        </p:spPr>
      </p:sp>
      <p:sp>
        <p:nvSpPr>
          <p:cNvPr id="30" name="Text 28"/>
          <p:cNvSpPr txBox="1"/>
          <p:nvPr/>
        </p:nvSpPr>
        <p:spPr>
          <a:xfrm>
            <a:off x="7223760" y="3913632"/>
            <a:ext cx="4069080" cy="237744"/>
          </a:xfrm>
          <a:prstGeom prst="rect">
            <a:avLst/>
          </a:prstGeom>
          <a:noFill/>
          <a:ln/>
        </p:spPr>
        <p:txBody>
          <a:bodyPr wrap="square" lIns="0" tIns="0" rIns="0" bIns="0" rtlCol="0" anchor="ctr"/>
          <a:lstStyle/>
          <a:p>
            <a:pPr indent="0" marL="0">
              <a:buNone/>
            </a:pPr>
            <a:r>
              <a:rPr lang="en-US" sz="1050" b="1" spc="100" kern="0" dirty="0">
                <a:solidFill>
                  <a:srgbClr val="0F5A6B"/>
                </a:solidFill>
                <a:latin typeface="Meiryo" pitchFamily="34" charset="0"/>
                <a:ea typeface="Meiryo" pitchFamily="34" charset="-122"/>
                <a:cs typeface="Meiryo" pitchFamily="34" charset="-120"/>
              </a:rPr>
              <a:t>こ こ か ら 考 え ら れ る 打 ち 手</a:t>
            </a:r>
            <a:endParaRPr lang="en-US" sz="1050" dirty="0"/>
          </a:p>
        </p:txBody>
      </p:sp>
      <p:sp>
        <p:nvSpPr>
          <p:cNvPr id="31" name="Text 29"/>
          <p:cNvSpPr txBox="1"/>
          <p:nvPr/>
        </p:nvSpPr>
        <p:spPr>
          <a:xfrm>
            <a:off x="7223760" y="4169664"/>
            <a:ext cx="4069080" cy="82296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50" dirty="0">
                <a:solidFill>
                  <a:srgbClr val="0F5A6B"/>
                </a:solidFill>
                <a:latin typeface="Meiryo" pitchFamily="34" charset="0"/>
                <a:ea typeface="Meiryo" pitchFamily="34" charset="-122"/>
                <a:cs typeface="Meiryo" pitchFamily="34" charset="-120"/>
              </a:rPr>
              <a:t>伸びが小さい年代には、ATMでの振込・振替の際にIBを案内する</a:t>
            </a:r>
            <a:endParaRPr lang="en-US" sz="1150" dirty="0"/>
          </a:p>
          <a:p>
            <a:pPr marL="342900" indent="-342900">
              <a:lnSpc>
                <a:spcPts val="1600"/>
              </a:lnSpc>
              <a:spcAft>
                <a:spcPts val="600"/>
              </a:spcAft>
              <a:buSzPct val="100000"/>
              <a:buChar char="•"/>
            </a:pPr>
            <a:r>
              <a:rPr lang="en-US" sz="1150" dirty="0">
                <a:solidFill>
                  <a:srgbClr val="0F5A6B"/>
                </a:solidFill>
                <a:latin typeface="Meiryo" pitchFamily="34" charset="0"/>
                <a:ea typeface="Meiryo" pitchFamily="34" charset="-122"/>
                <a:cs typeface="Meiryo" pitchFamily="34" charset="-120"/>
              </a:rPr>
              <a:t>すでに伸びている年代には、扱える手続きの幅を広げる</a:t>
            </a:r>
            <a:endParaRPr lang="en-US" sz="1150" dirty="0"/>
          </a:p>
        </p:txBody>
      </p:sp>
      <p:sp>
        <p:nvSpPr>
          <p:cNvPr id="32" name="Shape 30"/>
          <p:cNvSpPr/>
          <p:nvPr/>
        </p:nvSpPr>
        <p:spPr>
          <a:xfrm>
            <a:off x="640080" y="5285232"/>
            <a:ext cx="10911535" cy="621792"/>
          </a:xfrm>
          <a:prstGeom prst="roundRect">
            <a:avLst>
              <a:gd name="adj" fmla="val 7353"/>
            </a:avLst>
          </a:prstGeom>
          <a:solidFill>
            <a:srgbClr val="F3F6F7"/>
          </a:solidFill>
          <a:ln w="12700">
            <a:solidFill>
              <a:srgbClr val="F3F6F7"/>
            </a:solidFill>
            <a:prstDash val="solid"/>
          </a:ln>
        </p:spPr>
      </p:sp>
      <p:sp>
        <p:nvSpPr>
          <p:cNvPr id="33" name="Text 31"/>
          <p:cNvSpPr txBox="1"/>
          <p:nvPr/>
        </p:nvSpPr>
        <p:spPr>
          <a:xfrm>
            <a:off x="914400" y="5285232"/>
            <a:ext cx="10362895" cy="621792"/>
          </a:xfrm>
          <a:prstGeom prst="rect">
            <a:avLst/>
          </a:prstGeom>
          <a:noFill/>
          <a:ln/>
        </p:spPr>
        <p:txBody>
          <a:bodyPr wrap="square" lIns="0" tIns="0" rIns="0" bIns="0" rtlCol="0" anchor="ctr"/>
          <a:lstStyle/>
          <a:p>
            <a:pPr algn="ctr" indent="0" marL="0">
              <a:buNone/>
            </a:pPr>
            <a:r>
              <a:rPr lang="en-US" sz="1400" b="1" dirty="0">
                <a:solidFill>
                  <a:srgbClr val="1A2B33"/>
                </a:solidFill>
                <a:latin typeface="Meiryo" pitchFamily="34" charset="0"/>
                <a:ea typeface="Meiryo" pitchFamily="34" charset="-122"/>
                <a:cs typeface="Meiryo" pitchFamily="34" charset="-120"/>
              </a:rPr>
              <a:t>年代まで分かると、誰にどう案内するかという具体的な打ち手まで検討できる</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402336" cy="402336"/>
          </a:xfrm>
          <a:prstGeom prst="ellipse">
            <a:avLst/>
          </a:prstGeom>
          <a:solidFill>
            <a:srgbClr val="0F5A6B"/>
          </a:solidFill>
          <a:ln w="12700">
            <a:solidFill>
              <a:srgbClr val="0F5A6B"/>
            </a:solidFill>
            <a:prstDash val="solid"/>
          </a:ln>
        </p:spPr>
      </p:sp>
      <p:sp>
        <p:nvSpPr>
          <p:cNvPr id="3" name="Text 1"/>
          <p:cNvSpPr txBox="1"/>
          <p:nvPr/>
        </p:nvSpPr>
        <p:spPr>
          <a:xfrm>
            <a:off x="640080" y="56692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09</a:t>
            </a:r>
            <a:endParaRPr lang="en-US" sz="1150" dirty="0"/>
          </a:p>
        </p:txBody>
      </p:sp>
      <p:sp>
        <p:nvSpPr>
          <p:cNvPr id="4" name="Text 2"/>
          <p:cNvSpPr txBox="1"/>
          <p:nvPr/>
        </p:nvSpPr>
        <p:spPr>
          <a:xfrm>
            <a:off x="1225296" y="402336"/>
            <a:ext cx="6400800" cy="228600"/>
          </a:xfrm>
          <a:prstGeom prst="rect">
            <a:avLst/>
          </a:prstGeom>
          <a:noFill/>
          <a:ln/>
        </p:spPr>
        <p:txBody>
          <a:bodyPr wrap="square" lIns="0" tIns="0" rIns="0" bIns="0" rtlCol="0" anchor="ctr"/>
          <a:lstStyle/>
          <a:p>
            <a:pPr indent="0" marL="0">
              <a:buNone/>
            </a:pPr>
            <a:r>
              <a:rPr lang="en-US" sz="1050" b="1" spc="150" kern="0" dirty="0">
                <a:solidFill>
                  <a:srgbClr val="0F5A6B"/>
                </a:solidFill>
                <a:latin typeface="Meiryo" pitchFamily="34" charset="0"/>
                <a:ea typeface="Meiryo" pitchFamily="34" charset="-122"/>
                <a:cs typeface="Meiryo" pitchFamily="34" charset="-120"/>
              </a:rPr>
              <a:t>ま と め</a:t>
            </a:r>
            <a:endParaRPr lang="en-US" sz="1050" dirty="0"/>
          </a:p>
        </p:txBody>
      </p:sp>
      <p:sp>
        <p:nvSpPr>
          <p:cNvPr id="5" name="Text 3"/>
          <p:cNvSpPr txBox="1"/>
          <p:nvPr/>
        </p:nvSpPr>
        <p:spPr>
          <a:xfrm>
            <a:off x="1225296" y="603504"/>
            <a:ext cx="10326319" cy="548640"/>
          </a:xfrm>
          <a:prstGeom prst="rect">
            <a:avLst/>
          </a:prstGeom>
          <a:noFill/>
          <a:ln/>
        </p:spPr>
        <p:txBody>
          <a:bodyPr wrap="square" lIns="0" tIns="0" rIns="0" bIns="0" rtlCol="0" anchor="ctr"/>
          <a:lstStyle/>
          <a:p>
            <a:pPr indent="0" marL="0">
              <a:buNone/>
            </a:pPr>
            <a:r>
              <a:rPr lang="en-US" sz="2600" b="1" dirty="0">
                <a:solidFill>
                  <a:srgbClr val="1A2B33"/>
                </a:solidFill>
                <a:latin typeface="Meiryo" pitchFamily="34" charset="0"/>
                <a:ea typeface="Meiryo" pitchFamily="34" charset="-122"/>
                <a:cs typeface="Meiryo" pitchFamily="34" charset="-120"/>
              </a:rPr>
              <a:t>データを次の一手につなげるまで</a:t>
            </a:r>
            <a:endParaRPr lang="en-US" sz="2600" dirty="0"/>
          </a:p>
        </p:txBody>
      </p:sp>
      <p:sp>
        <p:nvSpPr>
          <p:cNvPr id="6" name="Text 4"/>
          <p:cNvSpPr txBox="1"/>
          <p:nvPr/>
        </p:nvSpPr>
        <p:spPr>
          <a:xfrm>
            <a:off x="1225296" y="1170432"/>
            <a:ext cx="10326319" cy="347472"/>
          </a:xfrm>
          <a:prstGeom prst="rect">
            <a:avLst/>
          </a:prstGeom>
          <a:noFill/>
          <a:ln/>
        </p:spPr>
        <p:txBody>
          <a:bodyPr wrap="square" lIns="0" tIns="0" rIns="0" bIns="0" rtlCol="0" anchor="ctr"/>
          <a:lstStyle/>
          <a:p>
            <a:pPr indent="0" marL="0">
              <a:buNone/>
            </a:pPr>
            <a:r>
              <a:rPr lang="en-US" sz="1250" dirty="0">
                <a:solidFill>
                  <a:srgbClr val="8497A0"/>
                </a:solidFill>
                <a:latin typeface="Meiryo" pitchFamily="34" charset="0"/>
                <a:ea typeface="Meiryo" pitchFamily="34" charset="-122"/>
                <a:cs typeface="Meiryo" pitchFamily="34" charset="-120"/>
              </a:rPr>
              <a:t>今回のワークで行ったことを、ひとつの流れにまとめる</a:t>
            </a:r>
            <a:endParaRPr lang="en-US" sz="1250" dirty="0"/>
          </a:p>
        </p:txBody>
      </p:sp>
      <p:sp>
        <p:nvSpPr>
          <p:cNvPr id="7" name="Text 5"/>
          <p:cNvSpPr txBox="1"/>
          <p:nvPr/>
        </p:nvSpPr>
        <p:spPr>
          <a:xfrm>
            <a:off x="11130991" y="6217920"/>
            <a:ext cx="548640" cy="256032"/>
          </a:xfrm>
          <a:prstGeom prst="rect">
            <a:avLst/>
          </a:prstGeom>
          <a:noFill/>
          <a:ln/>
        </p:spPr>
        <p:txBody>
          <a:bodyPr wrap="square" lIns="0" tIns="0" rIns="0" bIns="0" rtlCol="0" anchor="ctr"/>
          <a:lstStyle/>
          <a:p>
            <a:pPr algn="r" indent="0" marL="0">
              <a:buNone/>
            </a:pPr>
            <a:r>
              <a:rPr lang="en-US" sz="1000" spc="100" kern="0" dirty="0">
                <a:solidFill>
                  <a:srgbClr val="8497A0"/>
                </a:solidFill>
                <a:latin typeface="Meiryo" pitchFamily="34" charset="0"/>
                <a:ea typeface="Meiryo" pitchFamily="34" charset="-122"/>
                <a:cs typeface="Meiryo" pitchFamily="34" charset="-120"/>
              </a:rPr>
              <a:t>09</a:t>
            </a:r>
            <a:endParaRPr lang="en-US" sz="1000" dirty="0"/>
          </a:p>
        </p:txBody>
      </p:sp>
      <p:sp>
        <p:nvSpPr>
          <p:cNvPr id="8" name="Shape 6"/>
          <p:cNvSpPr/>
          <p:nvPr/>
        </p:nvSpPr>
        <p:spPr>
          <a:xfrm>
            <a:off x="640080" y="1965960"/>
            <a:ext cx="1929384" cy="2240280"/>
          </a:xfrm>
          <a:prstGeom prst="roundRect">
            <a:avLst>
              <a:gd name="adj" fmla="val 2370"/>
            </a:avLst>
          </a:prstGeom>
          <a:solidFill>
            <a:srgbClr val="F3F6F7"/>
          </a:solidFill>
          <a:ln w="9525">
            <a:solidFill>
              <a:srgbClr val="F3F6F7"/>
            </a:solidFill>
            <a:prstDash val="solid"/>
          </a:ln>
        </p:spPr>
      </p:sp>
      <p:sp>
        <p:nvSpPr>
          <p:cNvPr id="9" name="Text 7"/>
          <p:cNvSpPr txBox="1"/>
          <p:nvPr/>
        </p:nvSpPr>
        <p:spPr>
          <a:xfrm>
            <a:off x="64008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1</a:t>
            </a:r>
            <a:endParaRPr lang="en-US" sz="1600" dirty="0"/>
          </a:p>
        </p:txBody>
      </p:sp>
      <p:sp>
        <p:nvSpPr>
          <p:cNvPr id="10" name="Text 8"/>
          <p:cNvSpPr txBox="1"/>
          <p:nvPr/>
        </p:nvSpPr>
        <p:spPr>
          <a:xfrm>
            <a:off x="69494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問 い を 立 て る</a:t>
            </a:r>
            <a:endParaRPr lang="en-US" sz="1150" dirty="0"/>
          </a:p>
        </p:txBody>
      </p:sp>
      <p:sp>
        <p:nvSpPr>
          <p:cNvPr id="11" name="Text 9"/>
          <p:cNvSpPr txBox="1"/>
          <p:nvPr/>
        </p:nvSpPr>
        <p:spPr>
          <a:xfrm>
            <a:off x="74980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「IBの利用は</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広がっているか」</a:t>
            </a:r>
            <a:endParaRPr lang="en-US" sz="1150" dirty="0"/>
          </a:p>
        </p:txBody>
      </p:sp>
      <p:sp>
        <p:nvSpPr>
          <p:cNvPr id="12" name="Shape 10"/>
          <p:cNvSpPr/>
          <p:nvPr/>
        </p:nvSpPr>
        <p:spPr>
          <a:xfrm>
            <a:off x="2615184" y="2976372"/>
            <a:ext cx="219456" cy="219456"/>
          </a:xfrm>
          <a:prstGeom prst="rightArrow">
            <a:avLst/>
          </a:prstGeom>
          <a:solidFill>
            <a:srgbClr val="C2CFD3"/>
          </a:solidFill>
          <a:ln w="12700">
            <a:solidFill>
              <a:srgbClr val="C2CFD3"/>
            </a:solidFill>
            <a:prstDash val="solid"/>
          </a:ln>
        </p:spPr>
      </p:sp>
      <p:sp>
        <p:nvSpPr>
          <p:cNvPr id="13" name="Shape 11"/>
          <p:cNvSpPr/>
          <p:nvPr/>
        </p:nvSpPr>
        <p:spPr>
          <a:xfrm>
            <a:off x="2880360" y="1965960"/>
            <a:ext cx="1929384" cy="2240280"/>
          </a:xfrm>
          <a:prstGeom prst="roundRect">
            <a:avLst>
              <a:gd name="adj" fmla="val 2370"/>
            </a:avLst>
          </a:prstGeom>
          <a:solidFill>
            <a:srgbClr val="F3F6F7"/>
          </a:solidFill>
          <a:ln w="9525">
            <a:solidFill>
              <a:srgbClr val="F3F6F7"/>
            </a:solidFill>
            <a:prstDash val="solid"/>
          </a:ln>
        </p:spPr>
      </p:sp>
      <p:sp>
        <p:nvSpPr>
          <p:cNvPr id="14" name="Text 12"/>
          <p:cNvSpPr txBox="1"/>
          <p:nvPr/>
        </p:nvSpPr>
        <p:spPr>
          <a:xfrm>
            <a:off x="288036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2</a:t>
            </a:r>
            <a:endParaRPr lang="en-US" sz="1600" dirty="0"/>
          </a:p>
        </p:txBody>
      </p:sp>
      <p:sp>
        <p:nvSpPr>
          <p:cNvPr id="15" name="Text 13"/>
          <p:cNvSpPr txBox="1"/>
          <p:nvPr/>
        </p:nvSpPr>
        <p:spPr>
          <a:xfrm>
            <a:off x="293522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整 え る</a:t>
            </a:r>
            <a:endParaRPr lang="en-US" sz="1150" dirty="0"/>
          </a:p>
        </p:txBody>
      </p:sp>
      <p:sp>
        <p:nvSpPr>
          <p:cNvPr id="16" name="Text 14"/>
          <p:cNvSpPr txBox="1"/>
          <p:nvPr/>
        </p:nvSpPr>
        <p:spPr>
          <a:xfrm>
            <a:off x="299008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取引履歴（流動）から</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入出金テーブルを作成</a:t>
            </a:r>
            <a:endParaRPr lang="en-US" sz="1150" dirty="0"/>
          </a:p>
        </p:txBody>
      </p:sp>
      <p:sp>
        <p:nvSpPr>
          <p:cNvPr id="17" name="Shape 15"/>
          <p:cNvSpPr/>
          <p:nvPr/>
        </p:nvSpPr>
        <p:spPr>
          <a:xfrm>
            <a:off x="4855464" y="2976372"/>
            <a:ext cx="219456" cy="219456"/>
          </a:xfrm>
          <a:prstGeom prst="rightArrow">
            <a:avLst/>
          </a:prstGeom>
          <a:solidFill>
            <a:srgbClr val="C2CFD3"/>
          </a:solidFill>
          <a:ln w="12700">
            <a:solidFill>
              <a:srgbClr val="C2CFD3"/>
            </a:solidFill>
            <a:prstDash val="solid"/>
          </a:ln>
        </p:spPr>
      </p:sp>
      <p:sp>
        <p:nvSpPr>
          <p:cNvPr id="18" name="Shape 16"/>
          <p:cNvSpPr/>
          <p:nvPr/>
        </p:nvSpPr>
        <p:spPr>
          <a:xfrm>
            <a:off x="5120640" y="1965960"/>
            <a:ext cx="1929384" cy="2240280"/>
          </a:xfrm>
          <a:prstGeom prst="roundRect">
            <a:avLst>
              <a:gd name="adj" fmla="val 2370"/>
            </a:avLst>
          </a:prstGeom>
          <a:solidFill>
            <a:srgbClr val="F3F6F7"/>
          </a:solidFill>
          <a:ln w="9525">
            <a:solidFill>
              <a:srgbClr val="F3F6F7"/>
            </a:solidFill>
            <a:prstDash val="solid"/>
          </a:ln>
        </p:spPr>
      </p:sp>
      <p:sp>
        <p:nvSpPr>
          <p:cNvPr id="19" name="Text 17"/>
          <p:cNvSpPr txBox="1"/>
          <p:nvPr/>
        </p:nvSpPr>
        <p:spPr>
          <a:xfrm>
            <a:off x="512064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3</a:t>
            </a:r>
            <a:endParaRPr lang="en-US" sz="1600" dirty="0"/>
          </a:p>
        </p:txBody>
      </p:sp>
      <p:sp>
        <p:nvSpPr>
          <p:cNvPr id="20" name="Text 18"/>
          <p:cNvSpPr txBox="1"/>
          <p:nvPr/>
        </p:nvSpPr>
        <p:spPr>
          <a:xfrm>
            <a:off x="517550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確 か め る</a:t>
            </a:r>
            <a:endParaRPr lang="en-US" sz="1150" dirty="0"/>
          </a:p>
        </p:txBody>
      </p:sp>
      <p:sp>
        <p:nvSpPr>
          <p:cNvPr id="21" name="Text 19"/>
          <p:cNvSpPr txBox="1"/>
          <p:nvPr/>
        </p:nvSpPr>
        <p:spPr>
          <a:xfrm>
            <a:off x="523036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IBは増加</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ATM側は減少</a:t>
            </a:r>
            <a:endParaRPr lang="en-US" sz="1150" dirty="0"/>
          </a:p>
        </p:txBody>
      </p:sp>
      <p:sp>
        <p:nvSpPr>
          <p:cNvPr id="22" name="Shape 20"/>
          <p:cNvSpPr/>
          <p:nvPr/>
        </p:nvSpPr>
        <p:spPr>
          <a:xfrm>
            <a:off x="7095744" y="2976372"/>
            <a:ext cx="219456" cy="219456"/>
          </a:xfrm>
          <a:prstGeom prst="rightArrow">
            <a:avLst/>
          </a:prstGeom>
          <a:solidFill>
            <a:srgbClr val="C2CFD3"/>
          </a:solidFill>
          <a:ln w="12700">
            <a:solidFill>
              <a:srgbClr val="C2CFD3"/>
            </a:solidFill>
            <a:prstDash val="solid"/>
          </a:ln>
        </p:spPr>
      </p:sp>
      <p:sp>
        <p:nvSpPr>
          <p:cNvPr id="23" name="Shape 21"/>
          <p:cNvSpPr/>
          <p:nvPr/>
        </p:nvSpPr>
        <p:spPr>
          <a:xfrm>
            <a:off x="7360920" y="1965960"/>
            <a:ext cx="1929384" cy="2240280"/>
          </a:xfrm>
          <a:prstGeom prst="roundRect">
            <a:avLst>
              <a:gd name="adj" fmla="val 2370"/>
            </a:avLst>
          </a:prstGeom>
          <a:solidFill>
            <a:srgbClr val="F3F6F7"/>
          </a:solidFill>
          <a:ln w="9525">
            <a:solidFill>
              <a:srgbClr val="F3F6F7"/>
            </a:solidFill>
            <a:prstDash val="solid"/>
          </a:ln>
        </p:spPr>
      </p:sp>
      <p:sp>
        <p:nvSpPr>
          <p:cNvPr id="24" name="Text 22"/>
          <p:cNvSpPr txBox="1"/>
          <p:nvPr/>
        </p:nvSpPr>
        <p:spPr>
          <a:xfrm>
            <a:off x="7360920" y="2221992"/>
            <a:ext cx="1929384" cy="310896"/>
          </a:xfrm>
          <a:prstGeom prst="rect">
            <a:avLst/>
          </a:prstGeom>
          <a:noFill/>
          <a:ln/>
        </p:spPr>
        <p:txBody>
          <a:bodyPr wrap="square" lIns="0" tIns="0" rIns="0" bIns="0" rtlCol="0" anchor="ctr"/>
          <a:lstStyle/>
          <a:p>
            <a:pPr algn="ctr" indent="0" marL="0">
              <a:buNone/>
            </a:pPr>
            <a:r>
              <a:rPr lang="en-US" sz="1600" b="1" dirty="0">
                <a:solidFill>
                  <a:srgbClr val="B9C7CC"/>
                </a:solidFill>
                <a:latin typeface="Meiryo" pitchFamily="34" charset="0"/>
                <a:ea typeface="Meiryo" pitchFamily="34" charset="-122"/>
                <a:cs typeface="Meiryo" pitchFamily="34" charset="-120"/>
              </a:rPr>
              <a:t>4</a:t>
            </a:r>
            <a:endParaRPr lang="en-US" sz="1600" dirty="0"/>
          </a:p>
        </p:txBody>
      </p:sp>
      <p:sp>
        <p:nvSpPr>
          <p:cNvPr id="25" name="Text 23"/>
          <p:cNvSpPr txBox="1"/>
          <p:nvPr/>
        </p:nvSpPr>
        <p:spPr>
          <a:xfrm>
            <a:off x="741578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1A2B33"/>
                </a:solidFill>
                <a:latin typeface="Meiryo" pitchFamily="34" charset="0"/>
                <a:ea typeface="Meiryo" pitchFamily="34" charset="-122"/>
                <a:cs typeface="Meiryo" pitchFamily="34" charset="-120"/>
              </a:rPr>
              <a:t>深 掘 る</a:t>
            </a:r>
            <a:endParaRPr lang="en-US" sz="1150" dirty="0"/>
          </a:p>
        </p:txBody>
      </p:sp>
      <p:sp>
        <p:nvSpPr>
          <p:cNvPr id="26" name="Text 24"/>
          <p:cNvSpPr txBox="1"/>
          <p:nvPr/>
        </p:nvSpPr>
        <p:spPr>
          <a:xfrm>
            <a:off x="747064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年代別に</a:t>
            </a:r>
            <a:endParaRPr lang="en-US" sz="1150" dirty="0"/>
          </a:p>
          <a:p>
            <a:pPr algn="ctr" indent="0" marL="0">
              <a:lnSpc>
                <a:spcPts val="1700"/>
              </a:lnSpc>
              <a:buNone/>
            </a:pPr>
            <a:r>
              <a:rPr lang="en-US" sz="1150" dirty="0">
                <a:solidFill>
                  <a:srgbClr val="465A63"/>
                </a:solidFill>
                <a:latin typeface="Meiryo" pitchFamily="34" charset="0"/>
                <a:ea typeface="Meiryo" pitchFamily="34" charset="-122"/>
                <a:cs typeface="Meiryo" pitchFamily="34" charset="-120"/>
              </a:rPr>
              <a:t>増加率を確認</a:t>
            </a:r>
            <a:endParaRPr lang="en-US" sz="1150" dirty="0"/>
          </a:p>
        </p:txBody>
      </p:sp>
      <p:sp>
        <p:nvSpPr>
          <p:cNvPr id="27" name="Shape 25"/>
          <p:cNvSpPr/>
          <p:nvPr/>
        </p:nvSpPr>
        <p:spPr>
          <a:xfrm>
            <a:off x="9336024" y="2976372"/>
            <a:ext cx="219456" cy="219456"/>
          </a:xfrm>
          <a:prstGeom prst="rightArrow">
            <a:avLst/>
          </a:prstGeom>
          <a:solidFill>
            <a:srgbClr val="C2CFD3"/>
          </a:solidFill>
          <a:ln w="12700">
            <a:solidFill>
              <a:srgbClr val="C2CFD3"/>
            </a:solidFill>
            <a:prstDash val="solid"/>
          </a:ln>
        </p:spPr>
      </p:sp>
      <p:sp>
        <p:nvSpPr>
          <p:cNvPr id="28" name="Shape 26"/>
          <p:cNvSpPr/>
          <p:nvPr/>
        </p:nvSpPr>
        <p:spPr>
          <a:xfrm>
            <a:off x="9601200" y="1965960"/>
            <a:ext cx="1929384" cy="2240280"/>
          </a:xfrm>
          <a:prstGeom prst="roundRect">
            <a:avLst>
              <a:gd name="adj" fmla="val 2370"/>
            </a:avLst>
          </a:prstGeom>
          <a:solidFill>
            <a:srgbClr val="0F5A6B"/>
          </a:solidFill>
          <a:ln w="9525">
            <a:solidFill>
              <a:srgbClr val="0F5A6B"/>
            </a:solidFill>
            <a:prstDash val="solid"/>
          </a:ln>
        </p:spPr>
      </p:sp>
      <p:sp>
        <p:nvSpPr>
          <p:cNvPr id="29" name="Text 27"/>
          <p:cNvSpPr txBox="1"/>
          <p:nvPr/>
        </p:nvSpPr>
        <p:spPr>
          <a:xfrm>
            <a:off x="9601200" y="2221992"/>
            <a:ext cx="1929384" cy="310896"/>
          </a:xfrm>
          <a:prstGeom prst="rect">
            <a:avLst/>
          </a:prstGeom>
          <a:noFill/>
          <a:ln/>
        </p:spPr>
        <p:txBody>
          <a:bodyPr wrap="square" lIns="0" tIns="0" rIns="0" bIns="0" rtlCol="0" anchor="ctr"/>
          <a:lstStyle/>
          <a:p>
            <a:pPr algn="ctr" indent="0" marL="0">
              <a:buNone/>
            </a:pPr>
            <a:r>
              <a:rPr lang="en-US" sz="1600" b="1" dirty="0">
                <a:solidFill>
                  <a:srgbClr val="9CC8CF"/>
                </a:solidFill>
                <a:latin typeface="Meiryo" pitchFamily="34" charset="0"/>
                <a:ea typeface="Meiryo" pitchFamily="34" charset="-122"/>
                <a:cs typeface="Meiryo" pitchFamily="34" charset="-120"/>
              </a:rPr>
              <a:t>5</a:t>
            </a:r>
            <a:endParaRPr lang="en-US" sz="1600" dirty="0"/>
          </a:p>
        </p:txBody>
      </p:sp>
      <p:sp>
        <p:nvSpPr>
          <p:cNvPr id="30" name="Text 28"/>
          <p:cNvSpPr txBox="1"/>
          <p:nvPr/>
        </p:nvSpPr>
        <p:spPr>
          <a:xfrm>
            <a:off x="9656064" y="2679192"/>
            <a:ext cx="1819656" cy="274320"/>
          </a:xfrm>
          <a:prstGeom prst="rect">
            <a:avLst/>
          </a:prstGeom>
          <a:noFill/>
          <a:ln/>
        </p:spPr>
        <p:txBody>
          <a:bodyPr wrap="square" lIns="0" tIns="0" rIns="0" bIns="0" rtlCol="0" anchor="ctr"/>
          <a:lstStyle/>
          <a:p>
            <a:pPr algn="ctr" indent="0" marL="0">
              <a:buNone/>
            </a:pPr>
            <a:r>
              <a:rPr lang="en-US" sz="1150" b="1" spc="40" kern="0" dirty="0">
                <a:solidFill>
                  <a:srgbClr val="FFFFFF"/>
                </a:solidFill>
                <a:latin typeface="Meiryo" pitchFamily="34" charset="0"/>
                <a:ea typeface="Meiryo" pitchFamily="34" charset="-122"/>
                <a:cs typeface="Meiryo" pitchFamily="34" charset="-120"/>
              </a:rPr>
              <a:t>次 の 一 手</a:t>
            </a:r>
            <a:endParaRPr lang="en-US" sz="1150" dirty="0"/>
          </a:p>
        </p:txBody>
      </p:sp>
      <p:sp>
        <p:nvSpPr>
          <p:cNvPr id="31" name="Text 29"/>
          <p:cNvSpPr txBox="1"/>
          <p:nvPr/>
        </p:nvSpPr>
        <p:spPr>
          <a:xfrm>
            <a:off x="9710928" y="3081528"/>
            <a:ext cx="1709928" cy="822960"/>
          </a:xfrm>
          <a:prstGeom prst="rect">
            <a:avLst/>
          </a:prstGeom>
          <a:noFill/>
          <a:ln/>
        </p:spPr>
        <p:txBody>
          <a:bodyPr wrap="square" lIns="0" tIns="0" rIns="0" bIns="0" rtlCol="0" anchor="ctr"/>
          <a:lstStyle/>
          <a:p>
            <a:pPr algn="ctr" indent="0" marL="0">
              <a:lnSpc>
                <a:spcPts val="1700"/>
              </a:lnSpc>
              <a:buNone/>
            </a:pPr>
            <a:r>
              <a:rPr lang="en-US" sz="1150" dirty="0">
                <a:solidFill>
                  <a:srgbClr val="D6E8EB"/>
                </a:solidFill>
                <a:latin typeface="Meiryo" pitchFamily="34" charset="0"/>
                <a:ea typeface="Meiryo" pitchFamily="34" charset="-122"/>
                <a:cs typeface="Meiryo" pitchFamily="34" charset="-120"/>
              </a:rPr>
              <a:t>案内すべき年代と</a:t>
            </a:r>
            <a:endParaRPr lang="en-US" sz="1150" dirty="0"/>
          </a:p>
          <a:p>
            <a:pPr algn="ctr" indent="0" marL="0">
              <a:lnSpc>
                <a:spcPts val="1700"/>
              </a:lnSpc>
              <a:buNone/>
            </a:pPr>
            <a:r>
              <a:rPr lang="en-US" sz="1150" dirty="0">
                <a:solidFill>
                  <a:srgbClr val="D6E8EB"/>
                </a:solidFill>
                <a:latin typeface="Meiryo" pitchFamily="34" charset="0"/>
                <a:ea typeface="Meiryo" pitchFamily="34" charset="-122"/>
                <a:cs typeface="Meiryo" pitchFamily="34" charset="-120"/>
              </a:rPr>
              <a:t>方法を検討</a:t>
            </a:r>
            <a:endParaRPr lang="en-US" sz="1150" dirty="0"/>
          </a:p>
        </p:txBody>
      </p:sp>
      <p:sp>
        <p:nvSpPr>
          <p:cNvPr id="32" name="Shape 30"/>
          <p:cNvSpPr/>
          <p:nvPr/>
        </p:nvSpPr>
        <p:spPr>
          <a:xfrm>
            <a:off x="640080" y="4617720"/>
            <a:ext cx="10911535" cy="868680"/>
          </a:xfrm>
          <a:prstGeom prst="roundRect">
            <a:avLst>
              <a:gd name="adj" fmla="val 5263"/>
            </a:avLst>
          </a:prstGeom>
          <a:solidFill>
            <a:srgbClr val="E2EEF0"/>
          </a:solidFill>
          <a:ln w="12700">
            <a:solidFill>
              <a:srgbClr val="E2EEF0"/>
            </a:solidFill>
            <a:prstDash val="solid"/>
          </a:ln>
        </p:spPr>
      </p:sp>
      <p:sp>
        <p:nvSpPr>
          <p:cNvPr id="33" name="Text 31"/>
          <p:cNvSpPr txBox="1"/>
          <p:nvPr/>
        </p:nvSpPr>
        <p:spPr>
          <a:xfrm>
            <a:off x="914400" y="4617720"/>
            <a:ext cx="10362895" cy="868680"/>
          </a:xfrm>
          <a:prstGeom prst="rect">
            <a:avLst/>
          </a:prstGeom>
          <a:noFill/>
          <a:ln/>
        </p:spPr>
        <p:txBody>
          <a:bodyPr wrap="square" lIns="0" tIns="0" rIns="0" bIns="0" rtlCol="0" anchor="ctr"/>
          <a:lstStyle/>
          <a:p>
            <a:pPr algn="ctr" indent="0" marL="0">
              <a:buNone/>
            </a:pPr>
            <a:r>
              <a:rPr lang="en-US" sz="1500" b="1" dirty="0">
                <a:solidFill>
                  <a:srgbClr val="0F5A6B"/>
                </a:solidFill>
                <a:latin typeface="Meiryo" pitchFamily="34" charset="0"/>
                <a:ea typeface="Meiryo" pitchFamily="34" charset="-122"/>
                <a:cs typeface="Meiryo" pitchFamily="34" charset="-120"/>
              </a:rPr>
              <a:t>行内にあるデータも、条件を指定して見られる形に整えれば、業務上の問いに答え、次の施策を考える材料になる</a:t>
            </a:r>
            <a:endParaRPr lang="en-US" sz="1500" dirty="0"/>
          </a:p>
        </p:txBody>
      </p:sp>
      <p:sp>
        <p:nvSpPr>
          <p:cNvPr id="34" name="Text 32"/>
          <p:cNvSpPr txBox="1"/>
          <p:nvPr/>
        </p:nvSpPr>
        <p:spPr>
          <a:xfrm>
            <a:off x="640080" y="5687568"/>
            <a:ext cx="10911535" cy="292608"/>
          </a:xfrm>
          <a:prstGeom prst="rect">
            <a:avLst/>
          </a:prstGeom>
          <a:noFill/>
          <a:ln/>
        </p:spPr>
        <p:txBody>
          <a:bodyPr wrap="square" lIns="0" tIns="0" rIns="0" bIns="0" rtlCol="0" anchor="ctr"/>
          <a:lstStyle/>
          <a:p>
            <a:pPr algn="ctr" indent="0" marL="0">
              <a:buNone/>
            </a:pPr>
            <a:r>
              <a:rPr lang="en-US" sz="1250" dirty="0">
                <a:solidFill>
                  <a:srgbClr val="8497A0"/>
                </a:solidFill>
                <a:latin typeface="Meiryo" pitchFamily="34" charset="0"/>
                <a:ea typeface="Meiryo" pitchFamily="34" charset="-122"/>
                <a:cs typeface="Meiryo" pitchFamily="34" charset="-120"/>
              </a:rPr>
              <a:t>今回のワークで学んだのは、この一連のプロセス</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銀行データを次の一手につなげるまで</dc:title>
  <dc:subject>PptxGenJS Presentation</dc:subject>
  <dc:creator>PptxGenJS</dc:creator>
  <cp:lastModifiedBy>PptxGenJS</cp:lastModifiedBy>
  <cp:revision>1</cp:revision>
  <dcterms:created xsi:type="dcterms:W3CDTF">2026-09-01T08:19:08Z</dcterms:created>
  <dcterms:modified xsi:type="dcterms:W3CDTF">2026-09-01T08:19:08Z</dcterms:modified>
</cp:coreProperties>
</file>