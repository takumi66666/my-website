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本日は、2週間のインターンシップで取り組んだ内容についてご報告します。
今日お伝えしたいのは、DYNATREKを使えば、データ分析の専門的な知識や経験がない人でも、業務データを集計・比較して傾向をつかめる、ということです。
そして今回は、その一例として、私が実際に行った分析をご紹介します。題材は、愛知銀行のインターネットバンキング、IBの普及状況です。
分析結果そのものよりも、どう考えて、どう使ったのか、という流れを見ていただければと思います。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はじめに、今日の発表の目的をはっきりさせておきます。2点です。
1点目。DYNATREKを使えば、データ分析の専門的な知識や経験がない人でも、業務データを集計・比較して、傾向をつかむことができる。これが今日お伝えしたいことです。
2点目。今回は、その一例として、私が実際に行った分析をご紹介します。題材は愛知銀行のIBの普及状況です。
なぜ専門知識がなくてもできるのか、簡単に触れておきます。業務上の疑問をデータで確かめようとすると、壁が2つあります。
壁①は「何を見れば答えになるのか」を決めること。これは人が考えるしかありません。
壁②は「そのデータを業務DBから取り出す」こと。業務DBには分析に使わない項目も大量にあって、専門知識がないとここで止まります。
DYNATREKはこの壁②を引き受けてくれるので、壁①を考えることに時間を使えます。
では、その一例を見ていただきます。まずは題材の背景からです。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題材の背景です。愛知銀行では、IBの利用を広げるための取り組みが行われています。
（※ここで、実際の施策の内容・ねらい・実施時期を具体的に説明する。スライドの記入欄に入れた内容をそのまま話す）
こうした取り組みが行われているなかで、では実際にIBの利用はどう変化しているのか。それを確かめたい、というのが今回の出発点でした。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ここが壁①、つまり「何を見れば答えになるのか」を考えた部分です。今回いちばん時間を使ったのはここでした。
最初に思いついたのは、単純にIBの利用件数を数えることでした。ただ、取引全体が増えれば件数も増えるので、件数が増えたことだけでは「普及した」とは言い切れません。
そこで、IBの普及とは「IBでも行える取引が、IBで行われるようになること」ではないか、と考え直しました。
この考え方に立つと、比べるべきものが決まります。右の図のとおり、振込・振替のようにIBでも行える取引を、IBで実施されたものと、ATMで実施されたものに分けて見る、ということです。
ATMでしか行えない現金の入出金などは、IBに移りようがないので今回は対象から外しました。
対象期間は、使えるデータの範囲である2025年と2026年の4〜6月、計6か月です。
ここまでが人が考えるところです。ここから先、実際の画面をお見せします。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実際の画面をお見せします。やったことは、左に書いた3つの条件を指定しただけです。
期間、取引の種類、そしてチャネルをIBとATMに分けること。この3つです。
画面①が、その条件を指定しているところです。（※どこに何を入れたのかを指しながら説明する）
画面②が、その結果として出てきた集計結果です。（※どの数字を見ているのかを指しながら説明する）
統計モデルや機械学習は使っていませんし、特別な操作も必要ありませんでした。この2画面だけで、比べたい数字が出せています。
では、出てきた数字を見ていきます。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結果です。IBの利用件数は1か月あたり、2025年が約15万から16万件、2026年が約18万から20万件でした。前年の同じ4〜6月と比べると増えています。
グラフ①が月ごとの推移です。
あわせて、ATMで行われた取引のうちIBでも代替できるものも、まったく同じ条件指定で集計し、同じ月どうしで並べました。それがグラフ②です。
（※グラフ②については、実際に出た数字を見ながら説明する）
では、この数字から何が言えるのか。ここは分けて考える必要があります。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結果をどう読むかです。ここは意識して3つに分けました。
まず言えることは、前年の同じ4〜6月と比べてIBの利用件数は増えている、という事実です。
一方で、言えないこともあります。今回使えたデータは4〜6月の3か月分が2年分だけで、連続した推移が追えません。また、口座数の変化や取引全体の増減、季節性、社会全体でIB利用が広がっていること、といった施策以外の要因を切り分けることもできません。
ですので、「IB普及施策によって増えた」という因果関係は、このデータだけでは判断できません。ここは断定しないようにしました。
ただ、言えないことがはっきりしたことで、次に何を見ればよいかも具体的になりました。連続した月次推移で施策の前後を比べる、ATM側のIB代替可能取引が減っているかを対応させて見る、支店や年代などの属性別に見る、といったことです。
これらも、データが蓄積されれば、今回と同じやり方で確かめられると考えています。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今回やったことを、はじめから並べるとこの5ステップです。
IBの普及状況を知りたい。では何と比べればよいか考える。条件を指定して集計する。出てきた結果を見る。そこから何が言えるかを考える。
このうち、赤い2つ、条件を指定して集計するところと結果を出すところは、DYNATREKが引き受けてくれた部分です。専門的な知識が要るのはまさにここで、業務DBから必要なデータを取り出すところでした。
残りの3つ、何を知りたいのか、何と比べるのか、何が言えるのかは、人が考えるところです。私が時間を使ったのもここでした。
分析の専門知識や経験がなくても、DYNATREKを使えば、業務上の疑問に対してデータで確認・比較していける。今回、それを実際にやってみることができました。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1051560"/>
            <a:ext cx="2743200" cy="2743200"/>
          </a:xfrm>
          <a:prstGeom prst="ellipse">
            <a:avLst/>
          </a:prstGeom>
          <a:solidFill>
            <a:srgbClr val="1C3A66"/>
          </a:solidFill>
          <a:ln w="6350">
            <a:solidFill>
              <a:srgbClr val="1C3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2395728"/>
            <a:ext cx="2651760" cy="2651760"/>
          </a:xfrm>
          <a:prstGeom prst="ellipse">
            <a:avLst/>
          </a:prstGeom>
          <a:solidFill>
            <a:srgbClr val="2A4A7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日立製作所　インターンシップ　成果発表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6304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分析の専門知識や経験がなくても、</a:t>
            </a:r>
            <a:endParaRPr lang="en-US" sz="3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DYNATREKなら分析できる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015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業務データを集計・比較して、そこから傾向をつかむまでを実際にやってみました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7223760" cy="566928"/>
          </a:xfrm>
          <a:prstGeom prst="roundRect">
            <a:avLst>
              <a:gd name="adj" fmla="val 12903"/>
            </a:avLst>
          </a:prstGeom>
          <a:solidFill>
            <a:srgbClr val="1C3A66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397764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その一例：愛知銀行　インターネットバンキング（IB）の普及状況の分析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806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発表者：（氏名）　／　2026年●月●日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41171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4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本発表でお伝えしたいことは、次の2点です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98448"/>
            <a:ext cx="4937760" cy="2286000"/>
          </a:xfrm>
          <a:prstGeom prst="roundRect">
            <a:avLst>
              <a:gd name="adj" fmla="val 2400"/>
            </a:avLst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1517904"/>
            <a:ext cx="329184" cy="329184"/>
          </a:xfrm>
          <a:prstGeom prst="ellipse">
            <a:avLst/>
          </a:prstGeom>
          <a:solidFill>
            <a:srgbClr val="D9482F"/>
          </a:solidFill>
          <a:ln w="6350">
            <a:solidFill>
              <a:srgbClr val="D948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97864" y="14996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お伝えしたいこと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DYNATREKを使えば、データ分析の専門的な知識や経験がない人でも、業務データを集計・比較して、そこから傾向をつかむことができる。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59552" y="2212848"/>
            <a:ext cx="566928" cy="457200"/>
          </a:xfrm>
          <a:prstGeom prst="rightArrow">
            <a:avLst/>
          </a:prstGeom>
          <a:solidFill>
            <a:srgbClr val="D9482F"/>
          </a:solidFill>
          <a:ln w="6350">
            <a:solidFill>
              <a:srgbClr val="D94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298448"/>
            <a:ext cx="5376672" cy="2286000"/>
          </a:xfrm>
          <a:prstGeom prst="roundRect">
            <a:avLst>
              <a:gd name="adj" fmla="val 2400"/>
            </a:avLst>
          </a:prstGeom>
          <a:solidFill>
            <a:srgbClr val="FBEAE4"/>
          </a:solidFill>
          <a:ln w="12700">
            <a:solidFill>
              <a:srgbClr val="D948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1517904"/>
            <a:ext cx="329184" cy="329184"/>
          </a:xfrm>
          <a:prstGeom prst="ellipse">
            <a:avLst/>
          </a:prstGeom>
          <a:solidFill>
            <a:srgbClr val="D9482F"/>
          </a:solidFill>
          <a:ln w="6350">
            <a:solidFill>
              <a:srgbClr val="D948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65392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4304" y="14996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本発表ですること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011680"/>
            <a:ext cx="4828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今回は、その一例として、私が実際に行った分析を紹介します。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題材は、愛知銀行のインターネットバンキング（IB）の普及状況です。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858768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なぜ、専門知識や経験がなくても分析できるのか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261104"/>
            <a:ext cx="5486400" cy="1627632"/>
          </a:xfrm>
          <a:prstGeom prst="roundRect">
            <a:avLst>
              <a:gd name="adj" fmla="val 3371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" y="448056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" y="448056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壁①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4622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何を見れば答えになるのかを決める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4882896"/>
            <a:ext cx="49743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「普及したかどうか」を、どの数字で見れば確かめたことになるのか。ここは人が考えるところで、ツールでは代われない。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4261104"/>
            <a:ext cx="5486400" cy="1627632"/>
          </a:xfrm>
          <a:prstGeom prst="roundRect">
            <a:avLst>
              <a:gd name="adj" fmla="val 3371"/>
            </a:avLst>
          </a:prstGeom>
          <a:solidFill>
            <a:srgbClr val="FBEAE4"/>
          </a:solidFill>
          <a:ln w="6350">
            <a:solidFill>
              <a:srgbClr val="FB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448056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D9482F"/>
          </a:solidFill>
          <a:ln w="6350">
            <a:solidFill>
              <a:srgbClr val="D948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7376" y="448056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壁②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44622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必要なデータを業務DBから取り出す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4882896"/>
            <a:ext cx="49743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業務DBには分析に使わない項目も数多く含まれ、目的のデータを抜き出すこと自体が難しい。ここをDYNATREKが引き受けるので、壁①を考えることに時間を使える。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41171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愛知銀行では、IBの利用を広げるための取り組みが行われている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50976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まず、どのような取り組みが行われているのかを押さえておく。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3520440" cy="3529584"/>
          </a:xfrm>
          <a:prstGeom prst="roundRect">
            <a:avLst>
              <a:gd name="adj" fmla="val 1558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70078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施策①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9339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A9A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（施策の名称を記入）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67004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90779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A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（どのような取り組みかを記入）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43814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ねらい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3675888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A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（何を増やしたいのかを記入）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420624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実施時期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444398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A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（いつ行われているかを記入）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88536" y="1536192"/>
            <a:ext cx="3520440" cy="3529584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44568" y="170078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施策②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199339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A9A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（施策の名称を記入）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67004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290779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A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（どのような取り組みかを記入）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343814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ねらい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3675888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A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（何を増やしたいのかを記入）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44568" y="420624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実施時期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44568" y="444398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A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（いつ行われているかを記入）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74152" y="1536192"/>
            <a:ext cx="3520440" cy="3529584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30184" y="170078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施策③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330184" y="199339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A9A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（施策の名称を記入）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30184" y="267004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30184" y="290779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A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（どのような取り組みかを記入）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330184" y="343814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ねらい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30184" y="3675888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A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（何を増やしたいのかを記入）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330184" y="420624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実施時期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330184" y="444398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A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（いつ行われているかを記入）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" y="5285232"/>
            <a:ext cx="11183112" cy="603504"/>
          </a:xfrm>
          <a:prstGeom prst="roundRect">
            <a:avLst>
              <a:gd name="adj" fmla="val 9091"/>
            </a:avLst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8952" y="5285232"/>
            <a:ext cx="10671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では、こうした取り組みのもとで、IBの利用は実際にどう変化しているのか。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1141171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IBの件数を数えるだけでは、普及は測れない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50976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「IBでも行える取引が、どれだけIBで行われているか」という見方に置き換えた。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5486400" cy="1481328"/>
          </a:xfrm>
          <a:prstGeom prst="roundRect">
            <a:avLst>
              <a:gd name="adj" fmla="val 3704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865376"/>
            <a:ext cx="329184" cy="329184"/>
          </a:xfrm>
          <a:prstGeom prst="ellipse">
            <a:avLst/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97864" y="1810512"/>
            <a:ext cx="45262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まず思いついたのは「IBの利用件数を数える」こと。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しかし取引全体が増えれば件数も増えるため、それだけでは「普及した」とは言い切れない。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29184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3529584"/>
            <a:ext cx="329184" cy="329184"/>
          </a:xfrm>
          <a:prstGeom prst="ellipse">
            <a:avLst/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0664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97864" y="347472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IBの普及とは「IBでも行える取引が、IBで行われるようになること」ではないか。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681728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BEAE4"/>
          </a:solidFill>
          <a:ln w="6350">
            <a:solidFill>
              <a:srgbClr val="FB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" y="4919472"/>
            <a:ext cx="329184" cy="329184"/>
          </a:xfrm>
          <a:prstGeom prst="ellipse">
            <a:avLst/>
          </a:prstGeom>
          <a:solidFill>
            <a:srgbClr val="D9482F"/>
          </a:solidFill>
          <a:ln w="6350">
            <a:solidFill>
              <a:srgbClr val="D948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" y="4919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97864" y="4864608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そこで、IBで行われた取引と、ATMで行われた取引のうちIBでも代替できるもの（振込・振替など）を比較することにした。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591056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比較の考え方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1956816"/>
            <a:ext cx="5330952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2066544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IBでも行える取引（振込・振替 など）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11112" y="2487168"/>
            <a:ext cx="4818888" cy="841248"/>
          </a:xfrm>
          <a:prstGeom prst="roundRect">
            <a:avLst>
              <a:gd name="adj" fmla="val 6522"/>
            </a:avLst>
          </a:prstGeom>
          <a:solidFill>
            <a:srgbClr val="D9482F"/>
          </a:solidFill>
          <a:ln w="6350">
            <a:solidFill>
              <a:srgbClr val="D948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11112" y="2487168"/>
            <a:ext cx="4818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　IBで実施された取引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611112" y="3456432"/>
            <a:ext cx="4818888" cy="841248"/>
          </a:xfrm>
          <a:prstGeom prst="roundRect">
            <a:avLst>
              <a:gd name="adj" fmla="val 6522"/>
            </a:avLst>
          </a:prstGeom>
          <a:solidFill>
            <a:srgbClr val="2A4A7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11112" y="3456432"/>
            <a:ext cx="4818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　ATMで実施された取引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（IBに移りうる部分）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55080" y="4572000"/>
            <a:ext cx="5330952" cy="658368"/>
          </a:xfrm>
          <a:prstGeom prst="roundRect">
            <a:avLst>
              <a:gd name="adj" fmla="val 8333"/>
            </a:avLst>
          </a:prstGeom>
          <a:solidFill>
            <a:srgbClr val="F0F2F5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4572000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ATMでしか行えない取引（現金の入出金 など）　→　今回は対象外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5376672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対象期間：2025年4〜6月／2026年4〜6月（利用できたデータの範囲、計6か月）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1141171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やったことは、画面で条件を指定して集計しただけ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50976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統計モデルや機械学習は使っていない。特別な操作も必要なかった。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指定した条件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01952"/>
            <a:ext cx="3291840" cy="804672"/>
          </a:xfrm>
          <a:prstGeom prst="roundRect">
            <a:avLst>
              <a:gd name="adj" fmla="val 6818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39696"/>
            <a:ext cx="329184" cy="329184"/>
          </a:xfrm>
          <a:prstGeom prst="ellipse">
            <a:avLst/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06424" y="197510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2025年4〜6月／2026年4〜6月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816352"/>
            <a:ext cx="3291840" cy="804672"/>
          </a:xfrm>
          <a:prstGeom prst="roundRect">
            <a:avLst>
              <a:gd name="adj" fmla="val 6818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054096"/>
            <a:ext cx="329184" cy="329184"/>
          </a:xfrm>
          <a:prstGeom prst="ellipse">
            <a:avLst/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" y="288950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取引の種類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振込・振替など、IBでも行える取引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30752"/>
            <a:ext cx="3291840" cy="804672"/>
          </a:xfrm>
          <a:prstGeom prst="roundRect">
            <a:avLst>
              <a:gd name="adj" fmla="val 6818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968496"/>
            <a:ext cx="329184" cy="329184"/>
          </a:xfrm>
          <a:prstGeom prst="ellipse">
            <a:avLst/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06424" y="380390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チャネル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IB／ATM 別に集計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75488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" y="4754880"/>
            <a:ext cx="2852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この2画面だけで、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比べたい数字が出せた。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77640" y="1536192"/>
            <a:ext cx="7708392" cy="2103120"/>
          </a:xfrm>
          <a:prstGeom prst="roundRect">
            <a:avLst>
              <a:gd name="adj" fmla="val 2174"/>
            </a:avLst>
          </a:prstGeom>
          <a:solidFill>
            <a:srgbClr val="FAFBFD"/>
          </a:solidFill>
          <a:ln w="15875">
            <a:solidFill>
              <a:srgbClr val="2A4A7A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4251960" y="2203704"/>
            <a:ext cx="715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画面①　</a:t>
            </a:r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条件を指定する画面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2587752"/>
            <a:ext cx="679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期間・取引の種類・チャネルを指定しているところのスクリーンショット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85532" y="3694176"/>
            <a:ext cx="292608" cy="219456"/>
          </a:xfrm>
          <a:prstGeom prst="downArrow">
            <a:avLst/>
          </a:prstGeom>
          <a:solidFill>
            <a:srgbClr val="D9482F"/>
          </a:solidFill>
          <a:ln w="6350">
            <a:solidFill>
              <a:srgbClr val="D948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3968496"/>
            <a:ext cx="7708392" cy="2103120"/>
          </a:xfrm>
          <a:prstGeom prst="roundRect">
            <a:avLst>
              <a:gd name="adj" fmla="val 2174"/>
            </a:avLst>
          </a:prstGeom>
          <a:solidFill>
            <a:srgbClr val="FAFBFD"/>
          </a:solidFill>
          <a:ln w="15875">
            <a:solidFill>
              <a:srgbClr val="2A4A7A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4251960" y="4636008"/>
            <a:ext cx="715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画面②　</a:t>
            </a:r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出力された集計結果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5020056"/>
            <a:ext cx="679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指定した条件で集計された件数が表示されているところのスクリーンショット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1141171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IB利用件数は、2025年より2026年のほうが多い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50976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出てきた数字を、月ごとに並べて比べた。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2376" y="16642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IB利用件数（1か月あたり）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011680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2025年 4〜6月　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約15〜16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万件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542032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 4〜6月　</a:t>
            </a:r>
            <a:pPr indent="0" marL="0">
              <a:buNone/>
            </a:pPr>
            <a:r>
              <a:rPr lang="en-US" sz="2100" b="1" dirty="0">
                <a:solidFill>
                  <a:srgbClr val="FFC9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約18〜20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万件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0664" y="367588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あわせて確認したこと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0664" y="4005072"/>
            <a:ext cx="34564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ATMで行われた取引のうちIBでも代替できるものも、同じ条件で集計した。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同じ月どうしで並べ、IBとATMの両方から利用状況を見た。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536192"/>
            <a:ext cx="6931152" cy="2148840"/>
          </a:xfrm>
          <a:prstGeom prst="roundRect">
            <a:avLst>
              <a:gd name="adj" fmla="val 2128"/>
            </a:avLst>
          </a:prstGeom>
          <a:solidFill>
            <a:srgbClr val="FAFBFD"/>
          </a:solidFill>
          <a:ln w="15875">
            <a:solidFill>
              <a:srgbClr val="2A4A7A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029200" y="2226564"/>
            <a:ext cx="6382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グラフ①　</a:t>
            </a:r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IB利用件数の月次推移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610612"/>
            <a:ext cx="6016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2025年4・5・6月 と 2026年4・5・6月 を並べた棒グラフ（縦軸：件数）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3913632"/>
            <a:ext cx="6931152" cy="2148840"/>
          </a:xfrm>
          <a:prstGeom prst="roundRect">
            <a:avLst>
              <a:gd name="adj" fmla="val 2128"/>
            </a:avLst>
          </a:prstGeom>
          <a:solidFill>
            <a:srgbClr val="FAFBFD"/>
          </a:solidFill>
          <a:ln w="15875">
            <a:solidFill>
              <a:srgbClr val="2A4A7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5029200" y="4604004"/>
            <a:ext cx="6382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グラフ②　</a:t>
            </a:r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 と ATM（IB代替可能取引）の比較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4988052"/>
            <a:ext cx="6016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同じ月について、IBの件数とATMのIB代替可能取引の件数を横並びにした棒グラフ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6126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グラフは上の枠内に貼り付ける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41171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「増えた」とは言えるが、「施策の効果」とは言い切れない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50976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数字から言えることと言えないことを分けることも、分析の一部だと考えた。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3520440" cy="4114800"/>
          </a:xfrm>
          <a:prstGeom prst="roundRect">
            <a:avLst>
              <a:gd name="adj" fmla="val 1558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755648"/>
            <a:ext cx="365760" cy="365760"/>
          </a:xfrm>
          <a:prstGeom prst="ellipse">
            <a:avLst/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97864" y="1719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このデータから言えること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322576"/>
            <a:ext cx="3008376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前年の同時期（4〜6月）と比べて、2026年のIB利用件数は増えている。</a:t>
            </a:r>
            <a:endParaRPr lang="en-US" sz="1200" dirty="0"/>
          </a:p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1か月あたり 約15〜16万件 → 約18〜20万件。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8536" y="1536192"/>
            <a:ext cx="3520440" cy="4114800"/>
          </a:xfrm>
          <a:prstGeom prst="roundRect">
            <a:avLst>
              <a:gd name="adj" fmla="val 1558"/>
            </a:avLst>
          </a:prstGeom>
          <a:solidFill>
            <a:srgbClr val="FBEAE4"/>
          </a:solidFill>
          <a:ln w="6350">
            <a:solidFill>
              <a:srgbClr val="FB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755648"/>
            <a:ext cx="365760" cy="365760"/>
          </a:xfrm>
          <a:prstGeom prst="ellipse">
            <a:avLst/>
          </a:prstGeom>
          <a:solidFill>
            <a:srgbClr val="D9482F"/>
          </a:solidFill>
          <a:ln w="6350">
            <a:solidFill>
              <a:srgbClr val="D948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07992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719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48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このデータからは言えないこと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322576"/>
            <a:ext cx="3008376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比較できるのは4〜6月の3か月分×2年のみで、連続した推移が追えない。</a:t>
            </a:r>
            <a:endParaRPr lang="en-US" sz="1200" dirty="0"/>
          </a:p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口座数の変化、取引全体の増減、季節性、社会全体でのIB利用の広がりなど、施策以外の要因を切り分けられない。</a:t>
            </a:r>
            <a:endParaRPr lang="en-US" sz="1200" dirty="0"/>
          </a:p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→「IB普及施策によって増えた」という因果関係は、このデータだけでは判断できない。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4152" y="1536192"/>
            <a:ext cx="3520440" cy="4114800"/>
          </a:xfrm>
          <a:prstGeom prst="roundRect">
            <a:avLst>
              <a:gd name="adj" fmla="val 1558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755648"/>
            <a:ext cx="365760" cy="365760"/>
          </a:xfrm>
          <a:prstGeom prst="ellipse">
            <a:avLst/>
          </a:prstGeom>
          <a:solidFill>
            <a:srgbClr val="2A4A7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769096" y="1719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4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データが蓄積されれば確かめられること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2322576"/>
            <a:ext cx="3008376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連続した月次の推移を見て、施策の前後で変化しているかを確かめる。</a:t>
            </a:r>
            <a:endParaRPr lang="en-US" sz="1200" dirty="0"/>
          </a:p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ATMのIB代替可能取引が減っているかを、IBの増加と対応させて見る。</a:t>
            </a:r>
            <a:endParaRPr lang="en-US" sz="1200" dirty="0"/>
          </a:p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支店や年代などの属性別に、普及の進み方の違いを見る。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797296"/>
            <a:ext cx="11183112" cy="54864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797296"/>
            <a:ext cx="10671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「増えている」という事実は確認できた。同時に、次に何を確かめればよいかがはっきりした。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141171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この一連の流れを、専門的な分析知識なしで実施できた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9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人が考えるところと、DYNATREKが引き受けるところ。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81812" y="1883664"/>
            <a:ext cx="1920240" cy="1783080"/>
          </a:xfrm>
          <a:prstGeom prst="roundRect">
            <a:avLst>
              <a:gd name="adj" fmla="val 3077"/>
            </a:avLst>
          </a:prstGeom>
          <a:solidFill>
            <a:srgbClr val="1C3A66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1812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C9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09828" y="2395728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IBの普及状況を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知りたい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29484" y="2633472"/>
            <a:ext cx="201168" cy="274320"/>
          </a:xfrm>
          <a:prstGeom prst="rightArrow">
            <a:avLst/>
          </a:prstGeom>
          <a:solidFill>
            <a:srgbClr val="2A4A7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58084" y="1883664"/>
            <a:ext cx="1920240" cy="1783080"/>
          </a:xfrm>
          <a:prstGeom prst="roundRect">
            <a:avLst>
              <a:gd name="adj" fmla="val 3077"/>
            </a:avLst>
          </a:prstGeom>
          <a:solidFill>
            <a:srgbClr val="1C3A66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58084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C9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086100" y="2395728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何と比べれば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よいか考える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05756" y="2633472"/>
            <a:ext cx="201168" cy="274320"/>
          </a:xfrm>
          <a:prstGeom prst="rightArrow">
            <a:avLst/>
          </a:prstGeom>
          <a:solidFill>
            <a:srgbClr val="2A4A7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4356" y="1883664"/>
            <a:ext cx="1920240" cy="1783080"/>
          </a:xfrm>
          <a:prstGeom prst="roundRect">
            <a:avLst>
              <a:gd name="adj" fmla="val 3077"/>
            </a:avLst>
          </a:prstGeom>
          <a:solidFill>
            <a:srgbClr val="D9482F"/>
          </a:solidFill>
          <a:ln w="12700">
            <a:solidFill>
              <a:srgbClr val="D948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34356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DYNATREK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262372" y="2395728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条件を指定して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集計する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82028" y="2633472"/>
            <a:ext cx="201168" cy="274320"/>
          </a:xfrm>
          <a:prstGeom prst="rightArrow">
            <a:avLst/>
          </a:prstGeom>
          <a:solidFill>
            <a:srgbClr val="2A4A7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0628" y="1883664"/>
            <a:ext cx="1920240" cy="1783080"/>
          </a:xfrm>
          <a:prstGeom prst="roundRect">
            <a:avLst>
              <a:gd name="adj" fmla="val 3077"/>
            </a:avLst>
          </a:prstGeom>
          <a:solidFill>
            <a:srgbClr val="D9482F"/>
          </a:solidFill>
          <a:ln w="12700">
            <a:solidFill>
              <a:srgbClr val="D948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0628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DYNATREK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438644" y="2395728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出てきた結果を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58300" y="2633472"/>
            <a:ext cx="201168" cy="274320"/>
          </a:xfrm>
          <a:prstGeom prst="rightArrow">
            <a:avLst/>
          </a:prstGeom>
          <a:solidFill>
            <a:srgbClr val="2A4A7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86900" y="1883664"/>
            <a:ext cx="1920240" cy="1783080"/>
          </a:xfrm>
          <a:prstGeom prst="roundRect">
            <a:avLst>
              <a:gd name="adj" fmla="val 3077"/>
            </a:avLst>
          </a:prstGeom>
          <a:solidFill>
            <a:srgbClr val="1C3A66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86900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C9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614916" y="2395728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何が言えるかを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968496"/>
            <a:ext cx="11183112" cy="786384"/>
          </a:xfrm>
          <a:prstGeom prst="roundRect">
            <a:avLst>
              <a:gd name="adj" fmla="val 6977"/>
            </a:avLst>
          </a:prstGeom>
          <a:solidFill>
            <a:srgbClr val="1C3A66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68496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専門的な知識が要るのは、業務DBから必要なデータを取り出すところ。そこはDYNATREKが引き受けてくれた。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5047488"/>
            <a:ext cx="1118311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047488"/>
            <a:ext cx="10634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分析の専門知識や経験がなくても、DYNATREKを使えば、</a:t>
            </a:r>
            <a:endParaRPr lang="en-US" sz="1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業務上の疑問に対してデータで確認・比較していける。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141171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4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DYNATREKで業務の疑問をデータで確かめる</dc:title>
  <dc:subject>PptxGenJS Presentation</dc:subject>
  <dc:creator>Hitachi Internship</dc:creator>
  <cp:lastModifiedBy>Hitachi Internship</cp:lastModifiedBy>
  <cp:revision>1</cp:revision>
  <dcterms:created xsi:type="dcterms:W3CDTF">2026-08-31T01:15:26Z</dcterms:created>
  <dcterms:modified xsi:type="dcterms:W3CDTF">2026-08-31T01:15:26Z</dcterms:modified>
</cp:coreProperties>
</file>