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挨拶と自己紹介のあと、この発表の主役を先に宣言する。
「今日の主役はDYNATREKという製品でもなければ、あいち銀行の分析結果でもありません。“疑問を持ってから、データで確かめるまでの距離が短くなる”という一点です」と言い切ってから本編に入る。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自分の立ち位置をここで正直に置く。
「大学の研究でデータを扱った経験はありますが、銀行の業務も、このデータベースの構造も知らない状態から始めました」
※“分析ができない人”ではなく“業務とDBの前提知識がない人”という設定にしておくと、後半の主張と矛盾しない。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30秒で通過する。ただし3つ目だけは強調する。
「大事なのは3つ目です。条件を変えるのが軽いので、“じゃあ、これはどうなんだろう”をその場で試せます。この後の話は、全部これの繰り返しです」
※ここで先に種を明かしておくと、後半の展開が“予告どおり”に見えて効く。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「データの期間を見たとき、ちょうど中期経営計画のスタート直後と、その1年後になっていることに気づきました。だとすれば、施策の手応えがこのデータに出ているはずです」
※中期経営計画の「重点施策⑦」という番号は未確認。公式PDFで採番を確認できない場合は「重点施策のひとつ」と言うこと。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問いを声に出して読み上げる。そのうえで、なぜ同じ四半期どうしの比較にしたのかを一言添える（給与・賞与・年度替わりなど、月によって取引の量は変わるため）。
ここで比較設計に触れておくと、後半の解釈が軽くならない。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見た目は地味だが、この発表で一番効いている場所だと明言する。
「一度この土台を作ってしまえば、後から出てきた疑問は、すべて条件を指定するだけで答えられるようになりました」
※S13の締めで回収する伏線なので、ここは急がずに置く。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1分以内で切り上げる。「左で条件を指定すると、右がそのまま出てきます」だけで足りる。操作手順を追わない。
次の1枚から結果が始まる、と予告して抜ける。
※「SQLは書いていません」は、実際に書いていない場合のみ使う。
※スライド上の注意書き（グレーの1行）は、貼り込みが終わったら削除すること。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数字を読み上げ、増えていることを確認する。そして必ず引きを作る。
「増えています。……ここで発表を終えてもいいのですが、私はこの時点で、ひとつ引っかかりました」
※ここが発表全体で一番の転換点。間を置いて次へ。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思いつき自体は特別ではない、と正直に言うほうが強い。
「比較対象を置こう、という発想自体は普通のことだと思います。大きかったのは、思いついたときにすぐ試せたことでした。新しくデータをもらう必要も、誰かに依頼する必要もなく、条件を変えるだけでした」
※この図は概念図であって結果ではない、と口頭でも明示する。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結果を読み上げる。ここでは解釈をまだ言わない。
「では、この2つを並べてみます」で次へ渡すと、次の1枚が効く。
※「IBでも行える取引」に何を含めたかは口頭でも一度言っておく。質疑でほぼ確実に聞かれる。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「ひとつの数字だけを見ていると、都合よく読めてしまいます。比較対象を置くと、言えることの範囲が変わります」
※ここは学びに寄りすぎず1文で止める。学びの掘り下げは後続パートの担当。
※最後の但し書きも、逃げではなく“どこまで言えるかを自分で線引きした”という姿勢として、はっきり口に出す。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「ここまで、新しいデータの準備も、誰かへの依頼も発生していません。条件を1つ足しただけです」
※3周目にしてこの台詞が出ると、スライド3で予告した「全部これの繰り返しです」がきれいに回収される。
※結果の中身そのものより、たどり着く速さを強調する。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「業務のなかで“ちょっと気になる”が生まれたときに、その場で確かめられる。それが今回いちばん実感した価値です」で締める。
そのうえで「ここからは、この取り組みを通じて私自身が学んだこと、苦労したことをお話しします」と後続パートへ橋渡しする。
※この1枚に「今後の展望」は書かない。分析の続きは行えないので、将来の話をすると空手形になる。目標・達成度・課題はすべて後続パートの担当。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713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成果発表 ／ 実際のテーマ内容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専門知識がなくても、</a:t>
            </a:r>
            <a:endParaRPr lang="en-US" sz="3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データで問いに答える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816352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DYNATREKを使って行った分析の紹介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3794760"/>
            <a:ext cx="3374136" cy="914400"/>
          </a:xfrm>
          <a:prstGeom prst="roundRect">
            <a:avLst>
              <a:gd name="adj" fmla="val 5000"/>
            </a:avLst>
          </a:prstGeom>
          <a:solidFill>
            <a:srgbClr val="17383E"/>
          </a:solidFill>
          <a:ln w="12700">
            <a:solidFill>
              <a:srgbClr val="2748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3794760"/>
            <a:ext cx="3374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業務上の疑問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98264" y="3794760"/>
            <a:ext cx="3374136" cy="914400"/>
          </a:xfrm>
          <a:prstGeom prst="roundRect">
            <a:avLst>
              <a:gd name="adj" fmla="val 5000"/>
            </a:avLst>
          </a:prstGeom>
          <a:solidFill>
            <a:srgbClr val="15616D"/>
          </a:solidFill>
          <a:ln w="12700">
            <a:solidFill>
              <a:srgbClr val="15616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98264" y="3794760"/>
            <a:ext cx="3374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DYNATREK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3794760"/>
            <a:ext cx="3374136" cy="914400"/>
          </a:xfrm>
          <a:prstGeom prst="roundRect">
            <a:avLst>
              <a:gd name="adj" fmla="val 5000"/>
            </a:avLst>
          </a:prstGeom>
          <a:solidFill>
            <a:srgbClr val="17383E"/>
          </a:solidFill>
          <a:ln w="12700">
            <a:solidFill>
              <a:srgbClr val="27484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0" y="3794760"/>
            <a:ext cx="3374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023360" y="4133088"/>
            <a:ext cx="292608" cy="237744"/>
          </a:xfrm>
          <a:prstGeom prst="rightArrow">
            <a:avLst/>
          </a:prstGeom>
          <a:solidFill>
            <a:srgbClr val="43666C"/>
          </a:solidFill>
          <a:ln w="12700">
            <a:solidFill>
              <a:srgbClr val="43666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54696" y="4133088"/>
            <a:ext cx="292608" cy="237744"/>
          </a:xfrm>
          <a:prstGeom prst="rightArrow">
            <a:avLst/>
          </a:prstGeom>
          <a:solidFill>
            <a:srgbClr val="43666C"/>
          </a:solidFill>
          <a:ln w="12700">
            <a:solidFill>
              <a:srgbClr val="43666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所属 ／ 氏名　（発表日）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20624" cy="420624"/>
          </a:xfrm>
          <a:prstGeom prst="ellipse">
            <a:avLst/>
          </a:prstGeom>
          <a:solidFill>
            <a:srgbClr val="15616D"/>
          </a:solidFill>
          <a:ln w="12700">
            <a:solidFill>
              <a:srgbClr val="1561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85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2062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 題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64008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「知りたいこと」はある。でも、データは遠い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26187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業務のデータベースは、分析のためだけに作られているわけではありません。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965960"/>
            <a:ext cx="5623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入出金のデータベースには、分析に使う項目以外にも多くの項目が含まれる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目的のデータを取り出すには、テーブル構造の理解と、抽出・集計の手続きが必要になる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結果として「気になるけれど、確かめるまでに手間がかかる」状態が生まれる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720840" y="1874520"/>
            <a:ext cx="4901184" cy="3977640"/>
          </a:xfrm>
          <a:prstGeom prst="roundRect">
            <a:avLst>
              <a:gd name="adj" fmla="val 1149"/>
            </a:avLst>
          </a:prstGeom>
          <a:solidFill>
            <a:srgbClr val="F2F6F5"/>
          </a:solidFill>
          <a:ln w="9525">
            <a:solidFill>
              <a:srgbClr val="F2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04888" y="2121408"/>
            <a:ext cx="4133088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5875">
            <a:solidFill>
              <a:srgbClr val="AD57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4888" y="2121408"/>
            <a:ext cx="4133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AD57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IBって、実際に使われるように</a:t>
            </a:r>
            <a:endParaRPr lang="en-US" sz="12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AD57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なったのかな？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052560" y="2999232"/>
            <a:ext cx="237744" cy="384048"/>
          </a:xfrm>
          <a:prstGeom prst="downArrow">
            <a:avLst/>
          </a:prstGeom>
          <a:solidFill>
            <a:srgbClr val="C3CECC"/>
          </a:solidFill>
          <a:ln w="12700">
            <a:solidFill>
              <a:srgbClr val="C3CE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04888" y="3493008"/>
            <a:ext cx="4133088" cy="566928"/>
          </a:xfrm>
          <a:prstGeom prst="rect">
            <a:avLst/>
          </a:prstGeom>
          <a:solidFill>
            <a:srgbClr val="DDE4E2"/>
          </a:solidFill>
          <a:ln w="12700">
            <a:solidFill>
              <a:srgbClr val="C9D3D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04888" y="3493008"/>
            <a:ext cx="4133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テーブル構造の理解 ／ 抽出・集計の手続き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52560" y="4169664"/>
            <a:ext cx="237744" cy="329184"/>
          </a:xfrm>
          <a:prstGeom prst="downArrow">
            <a:avLst/>
          </a:prstGeom>
          <a:solidFill>
            <a:srgbClr val="C3CECC"/>
          </a:solidFill>
          <a:ln w="12700">
            <a:solidFill>
              <a:srgbClr val="C3CE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04888" y="4608576"/>
            <a:ext cx="4133088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04888" y="4608576"/>
            <a:ext cx="41330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入出金データベース</a:t>
            </a:r>
            <a:endParaRPr lang="en-US" sz="12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（分析に使わない項目も多数）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20624" cy="420624"/>
          </a:xfrm>
          <a:prstGeom prst="ellipse">
            <a:avLst/>
          </a:prstGeom>
          <a:solidFill>
            <a:srgbClr val="15616D"/>
          </a:solidFill>
          <a:ln w="12700">
            <a:solidFill>
              <a:srgbClr val="1561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85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2062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 っ た ツ ー 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64008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DYNATREK ── 条件を指定してデータを見る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26187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機能の説明はしません。今日の話に必要な一点だけをお伝えします。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3346704" cy="1828800"/>
          </a:xfrm>
          <a:prstGeom prst="roundRect">
            <a:avLst>
              <a:gd name="adj" fmla="val 2500"/>
            </a:avLst>
          </a:prstGeom>
          <a:solidFill>
            <a:srgbClr val="F2F6F5"/>
          </a:solidFill>
          <a:ln w="9525">
            <a:solidFill>
              <a:srgbClr val="F2F6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386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FBE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807208"/>
            <a:ext cx="2798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条件を指定する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191256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期間・取引の種類などを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画面上で指定する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23360" y="2944368"/>
            <a:ext cx="283464" cy="237744"/>
          </a:xfrm>
          <a:prstGeom prst="rightArrow">
            <a:avLst/>
          </a:prstGeom>
          <a:solidFill>
            <a:srgbClr val="C3CECC"/>
          </a:solidFill>
          <a:ln w="12700">
            <a:solidFill>
              <a:srgbClr val="C3CE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21124" y="2148840"/>
            <a:ext cx="3346704" cy="1828800"/>
          </a:xfrm>
          <a:prstGeom prst="roundRect">
            <a:avLst>
              <a:gd name="adj" fmla="val 2500"/>
            </a:avLst>
          </a:prstGeom>
          <a:solidFill>
            <a:srgbClr val="F2F6F5"/>
          </a:solidFill>
          <a:ln w="9525">
            <a:solidFill>
              <a:srgbClr val="F2F6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95444" y="2386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FBE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95444" y="2807208"/>
            <a:ext cx="2798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集計される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95444" y="3191256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指定した条件のデータが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そのまま集計される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77556" y="2944368"/>
            <a:ext cx="283464" cy="237744"/>
          </a:xfrm>
          <a:prstGeom prst="rightArrow">
            <a:avLst/>
          </a:prstGeom>
          <a:solidFill>
            <a:srgbClr val="C3CECC"/>
          </a:solidFill>
          <a:ln w="12700">
            <a:solidFill>
              <a:srgbClr val="C3CE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75320" y="2148840"/>
            <a:ext cx="3346704" cy="1828800"/>
          </a:xfrm>
          <a:prstGeom prst="roundRect">
            <a:avLst>
              <a:gd name="adj" fmla="val 2500"/>
            </a:avLst>
          </a:prstGeom>
          <a:solidFill>
            <a:srgbClr val="E3EFF0"/>
          </a:solidFill>
          <a:ln w="9525">
            <a:solidFill>
              <a:srgbClr val="F2F6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49640" y="2386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807208"/>
            <a:ext cx="2798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表・グラフが出る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549640" y="3191256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結果が表やグラフとして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出力される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343400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F8EDE2"/>
          </a:solidFill>
          <a:ln w="12700">
            <a:solidFill>
              <a:srgbClr val="F8ED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4343400"/>
            <a:ext cx="11055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D57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条件を変えれば、すぐに別の切り口で見直せる　── この後の話は、すべてこの繰り返しです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20624" cy="420624"/>
          </a:xfrm>
          <a:prstGeom prst="ellipse">
            <a:avLst/>
          </a:prstGeom>
          <a:solidFill>
            <a:srgbClr val="15616D"/>
          </a:solidFill>
          <a:ln w="12700">
            <a:solidFill>
              <a:srgbClr val="1561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85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2062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 材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64008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題材 ── あいち銀行の入出金データ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26187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手元にあるデータの期間と、銀行が置かれている状況が、きれいに重なっていました。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32688" y="2542032"/>
            <a:ext cx="10323576" cy="32004"/>
          </a:xfrm>
          <a:prstGeom prst="rect">
            <a:avLst/>
          </a:prstGeom>
          <a:solidFill>
            <a:srgbClr val="C9D3D1"/>
          </a:solidFill>
          <a:ln w="12700">
            <a:solidFill>
              <a:srgbClr val="C9D3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0392" y="2473452"/>
            <a:ext cx="173736" cy="173736"/>
          </a:xfrm>
          <a:prstGeom prst="ellipse">
            <a:avLst/>
          </a:prstGeom>
          <a:solidFill>
            <a:srgbClr val="15616D"/>
          </a:solidFill>
          <a:ln w="12700">
            <a:solidFill>
              <a:srgbClr val="1561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86968" y="1975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2025年4月　第2次中期経営計画スタート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244584" y="20665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2028年3月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42416" y="2798064"/>
            <a:ext cx="2286000" cy="841248"/>
          </a:xfrm>
          <a:prstGeom prst="roundRect">
            <a:avLst>
              <a:gd name="adj" fmla="val 6522"/>
            </a:avLst>
          </a:prstGeom>
          <a:solidFill>
            <a:srgbClr val="E3EFF0"/>
          </a:solidFill>
          <a:ln w="12700">
            <a:solidFill>
              <a:srgbClr val="BBD5D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2416" y="29077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2025年4〜6月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42416" y="3236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計画スタート直後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13248" y="2798064"/>
            <a:ext cx="2286000" cy="841248"/>
          </a:xfrm>
          <a:prstGeom prst="roundRect">
            <a:avLst>
              <a:gd name="adj" fmla="val 6522"/>
            </a:avLst>
          </a:prstGeom>
          <a:solidFill>
            <a:srgbClr val="E3EFF0"/>
          </a:solidFill>
          <a:ln w="12700">
            <a:solidFill>
              <a:srgbClr val="BBD5D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13248" y="29077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13248" y="3236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1年経過時点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42416" y="3712464"/>
            <a:ext cx="665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使用したデータの期間 →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224528"/>
            <a:ext cx="110550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使用データ：あいち銀行の入出金データ（2025年4〜6月／2026年4〜6月）</a:t>
            </a:r>
            <a:endParaRPr lang="en-US" sz="135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背景：あいちフィナンシャルグループは第2次中期経営計画（2025年4月〜2028年3月）で「DX戦略の加速化」を基本戦略に掲げている</a:t>
            </a:r>
            <a:endParaRPr lang="en-US" sz="135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重点施策には、バンキングアプリやインターネット支店など非対面チャネルの活用が挙げられている</a:t>
            </a:r>
            <a:endParaRPr lang="en-US" sz="135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この2つの期間は、計画のスタート時点と1年経過時点にあたる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20624" cy="420624"/>
          </a:xfrm>
          <a:prstGeom prst="ellipse">
            <a:avLst/>
          </a:prstGeom>
          <a:solidFill>
            <a:srgbClr val="D98A45"/>
          </a:solidFill>
          <a:ln w="12700">
            <a:solidFill>
              <a:srgbClr val="D98A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85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2062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98A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 い 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64008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IBの利用は、本当に広がっているのか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26187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施策が動いているなら、その手応えはデータに出ているはずです。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148840"/>
            <a:ext cx="5897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6E4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非対面チャネルを進めているなら、インターネットバンキング（IB）の使われ方が変わっているはず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6E4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2025年4〜6月と2026年4〜6月を比べれば、1年間の変化が見える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6E4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同じ4〜6月どうしを比べるので、季節による差の影響を避けられる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35240" y="2148840"/>
            <a:ext cx="3977640" cy="2331720"/>
          </a:xfrm>
          <a:prstGeom prst="roundRect">
            <a:avLst>
              <a:gd name="adj" fmla="val 1961"/>
            </a:avLst>
          </a:prstGeom>
          <a:solidFill>
            <a:srgbClr val="17383E"/>
          </a:solidFill>
          <a:ln w="9525">
            <a:solidFill>
              <a:srgbClr val="2748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19288" y="2487168"/>
            <a:ext cx="3209544" cy="658368"/>
          </a:xfrm>
          <a:prstGeom prst="roundRect">
            <a:avLst>
              <a:gd name="adj" fmla="val 6944"/>
            </a:avLst>
          </a:prstGeom>
          <a:solidFill>
            <a:srgbClr val="0C2E33"/>
          </a:solidFill>
          <a:ln w="12700">
            <a:solidFill>
              <a:srgbClr val="3A5C6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19288" y="2560320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2025年4〜6月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019288" y="2852928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計画スタート直後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19288" y="3584448"/>
            <a:ext cx="3209544" cy="658368"/>
          </a:xfrm>
          <a:prstGeom prst="roundRect">
            <a:avLst>
              <a:gd name="adj" fmla="val 6944"/>
            </a:avLst>
          </a:prstGeom>
          <a:solidFill>
            <a:srgbClr val="0C2E33"/>
          </a:solidFill>
          <a:ln w="12700">
            <a:solidFill>
              <a:srgbClr val="3A5C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19288" y="3657600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019288" y="3950208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1年経過時点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505188" y="3200400"/>
            <a:ext cx="237744" cy="310896"/>
          </a:xfrm>
          <a:prstGeom prst="downArrow">
            <a:avLst/>
          </a:prstGeom>
          <a:solidFill>
            <a:srgbClr val="D98A45"/>
          </a:solidFill>
          <a:ln w="12700">
            <a:solidFill>
              <a:srgbClr val="D98A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35240" y="455371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この1年で何が変わったか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20624" cy="420624"/>
          </a:xfrm>
          <a:prstGeom prst="ellipse">
            <a:avLst/>
          </a:prstGeom>
          <a:solidFill>
            <a:srgbClr val="15616D"/>
          </a:solidFill>
          <a:ln w="12700">
            <a:solidFill>
              <a:srgbClr val="1561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85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2062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 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64008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 ── 入出金テーブルをDYNATREK上に作る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26187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調べ始める前に、「調べやすい形」を作るところから始めました。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96596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元のデータベースは項目が多く、そのままでは入出金の状況を追いにくい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DYNATREK上で、入出金に関する項目を集めたテーブルを作成した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以降の分析は、このテーブルに条件を指定するだけで行える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480060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F8EDE2"/>
          </a:solidFill>
          <a:ln w="12700">
            <a:solidFill>
              <a:srgbClr val="F8ED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" y="480060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AD57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この土台を一度作れば、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AD57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後から出た疑問は条件指定だけで答えられる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2148840"/>
            <a:ext cx="2331720" cy="3108960"/>
          </a:xfrm>
          <a:prstGeom prst="roundRect">
            <a:avLst>
              <a:gd name="adj" fmla="val 1961"/>
            </a:avLst>
          </a:prstGeom>
          <a:solidFill>
            <a:srgbClr val="F2F6F5"/>
          </a:solidFill>
          <a:ln w="9525">
            <a:solidFill>
              <a:srgbClr val="F2F6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236829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元のデータ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7919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項目が多く、入出金の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状況を追いにくい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28232" y="329184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50024" y="329184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71816" y="329184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28232" y="356616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50024" y="356616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71816" y="356616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8232" y="384048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50024" y="384048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71816" y="384048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28232" y="411480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50024" y="411480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71816" y="411480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28232" y="438912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50024" y="438912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71816" y="438912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8232" y="466344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50024" y="466344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71816" y="4663440"/>
            <a:ext cx="512064" cy="173736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50224" y="3584448"/>
            <a:ext cx="475488" cy="237744"/>
          </a:xfrm>
          <a:prstGeom prst="rightArrow">
            <a:avLst/>
          </a:prstGeom>
          <a:solidFill>
            <a:srgbClr val="15616D"/>
          </a:solidFill>
          <a:ln w="12700">
            <a:solidFill>
              <a:srgbClr val="15616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85632" y="3127248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必要な項目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を集める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281160" y="2148840"/>
            <a:ext cx="2331720" cy="3108960"/>
          </a:xfrm>
          <a:prstGeom prst="roundRect">
            <a:avLst>
              <a:gd name="adj" fmla="val 1961"/>
            </a:avLst>
          </a:prstGeom>
          <a:solidFill>
            <a:srgbClr val="E3EFF0"/>
          </a:solidFill>
          <a:ln w="9525">
            <a:solidFill>
              <a:srgbClr val="BBD5D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81160" y="236829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入出金テーブル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9281160" y="266090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DYNATREK上に作成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537192" y="3108960"/>
            <a:ext cx="18196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6DC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537192" y="3108960"/>
            <a:ext cx="1819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　付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537192" y="3566160"/>
            <a:ext cx="18196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6DC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537192" y="3566160"/>
            <a:ext cx="1819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チャネル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9537192" y="4023360"/>
            <a:ext cx="18196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6DCD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537192" y="4023360"/>
            <a:ext cx="1819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取引種別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9537192" y="4480560"/>
            <a:ext cx="18196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6DCD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537192" y="4480560"/>
            <a:ext cx="1819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　代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281160" y="49377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項目名は実際に使ったものに</a:t>
            </a:r>
            <a:endParaRPr lang="en-US" sz="9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 差し替えてください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20624" cy="420624"/>
          </a:xfrm>
          <a:prstGeom prst="ellipse">
            <a:avLst/>
          </a:prstGeom>
          <a:solidFill>
            <a:srgbClr val="15616D"/>
          </a:solidFill>
          <a:ln w="12700">
            <a:solidFill>
              <a:srgbClr val="1561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85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2062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 際 の 画 面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64008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条件を指定する。グラフが出る。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26187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実際の画面です。やっていることは、これだけです。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4892040" cy="3200400"/>
          </a:xfrm>
          <a:prstGeom prst="roundRect">
            <a:avLst>
              <a:gd name="adj" fmla="val 1429"/>
            </a:avLst>
          </a:prstGeom>
          <a:solidFill>
            <a:srgbClr val="F2F6F5"/>
          </a:solidFill>
          <a:ln w="15875">
            <a:solidFill>
              <a:srgbClr val="D3DCDA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566928" y="32278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スクリーンショット①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3593592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条件設定画面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（期間・チャネル・取引種別を指定）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29984" y="2011680"/>
            <a:ext cx="4892040" cy="3200400"/>
          </a:xfrm>
          <a:prstGeom prst="roundRect">
            <a:avLst>
              <a:gd name="adj" fmla="val 1429"/>
            </a:avLst>
          </a:prstGeom>
          <a:solidFill>
            <a:srgbClr val="E3EFF0"/>
          </a:solidFill>
          <a:ln w="15875">
            <a:solidFill>
              <a:srgbClr val="BBD5D7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729984" y="32278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スクリーンショット②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958584" y="3593592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出力されたグラフ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（指定した条件で集計された結果）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15000" y="3429000"/>
            <a:ext cx="640080" cy="365760"/>
          </a:xfrm>
          <a:prstGeom prst="rightArrow">
            <a:avLst/>
          </a:prstGeom>
          <a:solidFill>
            <a:srgbClr val="15616D"/>
          </a:solidFill>
          <a:ln w="12700">
            <a:solidFill>
              <a:srgbClr val="15616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535838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条件を指定すると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729984" y="535838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そのまま結果が出てくる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94360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7C2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注釈の吹き出しは多くても2つまで。操作手順は追わない。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20624" cy="420624"/>
          </a:xfrm>
          <a:prstGeom prst="ellipse">
            <a:avLst/>
          </a:prstGeom>
          <a:solidFill>
            <a:srgbClr val="15616D"/>
          </a:solidFill>
          <a:ln w="12700">
            <a:solidFill>
              <a:srgbClr val="1561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85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2062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 認 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64008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IBの利用件数は増えていた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26187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1年間で、IBで行われた取引の件数はこう変わりました。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対象：IBで行われた取引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4505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2025年4〜6月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7249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◯◯件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886968" y="3364992"/>
            <a:ext cx="256032" cy="347472"/>
          </a:xfrm>
          <a:prstGeom prst="downArrow">
            <a:avLst/>
          </a:prstGeom>
          <a:solidFill>
            <a:srgbClr val="C3CECC"/>
          </a:solidFill>
          <a:ln w="12700">
            <a:solidFill>
              <a:srgbClr val="C3CE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38039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2026年4〜6月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07822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◯◯件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566928" y="4828032"/>
            <a:ext cx="4206240" cy="749808"/>
          </a:xfrm>
          <a:prstGeom prst="roundRect">
            <a:avLst>
              <a:gd name="adj" fmla="val 7317"/>
            </a:avLst>
          </a:prstGeom>
          <a:solidFill>
            <a:srgbClr val="E3EFF0"/>
          </a:solidFill>
          <a:ln w="12700">
            <a:solidFill>
              <a:srgbClr val="E3EF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4828032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＋◯◯％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5623560" y="2011680"/>
            <a:ext cx="5998464" cy="3566160"/>
          </a:xfrm>
          <a:prstGeom prst="roundRect">
            <a:avLst>
              <a:gd name="adj" fmla="val 1282"/>
            </a:avLst>
          </a:prstGeom>
          <a:solidFill>
            <a:srgbClr val="F2F6F5"/>
          </a:solidFill>
          <a:ln w="15875">
            <a:solidFill>
              <a:srgbClr val="D3DCD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623560" y="3410712"/>
            <a:ext cx="5998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グラフ貼付エリア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776472"/>
            <a:ext cx="5541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IB利用件数の2期間比較（棒グラフ）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※ここで決めた軸・単位・色ルールを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スライド10・11でもそのまま使うこと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5715000"/>
            <a:ext cx="5998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7C2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◯◯ は実測値に差し替えてください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20624" cy="420624"/>
          </a:xfrm>
          <a:prstGeom prst="ellipse">
            <a:avLst/>
          </a:prstGeom>
          <a:solidFill>
            <a:srgbClr val="D98A45"/>
          </a:solidFill>
          <a:ln w="12700">
            <a:solidFill>
              <a:srgbClr val="D98A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85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2062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98A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 い ②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64008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増えた。では「普及した」と言えるか？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26187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件数が増えたことと、IBに置き換わったことは、同じではありません。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148840"/>
            <a:ext cx="5623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6E4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IBの件数が増えても、ATMでの取引がそのまま残っていれば「増えただけ」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6E4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「置き換わっている」と言うには、ATM側が減っているかも見る必要がある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6E4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そこで、ATMで行われている取引のうち、IBでも同じことができる取引（振込・振替など）を数えた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23760" y="2148840"/>
            <a:ext cx="4389120" cy="2834640"/>
          </a:xfrm>
          <a:prstGeom prst="roundRect">
            <a:avLst>
              <a:gd name="adj" fmla="val 1613"/>
            </a:avLst>
          </a:prstGeom>
          <a:solidFill>
            <a:srgbClr val="17383E"/>
          </a:solidFill>
          <a:ln w="9525">
            <a:solidFill>
              <a:srgbClr val="2748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35240" y="2542032"/>
            <a:ext cx="1600200" cy="1417320"/>
          </a:xfrm>
          <a:prstGeom prst="roundRect">
            <a:avLst>
              <a:gd name="adj" fmla="val 3871"/>
            </a:avLst>
          </a:prstGeom>
          <a:solidFill>
            <a:srgbClr val="0C2E33"/>
          </a:solidFill>
          <a:ln w="15875">
            <a:solidFill>
              <a:srgbClr val="3A5C6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35240" y="268833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ATM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08392" y="3054096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IBでも行える取引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（振込・振替 など）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601200" y="2542032"/>
            <a:ext cx="1600200" cy="1417320"/>
          </a:xfrm>
          <a:prstGeom prst="roundRect">
            <a:avLst>
              <a:gd name="adj" fmla="val 3871"/>
            </a:avLst>
          </a:prstGeom>
          <a:solidFill>
            <a:srgbClr val="0C2E33"/>
          </a:solidFill>
          <a:ln w="15875">
            <a:solidFill>
              <a:srgbClr val="D98A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0" y="268833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74352" y="3054096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バンキング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345168" y="3127248"/>
            <a:ext cx="603504" cy="237744"/>
          </a:xfrm>
          <a:prstGeom prst="rightArrow">
            <a:avLst/>
          </a:prstGeom>
          <a:solidFill>
            <a:srgbClr val="D98A45"/>
          </a:solidFill>
          <a:ln w="12700">
            <a:solidFill>
              <a:srgbClr val="D98A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0" y="4114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98A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置き換わっているなら、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98A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ATM側は減っているはず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50474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これは考え方の図です。結果ではありません。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20624" cy="420624"/>
          </a:xfrm>
          <a:prstGeom prst="ellipse">
            <a:avLst/>
          </a:prstGeom>
          <a:solidFill>
            <a:srgbClr val="15616D"/>
          </a:solidFill>
          <a:ln w="12700">
            <a:solidFill>
              <a:srgbClr val="1561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85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2062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 認 ②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64008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ATM側は減っていた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26187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IBでもできる取引に絞ってATMを見ると、逆向きに動いていました。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5998464" cy="3566160"/>
          </a:xfrm>
          <a:prstGeom prst="roundRect">
            <a:avLst>
              <a:gd name="adj" fmla="val 1282"/>
            </a:avLst>
          </a:prstGeom>
          <a:solidFill>
            <a:srgbClr val="F2F6F5"/>
          </a:solidFill>
          <a:ln w="15875">
            <a:solidFill>
              <a:srgbClr val="D3DCDA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566928" y="3410712"/>
            <a:ext cx="5998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グラフ貼付エリア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3776472"/>
            <a:ext cx="5541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ATMのIB代替可能取引 件数の2期間比較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※スライド8と同じ軸・単位・棒の太さで、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色だけ減少方向に変える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2011680"/>
            <a:ext cx="4718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対象：ATMでの取引のうち、IBでも行えるもの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2286000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振込 ／ 振替 　など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761488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2025年4〜6月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903720" y="303580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◯◯件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7223760" y="3675888"/>
            <a:ext cx="256032" cy="347472"/>
          </a:xfrm>
          <a:prstGeom prst="downArrow">
            <a:avLst/>
          </a:prstGeom>
          <a:solidFill>
            <a:srgbClr val="C3CECC"/>
          </a:solidFill>
          <a:ln w="12700">
            <a:solidFill>
              <a:srgbClr val="C3CEC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4114800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2026年4〜6月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4389120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D57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◯◯件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6903720" y="5074920"/>
            <a:ext cx="4718304" cy="658368"/>
          </a:xfrm>
          <a:prstGeom prst="roundRect">
            <a:avLst>
              <a:gd name="adj" fmla="val 8333"/>
            </a:avLst>
          </a:prstGeom>
          <a:solidFill>
            <a:srgbClr val="F8EDE2"/>
          </a:solidFill>
          <a:ln w="12700">
            <a:solidFill>
              <a:srgbClr val="F8EDE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5074920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D57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−◯◯％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20624" cy="420624"/>
          </a:xfrm>
          <a:prstGeom prst="ellipse">
            <a:avLst/>
          </a:prstGeom>
          <a:solidFill>
            <a:srgbClr val="15616D"/>
          </a:solidFill>
          <a:ln w="12700">
            <a:solidFill>
              <a:srgbClr val="1561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85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2062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 釈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64008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2つを並べると、見えること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26187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片方だけでは言えなかったことが、2つ並べると言えるようになります。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965960"/>
            <a:ext cx="5230368" cy="2331720"/>
          </a:xfrm>
          <a:prstGeom prst="roundRect">
            <a:avLst>
              <a:gd name="adj" fmla="val 1961"/>
            </a:avLst>
          </a:prstGeom>
          <a:solidFill>
            <a:srgbClr val="E3EFF0"/>
          </a:solidFill>
          <a:ln w="15875">
            <a:solidFill>
              <a:srgbClr val="BBD5D7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566928" y="2948940"/>
            <a:ext cx="5230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スライド8のグラフを再掲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91656" y="1965960"/>
            <a:ext cx="5230368" cy="2331720"/>
          </a:xfrm>
          <a:prstGeom prst="roundRect">
            <a:avLst>
              <a:gd name="adj" fmla="val 1961"/>
            </a:avLst>
          </a:prstGeom>
          <a:solidFill>
            <a:srgbClr val="F8EDE2"/>
          </a:solidFill>
          <a:ln w="15875">
            <a:solidFill>
              <a:srgbClr val="E4C8AC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391656" y="2948940"/>
            <a:ext cx="5230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D57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スライド10のグラフを再掲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425696"/>
            <a:ext cx="5230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　▲ 増加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391656" y="4425696"/>
            <a:ext cx="5230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D57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ATM（IBでも可能な取引）　▼ 減少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828032"/>
            <a:ext cx="11055096" cy="786384"/>
          </a:xfrm>
          <a:prstGeom prst="roundRect">
            <a:avLst>
              <a:gd name="adj" fmla="val 6977"/>
            </a:avLst>
          </a:prstGeom>
          <a:solidFill>
            <a:srgbClr val="F2F6F5"/>
          </a:solidFill>
          <a:ln w="12700">
            <a:solidFill>
              <a:srgbClr val="F2F6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4828032"/>
            <a:ext cx="10506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同じ期間・同じデータで逆方向に動いている　→　「増えた」ではなく「置き換わりつつある」と読める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7607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ただし件数は取引全体の増減にも影響されるため、断定ではなく傾向として捉えている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20624" cy="420624"/>
          </a:xfrm>
          <a:prstGeom prst="ellipse">
            <a:avLst/>
          </a:prstGeom>
          <a:solidFill>
            <a:srgbClr val="AD5717"/>
          </a:solidFill>
          <a:ln w="12700">
            <a:solidFill>
              <a:srgbClr val="AD571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85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2062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57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 い ③　→　確 認 ③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64008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32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では、どの年代で進んでいるのか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26187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全体が動いているなら、次に気になるのは「誰が」です。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同じテーブルに「年代」の条件を加えるだけで確認できた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55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新しいデータの準備も、誰かへの依頼も発生していない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310128"/>
            <a:ext cx="4663440" cy="713232"/>
          </a:xfrm>
          <a:prstGeom prst="roundRect">
            <a:avLst>
              <a:gd name="adj" fmla="val 7692"/>
            </a:avLst>
          </a:prstGeom>
          <a:solidFill>
            <a:srgbClr val="F8EDE2"/>
          </a:solidFill>
          <a:ln w="12700">
            <a:solidFill>
              <a:srgbClr val="F8ED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310128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D57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結果：◯代で特に◯◯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66928" y="4224528"/>
            <a:ext cx="4663440" cy="1371600"/>
          </a:xfrm>
          <a:prstGeom prst="roundRect">
            <a:avLst>
              <a:gd name="adj" fmla="val 3333"/>
            </a:avLst>
          </a:prstGeom>
          <a:solidFill>
            <a:srgbClr val="F2F6F5"/>
          </a:solidFill>
          <a:ln w="15875">
            <a:solidFill>
              <a:srgbClr val="D3DCDA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566928" y="45262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スクリーンショット③（任意）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48920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条件設定画面の「年代」部分だけを切り出す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──「条件を1つ足しただけ」が絵で伝わる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06440" y="2011680"/>
            <a:ext cx="5815584" cy="3584448"/>
          </a:xfrm>
          <a:prstGeom prst="roundRect">
            <a:avLst>
              <a:gd name="adj" fmla="val 1276"/>
            </a:avLst>
          </a:prstGeom>
          <a:solidFill>
            <a:srgbClr val="F2F6F5"/>
          </a:solidFill>
          <a:ln w="15875">
            <a:solidFill>
              <a:srgbClr val="D3DCDA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806440" y="3419856"/>
            <a:ext cx="5815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1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グラフ貼付エリア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3785616"/>
            <a:ext cx="5358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年代別の増減（横軸に年代をとった棒グラフ）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※IB側・ATM側のどちらを見た結果かを必ず明記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806440" y="5715000"/>
            <a:ext cx="5815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7C2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結果の記述は実際に出た内容に差し替えてください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B8C8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20624" cy="420624"/>
          </a:xfrm>
          <a:prstGeom prst="ellipse">
            <a:avLst/>
          </a:prstGeom>
          <a:solidFill>
            <a:srgbClr val="5FB6BC"/>
          </a:solidFill>
          <a:ln w="12700">
            <a:solidFill>
              <a:srgbClr val="5FB6B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85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2062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5FB6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 と め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64008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今回できたこと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26187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特別なことはしていません。浮かんだ疑問を、その場で確かめ続けただけです。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3346704" cy="2240280"/>
          </a:xfrm>
          <a:prstGeom prst="roundRect">
            <a:avLst>
              <a:gd name="adj" fmla="val 2041"/>
            </a:avLst>
          </a:prstGeom>
          <a:solidFill>
            <a:srgbClr val="17383E"/>
          </a:solidFill>
          <a:ln w="12700">
            <a:solidFill>
              <a:srgbClr val="27484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28600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98A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 い ①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60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IBの利用は、本当に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広がっているのか？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3310128"/>
            <a:ext cx="2834640" cy="10973"/>
          </a:xfrm>
          <a:prstGeom prst="rect">
            <a:avLst/>
          </a:prstGeom>
          <a:solidFill>
            <a:srgbClr val="3A5C61"/>
          </a:solidFill>
          <a:ln w="12700">
            <a:solidFill>
              <a:srgbClr val="3A5C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41985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FB6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 認 ①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675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6E4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IB利用件数を2期間で比較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6E4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増えていた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3104388"/>
            <a:ext cx="283464" cy="237744"/>
          </a:xfrm>
          <a:prstGeom prst="rightArrow">
            <a:avLst/>
          </a:prstGeom>
          <a:solidFill>
            <a:srgbClr val="43666C"/>
          </a:solidFill>
          <a:ln w="12700">
            <a:solidFill>
              <a:srgbClr val="43666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1124" y="2103120"/>
            <a:ext cx="3346704" cy="2240280"/>
          </a:xfrm>
          <a:prstGeom prst="roundRect">
            <a:avLst>
              <a:gd name="adj" fmla="val 2041"/>
            </a:avLst>
          </a:prstGeom>
          <a:solidFill>
            <a:srgbClr val="17383E"/>
          </a:solidFill>
          <a:ln w="12700">
            <a:solidFill>
              <a:srgbClr val="27484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77156" y="228600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98A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 い ②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677156" y="2560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増えた。でも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「置き換わった」のか？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77156" y="3310128"/>
            <a:ext cx="2834640" cy="10973"/>
          </a:xfrm>
          <a:prstGeom prst="rect">
            <a:avLst/>
          </a:prstGeom>
          <a:solidFill>
            <a:srgbClr val="3A5C61"/>
          </a:solidFill>
          <a:ln w="12700">
            <a:solidFill>
              <a:srgbClr val="3A5C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77156" y="341985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FB6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 認 ②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677156" y="3675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6E4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ATMのIB代替可能取引を比較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6E4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減っていた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877556" y="3104388"/>
            <a:ext cx="283464" cy="237744"/>
          </a:xfrm>
          <a:prstGeom prst="rightArrow">
            <a:avLst/>
          </a:prstGeom>
          <a:solidFill>
            <a:srgbClr val="43666C"/>
          </a:solidFill>
          <a:ln w="12700">
            <a:solidFill>
              <a:srgbClr val="43666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75320" y="2103120"/>
            <a:ext cx="3346704" cy="2240280"/>
          </a:xfrm>
          <a:prstGeom prst="roundRect">
            <a:avLst>
              <a:gd name="adj" fmla="val 2041"/>
            </a:avLst>
          </a:prstGeom>
          <a:solidFill>
            <a:srgbClr val="17383E"/>
          </a:solidFill>
          <a:ln w="12700">
            <a:solidFill>
              <a:srgbClr val="27484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31352" y="228600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98A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 い ③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531352" y="2560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では、どの年代で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進んでいるのか？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531352" y="3310128"/>
            <a:ext cx="2834640" cy="10973"/>
          </a:xfrm>
          <a:prstGeom prst="rect">
            <a:avLst/>
          </a:prstGeom>
          <a:solidFill>
            <a:srgbClr val="3A5C61"/>
          </a:solidFill>
          <a:ln w="12700">
            <a:solidFill>
              <a:srgbClr val="3A5C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31352" y="341985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FB6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 認 ③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531352" y="3675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6E4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年代の条件を足すだけで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6E4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確認できた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17720"/>
            <a:ext cx="11055096" cy="658368"/>
          </a:xfrm>
          <a:prstGeom prst="roundRect">
            <a:avLst>
              <a:gd name="adj" fmla="val 8333"/>
            </a:avLst>
          </a:prstGeom>
          <a:solidFill>
            <a:srgbClr val="17383E"/>
          </a:solidFill>
          <a:ln w="12700">
            <a:solidFill>
              <a:srgbClr val="17383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4617720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B6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この3往復のために新しく準備したのは、入出金テーブル1つだけ　／　新しいデータの準備・依頼：なし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55321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DYNATREKの価値は「分析ができること」よりも、疑問を持ってから確かめるまでが短いことにある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1164824" y="6217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9FC1C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DYNATREKを使った分析の紹介</dc:title>
  <dc:subject>PptxGenJS Presentation</dc:subject>
  <dc:creator/>
  <cp:lastModifiedBy/>
  <cp:revision>1</cp:revision>
  <dcterms:created xsi:type="dcterms:W3CDTF">2026-09-01T01:40:03Z</dcterms:created>
  <dcterms:modified xsi:type="dcterms:W3CDTF">2026-09-01T01:40:03Z</dcterms:modified>
</cp:coreProperties>
</file>